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6"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FFCC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0" d="100"/>
          <a:sy n="70" d="100"/>
        </p:scale>
        <p:origin x="53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F322-EA3B-05B2-787D-9A43A10FB2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7789F1-ED36-6A2A-05D9-0BDCC8EC05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7B7792-9CC4-7395-1676-3A2D8EB7FCBA}"/>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191C7092-62A7-EB2D-C65E-FD84ECC53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DC9BC4-BB89-EAAA-04BE-6BB756DB5DB7}"/>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1016101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D433-B327-3367-F055-BF6B123FFB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FDD5B-2DE5-D669-7B5B-A752C9021D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D66C6-061D-23BF-2C61-824F823998C5}"/>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344544E0-8737-180B-5159-AB22AE502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420E01-509B-72AE-C5AA-3A81B2249803}"/>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3185810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4430-BE67-3B81-945A-45F49E49D7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42BAAA-4624-F8F8-B7C5-99FBABC5D9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B42FFD-C595-DB99-2417-970108E3DD42}"/>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729F26BB-9250-EB79-1C2B-65C6F3ED0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FEF58-3AC0-6590-7082-E8D57F6BED2D}"/>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1947180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67432-C7CD-905C-A02B-9BA8557F0E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EA54FD-8C0E-62E6-A5CE-1C61C13ACF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148886-A22B-8F64-86C4-D12095E83A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946933-C5CC-CDCB-E66B-FD4EF5726FD1}"/>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6" name="Footer Placeholder 5">
            <a:extLst>
              <a:ext uri="{FF2B5EF4-FFF2-40B4-BE49-F238E27FC236}">
                <a16:creationId xmlns:a16="http://schemas.microsoft.com/office/drawing/2014/main" id="{0D0DBA57-2620-8676-3F7F-18CE05A331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D772F6-3CCE-96D7-73DC-865E13694312}"/>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227948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BD09-5720-2D24-7018-55834AE1F0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1AB1AB-23BF-A10F-BAFF-09CAFB3020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FB9AA1-88BE-DEB5-E7A8-EAECB6D6EB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37F2E6-FF75-9B54-6C28-773897EA81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991589-CE29-2C07-7A92-8169E86A68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5713B6-4AD0-802C-2313-246CEC9ED175}"/>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8" name="Footer Placeholder 7">
            <a:extLst>
              <a:ext uri="{FF2B5EF4-FFF2-40B4-BE49-F238E27FC236}">
                <a16:creationId xmlns:a16="http://schemas.microsoft.com/office/drawing/2014/main" id="{87C69A98-5B7E-EA23-B67C-5FC2D87D55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FD91BC-FE43-C85F-8041-8C9FEFA2AE5C}"/>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1771722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FCB1-7DFE-493C-9993-10AE7EC827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CB7D6E-C46C-A6AF-2B27-83F4FD4B06EF}"/>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4" name="Footer Placeholder 3">
            <a:extLst>
              <a:ext uri="{FF2B5EF4-FFF2-40B4-BE49-F238E27FC236}">
                <a16:creationId xmlns:a16="http://schemas.microsoft.com/office/drawing/2014/main" id="{8099858C-A1B9-BAAB-0A09-17100405C8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C1B1F5-2B9F-FEB0-2E59-B29AAC863609}"/>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3639950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B53B96-87A7-A0A9-D4A2-BCB635EF3BAA}"/>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3" name="Footer Placeholder 2">
            <a:extLst>
              <a:ext uri="{FF2B5EF4-FFF2-40B4-BE49-F238E27FC236}">
                <a16:creationId xmlns:a16="http://schemas.microsoft.com/office/drawing/2014/main" id="{FCDCFBA1-79A5-33BC-E6AC-AA245ECF7F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CC44E2-013A-F204-251C-289928A9FB8D}"/>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3029753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92F4-AD7F-5A7D-C249-B5D0BC624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78E436-4A63-E0BE-8CD5-695BFEEBB0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36C8B9-25A9-6DDD-F246-8C7060B7F7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E19EA-9485-6B6F-0115-7A09E77042E0}"/>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6" name="Footer Placeholder 5">
            <a:extLst>
              <a:ext uri="{FF2B5EF4-FFF2-40B4-BE49-F238E27FC236}">
                <a16:creationId xmlns:a16="http://schemas.microsoft.com/office/drawing/2014/main" id="{3A059111-6B9D-6B3E-6530-BA831B5B4C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364A1-EF19-2A50-C736-7E3E9C6AC38F}"/>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2929215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11307-FF15-49AE-5DE7-32A265503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B5BB4C-D1BB-5A9E-E746-950C600A2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5AE789-065D-1753-3FCD-EC81335FF5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BC80D-0029-3090-A62B-11523D4501D6}"/>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6" name="Footer Placeholder 5">
            <a:extLst>
              <a:ext uri="{FF2B5EF4-FFF2-40B4-BE49-F238E27FC236}">
                <a16:creationId xmlns:a16="http://schemas.microsoft.com/office/drawing/2014/main" id="{79AB289F-FE6E-218B-8618-D328E3CF25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D08B7-427D-C3F9-B039-DEA26A9D5380}"/>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191899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F1928-5299-873D-8AED-9D2550E8CF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3E1FDE-7720-B5CB-04ED-8DF813505B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C540B-8531-5685-2C99-8B84A1430D3F}"/>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095C5779-00B4-D1DE-798A-11DA622BB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20A45-92CF-690D-1E88-467A058D14F5}"/>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181360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C02327-5899-EA89-E7CB-6D5EA96F88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9CF1C7-3B1B-EBDE-0B4F-05AC9E48C4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70068E-D8F0-AE55-8EA8-BA570667410D}"/>
              </a:ext>
            </a:extLst>
          </p:cNvPr>
          <p:cNvSpPr>
            <a:spLocks noGrp="1"/>
          </p:cNvSpPr>
          <p:nvPr>
            <p:ph type="dt" sz="half" idx="10"/>
          </p:nvPr>
        </p:nvSpPr>
        <p:spPr/>
        <p:txBody>
          <a:body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174C7D79-465D-61B4-5FD8-09A5E8F10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C37EC-365D-EB36-789F-04F6223B7026}"/>
              </a:ext>
            </a:extLst>
          </p:cNvPr>
          <p:cNvSpPr>
            <a:spLocks noGrp="1"/>
          </p:cNvSpPr>
          <p:nvPr>
            <p:ph type="sldNum" sz="quarter" idx="12"/>
          </p:nvPr>
        </p:nvSpPr>
        <p:spPr/>
        <p:txBody>
          <a:bodyPr/>
          <a:lstStyle/>
          <a:p>
            <a:fld id="{CC33B057-4D0E-49F5-A1DC-CC561A38DC32}" type="slidenum">
              <a:rPr lang="en-US" smtClean="0"/>
              <a:t>‹#›</a:t>
            </a:fld>
            <a:endParaRPr lang="en-US"/>
          </a:p>
        </p:txBody>
      </p:sp>
    </p:spTree>
    <p:extLst>
      <p:ext uri="{BB962C8B-B14F-4D97-AF65-F5344CB8AC3E}">
        <p14:creationId xmlns:p14="http://schemas.microsoft.com/office/powerpoint/2010/main" val="763579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110259-3F95-BDF0-5826-736AA1D792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3F26B6-660E-EC7B-EAE6-F19103647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17DD8-2775-A65A-D44A-9415B502D0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40471F-7283-4FCF-A214-835406E4EB74}" type="datetimeFigureOut">
              <a:rPr lang="en-US" smtClean="0"/>
              <a:t>2/12/2026</a:t>
            </a:fld>
            <a:endParaRPr lang="en-US"/>
          </a:p>
        </p:txBody>
      </p:sp>
      <p:sp>
        <p:nvSpPr>
          <p:cNvPr id="5" name="Footer Placeholder 4">
            <a:extLst>
              <a:ext uri="{FF2B5EF4-FFF2-40B4-BE49-F238E27FC236}">
                <a16:creationId xmlns:a16="http://schemas.microsoft.com/office/drawing/2014/main" id="{C97E4B4C-D150-6C1A-E8B8-3D66B1E505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A79D80-436D-C484-3363-A1A239ACD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33B057-4D0E-49F5-A1DC-CC561A38DC32}" type="slidenum">
              <a:rPr lang="en-US" smtClean="0"/>
              <a:t>‹#›</a:t>
            </a:fld>
            <a:endParaRPr lang="en-US"/>
          </a:p>
        </p:txBody>
      </p:sp>
    </p:spTree>
    <p:extLst>
      <p:ext uri="{BB962C8B-B14F-4D97-AF65-F5344CB8AC3E}">
        <p14:creationId xmlns:p14="http://schemas.microsoft.com/office/powerpoint/2010/main" val="251016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4.xml"/><Relationship Id="rId7"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3" Type="http://schemas.openxmlformats.org/officeDocument/2006/relationships/hyperlink" Target="https://fueleconomy.gov/feg/ws/index.shtml#vehicle" TargetMode="External"/><Relationship Id="rId2" Type="http://schemas.openxmlformats.org/officeDocument/2006/relationships/hyperlink" Target="https://www.nhtsa.gov/nhtsa-datasets-and-apis" TargetMode="External"/><Relationship Id="rId1" Type="http://schemas.openxmlformats.org/officeDocument/2006/relationships/slideLayout" Target="../slideLayouts/slideLayout1.xml"/><Relationship Id="rId4" Type="http://schemas.openxmlformats.org/officeDocument/2006/relationships/hyperlink" Target="https://afdc.energy.gov/data_download"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fueleconomy.gov/feg/epadata/vehicles.csv.zip" TargetMode="External"/><Relationship Id="rId2" Type="http://schemas.openxmlformats.org/officeDocument/2006/relationships/hyperlink" Target="https://static.nhtsa.gov/nhtsa/downloads/Safercar/Safercar_data.csv"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64C2-F019-4BC8-9696-0EF037A8DE2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9A245CE-F0CF-F52A-2434-67389E070A4F}"/>
              </a:ext>
            </a:extLst>
          </p:cNvPr>
          <p:cNvSpPr>
            <a:spLocks noGrp="1"/>
          </p:cNvSpPr>
          <p:nvPr>
            <p:ph type="subTitle" idx="1"/>
          </p:nvPr>
        </p:nvSpPr>
        <p:spPr/>
        <p:txBody>
          <a:bodyPr/>
          <a:lstStyle/>
          <a:p>
            <a:endParaRPr lang="en-US"/>
          </a:p>
        </p:txBody>
      </p:sp>
      <p:pic>
        <p:nvPicPr>
          <p:cNvPr id="5" name="Picture 4" descr="A blue green and purple background&#10;&#10;AI-generated content may be incorrect.">
            <a:extLst>
              <a:ext uri="{FF2B5EF4-FFF2-40B4-BE49-F238E27FC236}">
                <a16:creationId xmlns:a16="http://schemas.microsoft.com/office/drawing/2014/main" id="{60366D37-105D-AA02-B449-F2BC0E92D871}"/>
              </a:ext>
            </a:extLst>
          </p:cNvPr>
          <p:cNvPicPr>
            <a:picLocks noChangeAspect="1"/>
          </p:cNvPicPr>
          <p:nvPr/>
        </p:nvPicPr>
        <p:blipFill>
          <a:blip r:embed="rId2">
            <a:extLst>
              <a:ext uri="{28A0092B-C50C-407E-A947-70E740481C1C}">
                <a14:useLocalDpi xmlns:a14="http://schemas.microsoft.com/office/drawing/2010/main" val="0"/>
              </a:ext>
            </a:extLst>
          </a:blip>
          <a:srcRect t="5000" b="5000"/>
          <a:stretch/>
        </p:blipFill>
        <p:spPr>
          <a:xfrm>
            <a:off x="0" y="0"/>
            <a:ext cx="12192000" cy="6858000"/>
          </a:xfrm>
          <a:prstGeom prst="rect">
            <a:avLst/>
          </a:prstGeom>
        </p:spPr>
      </p:pic>
      <p:sp>
        <p:nvSpPr>
          <p:cNvPr id="4" name="Titel 1">
            <a:extLst>
              <a:ext uri="{FF2B5EF4-FFF2-40B4-BE49-F238E27FC236}">
                <a16:creationId xmlns:a16="http://schemas.microsoft.com/office/drawing/2014/main" id="{54F282E8-4E31-7FFD-DDFB-402FA7B455F2}"/>
              </a:ext>
            </a:extLst>
          </p:cNvPr>
          <p:cNvSpPr txBox="1">
            <a:spLocks/>
          </p:cNvSpPr>
          <p:nvPr/>
        </p:nvSpPr>
        <p:spPr>
          <a:xfrm>
            <a:off x="224694" y="499967"/>
            <a:ext cx="5641268" cy="106064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dirty="0">
                <a:solidFill>
                  <a:schemeClr val="bg1"/>
                </a:solidFill>
              </a:rPr>
              <a:t>Assessment</a:t>
            </a:r>
          </a:p>
        </p:txBody>
      </p:sp>
      <p:sp>
        <p:nvSpPr>
          <p:cNvPr id="6" name="Titel 1">
            <a:extLst>
              <a:ext uri="{FF2B5EF4-FFF2-40B4-BE49-F238E27FC236}">
                <a16:creationId xmlns:a16="http://schemas.microsoft.com/office/drawing/2014/main" id="{B283D19C-2C0F-79BF-A503-F080D5AAA831}"/>
              </a:ext>
            </a:extLst>
          </p:cNvPr>
          <p:cNvSpPr txBox="1">
            <a:spLocks/>
          </p:cNvSpPr>
          <p:nvPr/>
        </p:nvSpPr>
        <p:spPr>
          <a:xfrm>
            <a:off x="0" y="1190488"/>
            <a:ext cx="5641268" cy="106064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sz="4800" dirty="0">
                <a:solidFill>
                  <a:schemeClr val="bg1"/>
                </a:solidFill>
              </a:rPr>
              <a:t>Data Engineer</a:t>
            </a:r>
          </a:p>
        </p:txBody>
      </p:sp>
      <p:sp>
        <p:nvSpPr>
          <p:cNvPr id="7" name="Titel 1">
            <a:extLst>
              <a:ext uri="{FF2B5EF4-FFF2-40B4-BE49-F238E27FC236}">
                <a16:creationId xmlns:a16="http://schemas.microsoft.com/office/drawing/2014/main" id="{F162F013-B0AD-EE50-6E41-546876D9B36B}"/>
              </a:ext>
            </a:extLst>
          </p:cNvPr>
          <p:cNvSpPr txBox="1">
            <a:spLocks/>
          </p:cNvSpPr>
          <p:nvPr/>
        </p:nvSpPr>
        <p:spPr>
          <a:xfrm>
            <a:off x="328211" y="5735637"/>
            <a:ext cx="3669102" cy="51974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sz="2800" dirty="0">
                <a:solidFill>
                  <a:schemeClr val="bg1"/>
                </a:solidFill>
              </a:rPr>
              <a:t>André Cunha</a:t>
            </a:r>
          </a:p>
        </p:txBody>
      </p:sp>
    </p:spTree>
    <p:extLst>
      <p:ext uri="{BB962C8B-B14F-4D97-AF65-F5344CB8AC3E}">
        <p14:creationId xmlns:p14="http://schemas.microsoft.com/office/powerpoint/2010/main" val="240903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elle 7">
            <a:extLst>
              <a:ext uri="{FF2B5EF4-FFF2-40B4-BE49-F238E27FC236}">
                <a16:creationId xmlns:a16="http://schemas.microsoft.com/office/drawing/2014/main" id="{9B35FD54-909F-FCF7-F142-424CC2A91761}"/>
              </a:ext>
            </a:extLst>
          </p:cNvPr>
          <p:cNvGraphicFramePr>
            <a:graphicFrameLocks noGrp="1"/>
          </p:cNvGraphicFramePr>
          <p:nvPr>
            <p:extLst>
              <p:ext uri="{D42A27DB-BD31-4B8C-83A1-F6EECF244321}">
                <p14:modId xmlns:p14="http://schemas.microsoft.com/office/powerpoint/2010/main" val="2447189252"/>
              </p:ext>
            </p:extLst>
          </p:nvPr>
        </p:nvGraphicFramePr>
        <p:xfrm>
          <a:off x="266700" y="1295400"/>
          <a:ext cx="11223685" cy="5140576"/>
        </p:xfrm>
        <a:graphic>
          <a:graphicData uri="http://schemas.openxmlformats.org/drawingml/2006/table">
            <a:tbl>
              <a:tblPr firstRow="1" bandRow="1">
                <a:tableStyleId>{2D5ABB26-0587-4C30-8999-92F81FD0307C}</a:tableStyleId>
              </a:tblPr>
              <a:tblGrid>
                <a:gridCol w="10556119">
                  <a:extLst>
                    <a:ext uri="{9D8B030D-6E8A-4147-A177-3AD203B41FA5}">
                      <a16:colId xmlns:a16="http://schemas.microsoft.com/office/drawing/2014/main" val="132900722"/>
                    </a:ext>
                  </a:extLst>
                </a:gridCol>
                <a:gridCol w="667566">
                  <a:extLst>
                    <a:ext uri="{9D8B030D-6E8A-4147-A177-3AD203B41FA5}">
                      <a16:colId xmlns:a16="http://schemas.microsoft.com/office/drawing/2014/main" val="3155208256"/>
                    </a:ext>
                  </a:extLst>
                </a:gridCol>
              </a:tblGrid>
              <a:tr h="642572">
                <a:tc>
                  <a:txBody>
                    <a:bodyPr/>
                    <a:lstStyle/>
                    <a:p>
                      <a:r>
                        <a:rPr lang="de-DE" sz="1600" b="1" kern="1200" dirty="0">
                          <a:solidFill>
                            <a:schemeClr val="dk1"/>
                          </a:solidFill>
                          <a:latin typeface="+mn-lt"/>
                          <a:ea typeface="+mn-ea"/>
                          <a:cs typeface="+mn-cs"/>
                        </a:rPr>
                        <a:t>Pipeline Architecture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hlinkClick r:id="rId2" action="ppaction://hlinksldjump"/>
                        </a:rPr>
                        <a:t>3</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3384487735"/>
                  </a:ext>
                </a:extLst>
              </a:tr>
              <a:tr h="642572">
                <a:tc>
                  <a:txBody>
                    <a:bodyPr/>
                    <a:lstStyle/>
                    <a:p>
                      <a:r>
                        <a:rPr lang="de-DE" sz="1600" b="1" dirty="0"/>
                        <a:t>Data Acquisition</a:t>
                      </a:r>
                      <a:endParaRPr lang="de-DE" sz="1600" b="1" kern="1200" dirty="0">
                        <a:solidFill>
                          <a:schemeClr val="dk1"/>
                        </a:solidFill>
                        <a:latin typeface="+mn-lt"/>
                        <a:ea typeface="+mn-ea"/>
                        <a:cs typeface="+mn-cs"/>
                      </a:endParaRPr>
                    </a:p>
                  </a:txBody>
                  <a:tcPr anchor="ctr"/>
                </a:tc>
                <a:tc>
                  <a:txBody>
                    <a:bodyPr/>
                    <a:lstStyle/>
                    <a:p>
                      <a:pPr algn="l"/>
                      <a:r>
                        <a:rPr lang="de-DE" sz="1400" kern="1200" dirty="0">
                          <a:hlinkClick r:id="rId3" action="ppaction://hlinksldjump"/>
                        </a:rPr>
                        <a:t>4</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1977580763"/>
                  </a:ext>
                </a:extLst>
              </a:tr>
              <a:tr h="642572">
                <a:tc>
                  <a:txBody>
                    <a:bodyPr/>
                    <a:lstStyle/>
                    <a:p>
                      <a:r>
                        <a:rPr lang="de-DE" sz="1600" b="1" dirty="0"/>
                        <a:t>Data Processing</a:t>
                      </a:r>
                      <a:endParaRPr lang="de-DE" sz="1600" b="0" kern="1200" dirty="0">
                        <a:solidFill>
                          <a:schemeClr val="dk1"/>
                        </a:solidFill>
                        <a:latin typeface="+mn-lt"/>
                        <a:ea typeface="+mn-ea"/>
                        <a:cs typeface="+mn-cs"/>
                      </a:endParaRPr>
                    </a:p>
                  </a:txBody>
                  <a:tcPr anchor="ctr"/>
                </a:tc>
                <a:tc>
                  <a:txBody>
                    <a:bodyPr/>
                    <a:lstStyle/>
                    <a:p>
                      <a:pPr algn="l"/>
                      <a:r>
                        <a:rPr lang="de-DE" sz="1400" b="0" kern="1200" dirty="0">
                          <a:solidFill>
                            <a:schemeClr val="dk1"/>
                          </a:solidFill>
                          <a:latin typeface="+mn-lt"/>
                          <a:ea typeface="+mn-ea"/>
                          <a:cs typeface="+mn-cs"/>
                          <a:hlinkClick r:id="rId4" action="ppaction://hlinksldjump"/>
                        </a:rPr>
                        <a:t>5</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3009080970"/>
                  </a:ext>
                </a:extLst>
              </a:tr>
              <a:tr h="642572">
                <a:tc>
                  <a:txBody>
                    <a:bodyPr/>
                    <a:lstStyle/>
                    <a:p>
                      <a:r>
                        <a:rPr lang="de-DE" sz="1600" b="1" kern="1200" dirty="0">
                          <a:solidFill>
                            <a:schemeClr val="dk1"/>
                          </a:solidFill>
                          <a:latin typeface="+mn-lt"/>
                          <a:ea typeface="+mn-ea"/>
                          <a:cs typeface="+mn-cs"/>
                        </a:rPr>
                        <a:t>Data Transformation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hlinkClick r:id="rId5" action="ppaction://hlinksldjump"/>
                        </a:rPr>
                        <a:t>7</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3677265883"/>
                  </a:ext>
                </a:extLst>
              </a:tr>
              <a:tr h="642572">
                <a:tc>
                  <a:txBody>
                    <a:bodyPr/>
                    <a:lstStyle/>
                    <a:p>
                      <a:r>
                        <a:rPr lang="de-DE" sz="1600" b="1" dirty="0"/>
                        <a:t>Data Loading</a:t>
                      </a:r>
                      <a:endParaRPr lang="de-DE" sz="1600" kern="1200" dirty="0">
                        <a:solidFill>
                          <a:schemeClr val="dk1"/>
                        </a:solidFill>
                        <a:latin typeface="+mn-lt"/>
                        <a:ea typeface="+mn-ea"/>
                        <a:cs typeface="+mn-cs"/>
                      </a:endParaRPr>
                    </a:p>
                  </a:txBody>
                  <a:tcPr anchor="ctr"/>
                </a:tc>
                <a:tc>
                  <a:txBody>
                    <a:bodyPr/>
                    <a:lstStyle/>
                    <a:p>
                      <a:pPr algn="l"/>
                      <a:r>
                        <a:rPr lang="de-DE" sz="1400" kern="1200" dirty="0">
                          <a:hlinkClick r:id="rId6" action="ppaction://hlinksldjump"/>
                        </a:rPr>
                        <a:t>8</a:t>
                      </a:r>
                      <a:endParaRPr lang="de-DE" sz="1400" kern="1200" dirty="0">
                        <a:solidFill>
                          <a:schemeClr val="dk1"/>
                        </a:solidFill>
                        <a:latin typeface="+mn-lt"/>
                        <a:ea typeface="+mn-ea"/>
                        <a:cs typeface="+mn-cs"/>
                      </a:endParaRPr>
                    </a:p>
                  </a:txBody>
                  <a:tcPr anchor="ctr"/>
                </a:tc>
                <a:extLst>
                  <a:ext uri="{0D108BD9-81ED-4DB2-BD59-A6C34878D82A}">
                    <a16:rowId xmlns:a16="http://schemas.microsoft.com/office/drawing/2014/main" val="510188553"/>
                  </a:ext>
                </a:extLst>
              </a:tr>
              <a:tr h="642572">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lang="de-DE" sz="1600" b="1" dirty="0"/>
                        <a:t>Automation Process</a:t>
                      </a:r>
                      <a:endParaRPr lang="en-US" sz="1600" kern="1200" noProof="0" dirty="0">
                        <a:solidFill>
                          <a:schemeClr val="tx1"/>
                        </a:solidFill>
                        <a:latin typeface="+mn-lt"/>
                        <a:ea typeface="+mn-ea"/>
                        <a:cs typeface="+mn-cs"/>
                      </a:endParaRPr>
                    </a:p>
                  </a:txBody>
                  <a:tcPr anchor="ctr"/>
                </a:tc>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hlinkClick r:id="rId7" action="ppaction://hlinksldjump"/>
                        </a:rPr>
                        <a:t>9</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2246211617"/>
                  </a:ext>
                </a:extLst>
              </a:tr>
              <a:tr h="642572">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lang="de-DE" sz="1600" b="1" dirty="0"/>
                        <a:t>Challenges Faced</a:t>
                      </a:r>
                      <a:endParaRPr lang="en-US" sz="1600" kern="1200" noProof="0" dirty="0">
                        <a:solidFill>
                          <a:schemeClr val="tx1"/>
                        </a:solidFill>
                        <a:latin typeface="+mn-lt"/>
                        <a:ea typeface="+mn-ea"/>
                        <a:cs typeface="+mn-cs"/>
                      </a:endParaRPr>
                    </a:p>
                  </a:txBody>
                  <a:tcPr anchor="ctr"/>
                </a:tc>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hlinkClick r:id="rId8" action="ppaction://hlinksldjump"/>
                        </a:rPr>
                        <a:t>10</a:t>
                      </a: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1169660365"/>
                  </a:ext>
                </a:extLst>
              </a:tr>
              <a:tr h="642572">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mn-lt"/>
                        <a:ea typeface="+mn-ea"/>
                        <a:cs typeface="+mn-cs"/>
                      </a:endParaRPr>
                    </a:p>
                  </a:txBody>
                  <a:tcPr anchor="ctr"/>
                </a:tc>
                <a:tc>
                  <a:txBody>
                    <a:bodyPr/>
                    <a:lstStyle/>
                    <a:p>
                      <a:pPr marL="0" marR="0" lvl="0" indent="0" algn="l" defTabSz="914333" rtl="0" eaLnBrk="1" fontAlgn="auto" latinLnBrk="0" hangingPunct="1">
                        <a:lnSpc>
                          <a:spcPct val="100000"/>
                        </a:lnSpc>
                        <a:spcBef>
                          <a:spcPts val="0"/>
                        </a:spcBef>
                        <a:spcAft>
                          <a:spcPts val="0"/>
                        </a:spcAft>
                        <a:buClrTx/>
                        <a:buSzTx/>
                        <a:buFontTx/>
                        <a:buNone/>
                        <a:tabLst/>
                        <a:defRPr/>
                      </a:pPr>
                      <a:endParaRPr lang="de-DE" sz="1400" b="0" kern="1200" dirty="0">
                        <a:solidFill>
                          <a:schemeClr val="dk1"/>
                        </a:solidFill>
                        <a:latin typeface="+mn-lt"/>
                        <a:ea typeface="+mn-ea"/>
                        <a:cs typeface="+mn-cs"/>
                      </a:endParaRPr>
                    </a:p>
                  </a:txBody>
                  <a:tcPr anchor="ctr"/>
                </a:tc>
                <a:extLst>
                  <a:ext uri="{0D108BD9-81ED-4DB2-BD59-A6C34878D82A}">
                    <a16:rowId xmlns:a16="http://schemas.microsoft.com/office/drawing/2014/main" val="2410259791"/>
                  </a:ext>
                </a:extLst>
              </a:tr>
            </a:tbl>
          </a:graphicData>
        </a:graphic>
      </p:graphicFrame>
      <p:sp>
        <p:nvSpPr>
          <p:cNvPr id="9" name="Titel 1">
            <a:extLst>
              <a:ext uri="{FF2B5EF4-FFF2-40B4-BE49-F238E27FC236}">
                <a16:creationId xmlns:a16="http://schemas.microsoft.com/office/drawing/2014/main" id="{2E260DE2-CB46-BECD-7B1C-1AF27D4E4843}"/>
              </a:ext>
            </a:extLst>
          </p:cNvPr>
          <p:cNvSpPr txBox="1">
            <a:spLocks/>
          </p:cNvSpPr>
          <p:nvPr/>
        </p:nvSpPr>
        <p:spPr>
          <a:xfrm>
            <a:off x="266700" y="422026"/>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400" b="1" dirty="0"/>
              <a:t>INDEX</a:t>
            </a:r>
          </a:p>
        </p:txBody>
      </p:sp>
    </p:spTree>
    <p:extLst>
      <p:ext uri="{BB962C8B-B14F-4D97-AF65-F5344CB8AC3E}">
        <p14:creationId xmlns:p14="http://schemas.microsoft.com/office/powerpoint/2010/main" val="2507138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1">
            <a:extLst>
              <a:ext uri="{FF2B5EF4-FFF2-40B4-BE49-F238E27FC236}">
                <a16:creationId xmlns:a16="http://schemas.microsoft.com/office/drawing/2014/main" id="{FA83E8CC-4C14-CD9A-7474-F7F1F2168DDA}"/>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PIPELINE ARCHITECTURE</a:t>
            </a:r>
          </a:p>
        </p:txBody>
      </p:sp>
      <p:sp>
        <p:nvSpPr>
          <p:cNvPr id="22" name="Textfeld 8">
            <a:extLst>
              <a:ext uri="{FF2B5EF4-FFF2-40B4-BE49-F238E27FC236}">
                <a16:creationId xmlns:a16="http://schemas.microsoft.com/office/drawing/2014/main" id="{4E508604-B0E5-0CA3-CAB1-7D317CD8A49A}"/>
              </a:ext>
            </a:extLst>
          </p:cNvPr>
          <p:cNvSpPr txBox="1">
            <a:spLocks/>
          </p:cNvSpPr>
          <p:nvPr/>
        </p:nvSpPr>
        <p:spPr>
          <a:xfrm>
            <a:off x="1112252" y="951771"/>
            <a:ext cx="9797191" cy="1535397"/>
          </a:xfrm>
          <a:prstGeom prst="rect">
            <a:avLst/>
          </a:prstGeom>
          <a:noFill/>
        </p:spPr>
        <p:txBody>
          <a:bodyPr wrap="square" lIns="0" tIns="0" rIns="0" bIns="0" rtlCol="0">
            <a:noAutofit/>
          </a:bodyPr>
          <a:lstStyle/>
          <a:p>
            <a:r>
              <a:rPr kumimoji="0" lang="de-DE" sz="1200" b="0" i="0" u="none" strike="noStrike" kern="0" cap="none" spc="0" normalizeH="0" baseline="0" noProof="0" dirty="0">
                <a:ln>
                  <a:noFill/>
                </a:ln>
                <a:solidFill>
                  <a:srgbClr val="000000"/>
                </a:solidFill>
                <a:effectLst/>
                <a:uLnTx/>
                <a:uFillTx/>
              </a:rPr>
              <a:t>For this assignement, i started by using 1 dataset for 3 different </a:t>
            </a:r>
            <a:r>
              <a:rPr kumimoji="0" lang="de-DE" sz="1200" b="1" i="0" u="none" strike="noStrike" kern="0" cap="none" spc="0" normalizeH="0" baseline="0" noProof="0" dirty="0">
                <a:ln>
                  <a:noFill/>
                </a:ln>
                <a:solidFill>
                  <a:srgbClr val="000000"/>
                </a:solidFill>
                <a:effectLst/>
                <a:uLnTx/>
                <a:uFillTx/>
              </a:rPr>
              <a:t>datasources</a:t>
            </a:r>
            <a:r>
              <a:rPr kumimoji="0" lang="de-DE" sz="1200" b="0" i="0" u="none" strike="noStrike" kern="0" cap="none" spc="0" normalizeH="0" baseline="0" noProof="0" dirty="0">
                <a:ln>
                  <a:noFill/>
                </a:ln>
                <a:solidFill>
                  <a:srgbClr val="000000"/>
                </a:solidFill>
                <a:effectLst/>
                <a:uLnTx/>
                <a:uFillTx/>
              </a:rPr>
              <a:t>:</a:t>
            </a:r>
          </a:p>
          <a:p>
            <a:r>
              <a:rPr lang="de-DE" sz="1200" kern="0" dirty="0">
                <a:solidFill>
                  <a:srgbClr val="000000"/>
                </a:solidFill>
              </a:rPr>
              <a:t>- </a:t>
            </a:r>
            <a:r>
              <a:rPr lang="de-DE" sz="1200" kern="0" dirty="0">
                <a:solidFill>
                  <a:srgbClr val="000000"/>
                </a:solidFill>
                <a:hlinkClick r:id="rId2"/>
              </a:rPr>
              <a:t>NHTSA</a:t>
            </a:r>
            <a:r>
              <a:rPr lang="de-DE" sz="1200" kern="0" dirty="0">
                <a:solidFill>
                  <a:srgbClr val="000000"/>
                </a:solidFill>
              </a:rPr>
              <a:t>:</a:t>
            </a:r>
            <a:r>
              <a:rPr lang="en-US" sz="1200" dirty="0"/>
              <a:t> Used a dataset that contains crash test results, rollover resistance metrics, and advanced driver assistance system evaluations. It provides detailed safety performance indicators for vehicle models;</a:t>
            </a:r>
          </a:p>
          <a:p>
            <a:r>
              <a:rPr kumimoji="0" lang="en-US" sz="1200" b="0" i="0" u="none" strike="noStrike" kern="0" cap="none" spc="0" normalizeH="0" baseline="0" noProof="0" dirty="0">
                <a:ln>
                  <a:noFill/>
                </a:ln>
                <a:solidFill>
                  <a:srgbClr val="000000"/>
                </a:solidFill>
                <a:effectLst/>
                <a:uLnTx/>
                <a:uFillTx/>
              </a:rPr>
              <a:t>- </a:t>
            </a:r>
            <a:r>
              <a:rPr lang="en-US" sz="1200" kern="0" dirty="0">
                <a:solidFill>
                  <a:srgbClr val="000000"/>
                </a:solidFill>
                <a:hlinkClick r:id="rId3"/>
              </a:rPr>
              <a:t>Fuel Economy</a:t>
            </a:r>
            <a:r>
              <a:rPr lang="en-US" sz="1200" kern="0" dirty="0">
                <a:solidFill>
                  <a:srgbClr val="000000"/>
                </a:solidFill>
              </a:rPr>
              <a:t>: Used a dataset that includes fuel economy and emissions data for model years from 1984 to present, covering MPG, CO₂ emissions, fuel costs, and other efficiency metrics;</a:t>
            </a:r>
          </a:p>
          <a:p>
            <a:r>
              <a:rPr lang="en-US" sz="1200" dirty="0"/>
              <a:t>- </a:t>
            </a:r>
            <a:r>
              <a:rPr lang="en-US" sz="1200" dirty="0">
                <a:hlinkClick r:id="rId4"/>
              </a:rPr>
              <a:t>AFDC</a:t>
            </a:r>
            <a:r>
              <a:rPr lang="en-US" sz="1200" dirty="0"/>
              <a:t>: Used a dataset that contains technical specifications for light duty vehicles.</a:t>
            </a:r>
            <a:endParaRPr kumimoji="0" lang="en-US" sz="1200" b="0" i="0" u="none" strike="noStrike" kern="0" cap="none" spc="0" normalizeH="0" baseline="0" noProof="0" dirty="0">
              <a:ln>
                <a:noFill/>
              </a:ln>
              <a:solidFill>
                <a:srgbClr val="000000"/>
              </a:solidFill>
              <a:effectLst/>
              <a:uLnTx/>
              <a:uFillTx/>
            </a:endParaRPr>
          </a:p>
          <a:p>
            <a:r>
              <a:rPr kumimoji="0" lang="de-DE" sz="1200" b="0" i="0" u="none" strike="noStrike" kern="0" cap="none" spc="0" normalizeH="0" baseline="0" noProof="0" dirty="0">
                <a:ln>
                  <a:noFill/>
                </a:ln>
                <a:solidFill>
                  <a:srgbClr val="000000"/>
                </a:solidFill>
                <a:effectLst/>
                <a:uLnTx/>
                <a:uFillTx/>
              </a:rPr>
              <a:t>All this datasets </a:t>
            </a:r>
            <a:r>
              <a:rPr kumimoji="0" lang="en-US" sz="1200" b="0" i="0" u="none" strike="noStrike" kern="0" cap="none" spc="0" normalizeH="0" baseline="0" noProof="0" dirty="0">
                <a:ln>
                  <a:noFill/>
                </a:ln>
                <a:solidFill>
                  <a:srgbClr val="000000"/>
                </a:solidFill>
                <a:effectLst/>
                <a:uLnTx/>
                <a:uFillTx/>
              </a:rPr>
              <a:t>collectively describe safety, performance, and fuel characteristics for various vehicle models</a:t>
            </a:r>
            <a:r>
              <a:rPr kumimoji="0" lang="de-DE" sz="1200" b="0" i="0" u="none" strike="noStrike" kern="0" cap="none" spc="0" normalizeH="0" baseline="0" noProof="0" dirty="0">
                <a:ln>
                  <a:noFill/>
                </a:ln>
                <a:solidFill>
                  <a:srgbClr val="000000"/>
                </a:solidFill>
                <a:effectLst/>
                <a:uLnTx/>
                <a:uFillTx/>
              </a:rPr>
              <a:t>, which i thought would have a great synergy for later transformations</a:t>
            </a:r>
            <a:r>
              <a:rPr kumimoji="0" lang="en-US" sz="1200" b="0" i="0" u="none" strike="noStrike" kern="0" cap="none" spc="0" normalizeH="0" baseline="0" noProof="0" dirty="0">
                <a:ln>
                  <a:noFill/>
                </a:ln>
                <a:solidFill>
                  <a:srgbClr val="000000"/>
                </a:solidFill>
                <a:effectLst/>
                <a:uLnTx/>
                <a:uFillTx/>
              </a:rPr>
              <a:t>.</a:t>
            </a:r>
          </a:p>
        </p:txBody>
      </p:sp>
      <p:grpSp>
        <p:nvGrpSpPr>
          <p:cNvPr id="29" name="Group 28">
            <a:extLst>
              <a:ext uri="{FF2B5EF4-FFF2-40B4-BE49-F238E27FC236}">
                <a16:creationId xmlns:a16="http://schemas.microsoft.com/office/drawing/2014/main" id="{7B55098E-5E72-4A24-C9DD-C03E8B475A4E}"/>
              </a:ext>
            </a:extLst>
          </p:cNvPr>
          <p:cNvGrpSpPr/>
          <p:nvPr/>
        </p:nvGrpSpPr>
        <p:grpSpPr>
          <a:xfrm>
            <a:off x="336445" y="951771"/>
            <a:ext cx="353667" cy="369332"/>
            <a:chOff x="336445" y="951771"/>
            <a:chExt cx="353667" cy="369332"/>
          </a:xfrm>
        </p:grpSpPr>
        <p:sp>
          <p:nvSpPr>
            <p:cNvPr id="24" name="Oval 23">
              <a:extLst>
                <a:ext uri="{FF2B5EF4-FFF2-40B4-BE49-F238E27FC236}">
                  <a16:creationId xmlns:a16="http://schemas.microsoft.com/office/drawing/2014/main" id="{4465C710-98B2-C50D-1AEA-1DF22AE88A09}"/>
                </a:ext>
              </a:extLst>
            </p:cNvPr>
            <p:cNvSpPr/>
            <p:nvPr/>
          </p:nvSpPr>
          <p:spPr>
            <a:xfrm>
              <a:off x="336445" y="957917"/>
              <a:ext cx="353667" cy="340957"/>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26E68E42-79DB-19EB-FCB7-76FA4AFE8EF7}"/>
                </a:ext>
              </a:extLst>
            </p:cNvPr>
            <p:cNvSpPr txBox="1"/>
            <p:nvPr/>
          </p:nvSpPr>
          <p:spPr>
            <a:xfrm>
              <a:off x="379308" y="951771"/>
              <a:ext cx="267940" cy="369332"/>
            </a:xfrm>
            <a:prstGeom prst="rect">
              <a:avLst/>
            </a:prstGeom>
            <a:noFill/>
          </p:spPr>
          <p:txBody>
            <a:bodyPr wrap="square" rtlCol="0">
              <a:spAutoFit/>
            </a:bodyPr>
            <a:lstStyle/>
            <a:p>
              <a:pPr algn="ctr"/>
              <a:r>
                <a:rPr lang="pt-PT" dirty="0">
                  <a:solidFill>
                    <a:srgbClr val="156082"/>
                  </a:solidFill>
                </a:rPr>
                <a:t>1</a:t>
              </a:r>
              <a:endParaRPr lang="en-US" dirty="0">
                <a:solidFill>
                  <a:srgbClr val="156082"/>
                </a:solidFill>
              </a:endParaRPr>
            </a:p>
          </p:txBody>
        </p:sp>
      </p:grpSp>
      <p:grpSp>
        <p:nvGrpSpPr>
          <p:cNvPr id="30" name="Group 29">
            <a:extLst>
              <a:ext uri="{FF2B5EF4-FFF2-40B4-BE49-F238E27FC236}">
                <a16:creationId xmlns:a16="http://schemas.microsoft.com/office/drawing/2014/main" id="{20CD917C-C0B7-473E-F578-483C5BCCD1A3}"/>
              </a:ext>
            </a:extLst>
          </p:cNvPr>
          <p:cNvGrpSpPr/>
          <p:nvPr/>
        </p:nvGrpSpPr>
        <p:grpSpPr>
          <a:xfrm>
            <a:off x="336444" y="2565080"/>
            <a:ext cx="353667" cy="369332"/>
            <a:chOff x="336445" y="951771"/>
            <a:chExt cx="353667" cy="369332"/>
          </a:xfrm>
        </p:grpSpPr>
        <p:sp>
          <p:nvSpPr>
            <p:cNvPr id="31" name="Oval 30">
              <a:extLst>
                <a:ext uri="{FF2B5EF4-FFF2-40B4-BE49-F238E27FC236}">
                  <a16:creationId xmlns:a16="http://schemas.microsoft.com/office/drawing/2014/main" id="{3FC05DBE-BCC6-222B-F034-7E2CF42884C1}"/>
                </a:ext>
              </a:extLst>
            </p:cNvPr>
            <p:cNvSpPr/>
            <p:nvPr/>
          </p:nvSpPr>
          <p:spPr>
            <a:xfrm>
              <a:off x="336445" y="957917"/>
              <a:ext cx="353667" cy="340957"/>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07DB9B60-5198-76E9-005C-E914014D84CC}"/>
                </a:ext>
              </a:extLst>
            </p:cNvPr>
            <p:cNvSpPr txBox="1"/>
            <p:nvPr/>
          </p:nvSpPr>
          <p:spPr>
            <a:xfrm>
              <a:off x="379308" y="951771"/>
              <a:ext cx="267940" cy="369332"/>
            </a:xfrm>
            <a:prstGeom prst="rect">
              <a:avLst/>
            </a:prstGeom>
            <a:noFill/>
          </p:spPr>
          <p:txBody>
            <a:bodyPr wrap="square" rtlCol="0">
              <a:spAutoFit/>
            </a:bodyPr>
            <a:lstStyle/>
            <a:p>
              <a:pPr algn="ctr"/>
              <a:r>
                <a:rPr lang="pt-PT" dirty="0">
                  <a:solidFill>
                    <a:srgbClr val="156082"/>
                  </a:solidFill>
                </a:rPr>
                <a:t>2</a:t>
              </a:r>
              <a:endParaRPr lang="en-US" dirty="0">
                <a:solidFill>
                  <a:srgbClr val="156082"/>
                </a:solidFill>
              </a:endParaRPr>
            </a:p>
          </p:txBody>
        </p:sp>
      </p:grpSp>
      <p:sp>
        <p:nvSpPr>
          <p:cNvPr id="33" name="Textfeld 8">
            <a:extLst>
              <a:ext uri="{FF2B5EF4-FFF2-40B4-BE49-F238E27FC236}">
                <a16:creationId xmlns:a16="http://schemas.microsoft.com/office/drawing/2014/main" id="{55D7859E-B0D4-A0A9-82E8-0D6E075A6DA9}"/>
              </a:ext>
            </a:extLst>
          </p:cNvPr>
          <p:cNvSpPr txBox="1">
            <a:spLocks/>
          </p:cNvSpPr>
          <p:nvPr/>
        </p:nvSpPr>
        <p:spPr>
          <a:xfrm>
            <a:off x="1112251" y="2551552"/>
            <a:ext cx="9797191" cy="3712088"/>
          </a:xfrm>
          <a:prstGeom prst="rect">
            <a:avLst/>
          </a:prstGeom>
          <a:noFill/>
        </p:spPr>
        <p:txBody>
          <a:bodyPr wrap="square" lIns="0" tIns="0" rIns="0" bIns="0" rtlCol="0">
            <a:noAutofit/>
          </a:bodyPr>
          <a:lstStyle/>
          <a:p>
            <a:r>
              <a:rPr lang="de-DE" sz="1200" kern="0" dirty="0">
                <a:solidFill>
                  <a:srgbClr val="000000"/>
                </a:solidFill>
              </a:rPr>
              <a:t>For </a:t>
            </a:r>
            <a:r>
              <a:rPr lang="de-DE" sz="1200" b="1" kern="0" dirty="0">
                <a:solidFill>
                  <a:srgbClr val="000000"/>
                </a:solidFill>
              </a:rPr>
              <a:t>downloading</a:t>
            </a:r>
            <a:r>
              <a:rPr lang="de-DE" sz="1200" kern="0" dirty="0">
                <a:solidFill>
                  <a:srgbClr val="000000"/>
                </a:solidFill>
              </a:rPr>
              <a:t>, </a:t>
            </a:r>
            <a:r>
              <a:rPr lang="de-DE" sz="1200" b="1" kern="0" dirty="0">
                <a:solidFill>
                  <a:srgbClr val="000000"/>
                </a:solidFill>
              </a:rPr>
              <a:t>processing</a:t>
            </a:r>
            <a:r>
              <a:rPr lang="de-DE" sz="1200" kern="0" dirty="0">
                <a:solidFill>
                  <a:srgbClr val="000000"/>
                </a:solidFill>
              </a:rPr>
              <a:t>, and </a:t>
            </a:r>
            <a:r>
              <a:rPr lang="de-DE" sz="1200" b="1" kern="0" dirty="0">
                <a:solidFill>
                  <a:srgbClr val="000000"/>
                </a:solidFill>
              </a:rPr>
              <a:t>transforming</a:t>
            </a:r>
            <a:r>
              <a:rPr lang="de-DE" sz="1200" kern="0" dirty="0">
                <a:solidFill>
                  <a:srgbClr val="000000"/>
                </a:solidFill>
              </a:rPr>
              <a:t> this data, i followed a medallian architecture divided in three layers:</a:t>
            </a:r>
          </a:p>
          <a:p>
            <a:pPr marL="285750" indent="-285750">
              <a:buFontTx/>
              <a:buChar char="-"/>
            </a:pPr>
            <a:endParaRPr lang="de-DE" sz="1200" kern="0" dirty="0">
              <a:solidFill>
                <a:srgbClr val="000000"/>
              </a:solidFill>
            </a:endParaRPr>
          </a:p>
          <a:p>
            <a:pPr marL="285750" indent="-285750">
              <a:buFontTx/>
              <a:buChar char="-"/>
            </a:pPr>
            <a:r>
              <a:rPr lang="de-DE" sz="1200" b="1" kern="0" dirty="0">
                <a:solidFill>
                  <a:srgbClr val="CC6600"/>
                </a:solidFill>
              </a:rPr>
              <a:t>Bronze layer</a:t>
            </a:r>
          </a:p>
          <a:p>
            <a:pPr marL="742950" lvl="1" indent="-285750">
              <a:buFont typeface="Arial" panose="020B0604020202020204" pitchFamily="34" charset="0"/>
              <a:buChar char="•"/>
            </a:pPr>
            <a:r>
              <a:rPr lang="en-US" sz="1200" kern="0" dirty="0">
                <a:solidFill>
                  <a:srgbClr val="000000"/>
                </a:solidFill>
              </a:rPr>
              <a:t>One script per data source </a:t>
            </a:r>
            <a:r>
              <a:rPr lang="de-DE" sz="1200" kern="0" dirty="0">
                <a:solidFill>
                  <a:srgbClr val="000000"/>
                </a:solidFill>
              </a:rPr>
              <a:t>(except from one file which will be explained in a moment) to be runned in parallel</a:t>
            </a:r>
          </a:p>
          <a:p>
            <a:pPr marL="742950" lvl="1" indent="-285750">
              <a:buFont typeface="Arial" panose="020B0604020202020204" pitchFamily="34" charset="0"/>
              <a:buChar char="•"/>
            </a:pPr>
            <a:r>
              <a:rPr lang="en-US" sz="1200" kern="0" dirty="0">
                <a:solidFill>
                  <a:srgbClr val="000000"/>
                </a:solidFill>
              </a:rPr>
              <a:t>Data downloaded directly from the original providers</a:t>
            </a:r>
          </a:p>
          <a:p>
            <a:pPr marL="742950" lvl="1" indent="-285750">
              <a:buFont typeface="Arial" panose="020B0604020202020204" pitchFamily="34" charset="0"/>
              <a:buChar char="•"/>
            </a:pPr>
            <a:r>
              <a:rPr lang="en-US" sz="1200" kern="0" dirty="0">
                <a:solidFill>
                  <a:srgbClr val="000000"/>
                </a:solidFill>
              </a:rPr>
              <a:t>Stored in raw format, preserving original structure</a:t>
            </a:r>
            <a:endParaRPr lang="de-DE" sz="1200" kern="0" dirty="0">
              <a:solidFill>
                <a:srgbClr val="000000"/>
              </a:solidFill>
            </a:endParaRPr>
          </a:p>
          <a:p>
            <a:pPr marL="285750" indent="-285750">
              <a:buFontTx/>
              <a:buChar char="-"/>
            </a:pPr>
            <a:r>
              <a:rPr lang="de-DE" sz="1200" b="1" kern="0" dirty="0">
                <a:solidFill>
                  <a:schemeClr val="bg2">
                    <a:lumMod val="75000"/>
                  </a:schemeClr>
                </a:solidFill>
              </a:rPr>
              <a:t>Silver layer</a:t>
            </a:r>
          </a:p>
          <a:p>
            <a:pPr marL="742950" lvl="1" indent="-285750">
              <a:buFont typeface="Arial" panose="020B0604020202020204" pitchFamily="34" charset="0"/>
              <a:buChar char="•"/>
            </a:pPr>
            <a:r>
              <a:rPr lang="de-DE" sz="1200" kern="0" dirty="0">
                <a:solidFill>
                  <a:srgbClr val="000000"/>
                </a:solidFill>
              </a:rPr>
              <a:t>One script per Bronze dataset to be runned in parallel</a:t>
            </a:r>
          </a:p>
          <a:p>
            <a:pPr marL="742950" lvl="1" indent="-285750">
              <a:buFont typeface="Arial" panose="020B0604020202020204" pitchFamily="34" charset="0"/>
              <a:buChar char="•"/>
            </a:pPr>
            <a:r>
              <a:rPr lang="en-US" sz="1200" kern="0" dirty="0">
                <a:solidFill>
                  <a:srgbClr val="000000"/>
                </a:solidFill>
              </a:rPr>
              <a:t>Applied data cleaning and processing</a:t>
            </a:r>
          </a:p>
          <a:p>
            <a:pPr marL="742950" lvl="1" indent="-285750">
              <a:buFont typeface="Arial" panose="020B0604020202020204" pitchFamily="34" charset="0"/>
              <a:buChar char="•"/>
            </a:pPr>
            <a:r>
              <a:rPr lang="en-US" sz="1200" kern="0" dirty="0">
                <a:solidFill>
                  <a:srgbClr val="000000"/>
                </a:solidFill>
              </a:rPr>
              <a:t>Stored as optimized files</a:t>
            </a:r>
            <a:endParaRPr lang="de-DE" sz="1200" kern="0" dirty="0">
              <a:solidFill>
                <a:srgbClr val="000000"/>
              </a:solidFill>
            </a:endParaRPr>
          </a:p>
          <a:p>
            <a:pPr marL="285750" indent="-285750">
              <a:buFontTx/>
              <a:buChar char="-"/>
            </a:pPr>
            <a:r>
              <a:rPr lang="de-DE" sz="1200" b="1" kern="0" dirty="0">
                <a:solidFill>
                  <a:srgbClr val="FFCC00"/>
                </a:solidFill>
              </a:rPr>
              <a:t>Gold layer</a:t>
            </a:r>
          </a:p>
          <a:p>
            <a:pPr marL="742950" lvl="1" indent="-285750">
              <a:buFont typeface="Arial" panose="020B0604020202020204" pitchFamily="34" charset="0"/>
              <a:buChar char="•"/>
            </a:pPr>
            <a:r>
              <a:rPr lang="en-US" sz="1200" kern="0" dirty="0">
                <a:solidFill>
                  <a:srgbClr val="000000"/>
                </a:solidFill>
              </a:rPr>
              <a:t>A final integration script reads all Silver outputs</a:t>
            </a:r>
          </a:p>
          <a:p>
            <a:pPr marL="742950" lvl="1" indent="-285750">
              <a:buFont typeface="Arial" panose="020B0604020202020204" pitchFamily="34" charset="0"/>
              <a:buChar char="•"/>
            </a:pPr>
            <a:r>
              <a:rPr lang="en-US" sz="1200" kern="0" dirty="0">
                <a:solidFill>
                  <a:srgbClr val="000000"/>
                </a:solidFill>
              </a:rPr>
              <a:t>Produces business-ready analytical tables</a:t>
            </a:r>
          </a:p>
          <a:p>
            <a:pPr lvl="1"/>
            <a:endParaRPr lang="de-DE" sz="1200" kern="0" dirty="0">
              <a:solidFill>
                <a:srgbClr val="000000"/>
              </a:solidFill>
            </a:endParaRPr>
          </a:p>
          <a:p>
            <a:pPr marL="285750" indent="-285750">
              <a:buFontTx/>
              <a:buChar char="-"/>
            </a:pPr>
            <a:r>
              <a:rPr lang="de-DE" sz="1200" kern="0" dirty="0">
                <a:solidFill>
                  <a:srgbClr val="000000"/>
                </a:solidFill>
              </a:rPr>
              <a:t>Additionally, </a:t>
            </a:r>
            <a:r>
              <a:rPr lang="en-US" sz="1200" kern="0" dirty="0">
                <a:solidFill>
                  <a:srgbClr val="000000"/>
                </a:solidFill>
              </a:rPr>
              <a:t>a dedicated data exploration script was created to analyze each dataset prior to modeling.</a:t>
            </a:r>
            <a:endParaRPr lang="de-DE" sz="1200" kern="0" dirty="0">
              <a:solidFill>
                <a:srgbClr val="000000"/>
              </a:solidFill>
            </a:endParaRPr>
          </a:p>
        </p:txBody>
      </p:sp>
      <p:sp>
        <p:nvSpPr>
          <p:cNvPr id="34" name="Textfeld 8">
            <a:extLst>
              <a:ext uri="{FF2B5EF4-FFF2-40B4-BE49-F238E27FC236}">
                <a16:creationId xmlns:a16="http://schemas.microsoft.com/office/drawing/2014/main" id="{8DF87AED-1268-F9C8-4A24-6A7840D50321}"/>
              </a:ext>
            </a:extLst>
          </p:cNvPr>
          <p:cNvSpPr txBox="1">
            <a:spLocks/>
          </p:cNvSpPr>
          <p:nvPr/>
        </p:nvSpPr>
        <p:spPr>
          <a:xfrm>
            <a:off x="1112252" y="5414021"/>
            <a:ext cx="9797191" cy="584421"/>
          </a:xfrm>
          <a:prstGeom prst="rect">
            <a:avLst/>
          </a:prstGeom>
          <a:noFill/>
        </p:spPr>
        <p:txBody>
          <a:bodyPr wrap="square" lIns="0" tIns="0" rIns="0" bIns="0" rtlCol="0">
            <a:noAutofit/>
          </a:bodyPr>
          <a:lstStyle/>
          <a:p>
            <a:r>
              <a:rPr lang="en-US" sz="1200" kern="0" dirty="0">
                <a:solidFill>
                  <a:srgbClr val="000000"/>
                </a:solidFill>
              </a:rPr>
              <a:t>After producing the final Gold tables, I implemented a hypothetical </a:t>
            </a:r>
            <a:r>
              <a:rPr lang="en-US" sz="1200" b="1" kern="0" dirty="0">
                <a:solidFill>
                  <a:srgbClr val="000000"/>
                </a:solidFill>
              </a:rPr>
              <a:t>loading phase</a:t>
            </a:r>
            <a:r>
              <a:rPr lang="en-US" sz="1200" kern="0" dirty="0">
                <a:solidFill>
                  <a:srgbClr val="000000"/>
                </a:solidFill>
              </a:rPr>
              <a:t>. A script was created to simulate loading the final tables into a Databricks Delta Lake.</a:t>
            </a:r>
            <a:endParaRPr lang="de-DE" sz="1200" kern="0" dirty="0">
              <a:solidFill>
                <a:srgbClr val="000000"/>
              </a:solidFill>
            </a:endParaRPr>
          </a:p>
        </p:txBody>
      </p:sp>
      <p:grpSp>
        <p:nvGrpSpPr>
          <p:cNvPr id="35" name="Group 34">
            <a:extLst>
              <a:ext uri="{FF2B5EF4-FFF2-40B4-BE49-F238E27FC236}">
                <a16:creationId xmlns:a16="http://schemas.microsoft.com/office/drawing/2014/main" id="{56C5224E-0A18-1F6E-84A4-BE496CB6DFE5}"/>
              </a:ext>
            </a:extLst>
          </p:cNvPr>
          <p:cNvGrpSpPr/>
          <p:nvPr/>
        </p:nvGrpSpPr>
        <p:grpSpPr>
          <a:xfrm>
            <a:off x="336445" y="5414021"/>
            <a:ext cx="353667" cy="369332"/>
            <a:chOff x="336445" y="951771"/>
            <a:chExt cx="353667" cy="369332"/>
          </a:xfrm>
        </p:grpSpPr>
        <p:sp>
          <p:nvSpPr>
            <p:cNvPr id="36" name="Oval 35">
              <a:extLst>
                <a:ext uri="{FF2B5EF4-FFF2-40B4-BE49-F238E27FC236}">
                  <a16:creationId xmlns:a16="http://schemas.microsoft.com/office/drawing/2014/main" id="{34D52AAE-526E-4BB0-B233-78500095A086}"/>
                </a:ext>
              </a:extLst>
            </p:cNvPr>
            <p:cNvSpPr/>
            <p:nvPr/>
          </p:nvSpPr>
          <p:spPr>
            <a:xfrm>
              <a:off x="336445" y="957917"/>
              <a:ext cx="353667" cy="340957"/>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929735EF-86E5-B8C8-658B-EEA45AEA82E5}"/>
                </a:ext>
              </a:extLst>
            </p:cNvPr>
            <p:cNvSpPr txBox="1"/>
            <p:nvPr/>
          </p:nvSpPr>
          <p:spPr>
            <a:xfrm>
              <a:off x="379308" y="951771"/>
              <a:ext cx="267940" cy="369332"/>
            </a:xfrm>
            <a:prstGeom prst="rect">
              <a:avLst/>
            </a:prstGeom>
            <a:noFill/>
          </p:spPr>
          <p:txBody>
            <a:bodyPr wrap="square" rtlCol="0">
              <a:spAutoFit/>
            </a:bodyPr>
            <a:lstStyle/>
            <a:p>
              <a:pPr algn="ctr"/>
              <a:r>
                <a:rPr lang="pt-PT" dirty="0">
                  <a:solidFill>
                    <a:srgbClr val="156082"/>
                  </a:solidFill>
                </a:rPr>
                <a:t>3</a:t>
              </a:r>
              <a:endParaRPr lang="en-US" dirty="0">
                <a:solidFill>
                  <a:srgbClr val="156082"/>
                </a:solidFill>
              </a:endParaRPr>
            </a:p>
          </p:txBody>
        </p:sp>
      </p:grpSp>
      <p:grpSp>
        <p:nvGrpSpPr>
          <p:cNvPr id="38" name="Group 37">
            <a:extLst>
              <a:ext uri="{FF2B5EF4-FFF2-40B4-BE49-F238E27FC236}">
                <a16:creationId xmlns:a16="http://schemas.microsoft.com/office/drawing/2014/main" id="{25A22506-A4E5-7419-DC56-3AA5FD3DC01E}"/>
              </a:ext>
            </a:extLst>
          </p:cNvPr>
          <p:cNvGrpSpPr/>
          <p:nvPr/>
        </p:nvGrpSpPr>
        <p:grpSpPr>
          <a:xfrm>
            <a:off x="336444" y="5984914"/>
            <a:ext cx="353667" cy="369332"/>
            <a:chOff x="336445" y="942627"/>
            <a:chExt cx="353667" cy="369332"/>
          </a:xfrm>
        </p:grpSpPr>
        <p:sp>
          <p:nvSpPr>
            <p:cNvPr id="39" name="Oval 38">
              <a:extLst>
                <a:ext uri="{FF2B5EF4-FFF2-40B4-BE49-F238E27FC236}">
                  <a16:creationId xmlns:a16="http://schemas.microsoft.com/office/drawing/2014/main" id="{3E4D6858-02E7-65F9-3A96-AE19E3C1399A}"/>
                </a:ext>
              </a:extLst>
            </p:cNvPr>
            <p:cNvSpPr/>
            <p:nvPr/>
          </p:nvSpPr>
          <p:spPr>
            <a:xfrm>
              <a:off x="336445" y="957917"/>
              <a:ext cx="353667" cy="340957"/>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5146441A-874B-EA44-9043-6A59E0274C15}"/>
                </a:ext>
              </a:extLst>
            </p:cNvPr>
            <p:cNvSpPr txBox="1"/>
            <p:nvPr/>
          </p:nvSpPr>
          <p:spPr>
            <a:xfrm>
              <a:off x="379308" y="942627"/>
              <a:ext cx="267940" cy="369332"/>
            </a:xfrm>
            <a:prstGeom prst="rect">
              <a:avLst/>
            </a:prstGeom>
            <a:noFill/>
          </p:spPr>
          <p:txBody>
            <a:bodyPr wrap="square" rtlCol="0">
              <a:spAutoFit/>
            </a:bodyPr>
            <a:lstStyle/>
            <a:p>
              <a:pPr algn="ctr"/>
              <a:r>
                <a:rPr lang="pt-PT" dirty="0">
                  <a:solidFill>
                    <a:srgbClr val="156082"/>
                  </a:solidFill>
                </a:rPr>
                <a:t>4</a:t>
              </a:r>
              <a:endParaRPr lang="en-US" dirty="0">
                <a:solidFill>
                  <a:srgbClr val="156082"/>
                </a:solidFill>
              </a:endParaRPr>
            </a:p>
          </p:txBody>
        </p:sp>
      </p:grpSp>
      <p:sp>
        <p:nvSpPr>
          <p:cNvPr id="41" name="Textfeld 8">
            <a:extLst>
              <a:ext uri="{FF2B5EF4-FFF2-40B4-BE49-F238E27FC236}">
                <a16:creationId xmlns:a16="http://schemas.microsoft.com/office/drawing/2014/main" id="{C4668FB9-E03F-A3E2-898B-5A1E68F60E4B}"/>
              </a:ext>
            </a:extLst>
          </p:cNvPr>
          <p:cNvSpPr txBox="1">
            <a:spLocks/>
          </p:cNvSpPr>
          <p:nvPr/>
        </p:nvSpPr>
        <p:spPr>
          <a:xfrm>
            <a:off x="1112251" y="5980530"/>
            <a:ext cx="9797191" cy="520854"/>
          </a:xfrm>
          <a:prstGeom prst="rect">
            <a:avLst/>
          </a:prstGeom>
          <a:noFill/>
        </p:spPr>
        <p:txBody>
          <a:bodyPr wrap="square" lIns="0" tIns="0" rIns="0" bIns="0" rtlCol="0">
            <a:noAutofit/>
          </a:bodyPr>
          <a:lstStyle/>
          <a:p>
            <a:r>
              <a:rPr lang="de-DE" sz="1200" kern="0" dirty="0">
                <a:solidFill>
                  <a:srgbClr val="000000"/>
                </a:solidFill>
              </a:rPr>
              <a:t>To operationalize the pipeline, I designed an </a:t>
            </a:r>
            <a:r>
              <a:rPr lang="de-DE" sz="1200" b="1" kern="0" dirty="0">
                <a:solidFill>
                  <a:srgbClr val="000000"/>
                </a:solidFill>
              </a:rPr>
              <a:t>automation strategy </a:t>
            </a:r>
            <a:r>
              <a:rPr lang="de-DE" sz="1200" kern="0" dirty="0">
                <a:solidFill>
                  <a:srgbClr val="000000"/>
                </a:solidFill>
              </a:rPr>
              <a:t>using Databricks Workflows.</a:t>
            </a:r>
          </a:p>
          <a:p>
            <a:r>
              <a:rPr lang="de-DE" sz="1200" kern="0" dirty="0">
                <a:solidFill>
                  <a:srgbClr val="000000"/>
                </a:solidFill>
              </a:rPr>
              <a:t>The workflow orchestrates: Bronze ingestion </a:t>
            </a:r>
            <a:r>
              <a:rPr lang="pt-PT" sz="1200" kern="0" dirty="0">
                <a:solidFill>
                  <a:srgbClr val="000000"/>
                </a:solidFill>
              </a:rPr>
              <a:t>→ </a:t>
            </a:r>
            <a:r>
              <a:rPr lang="de-DE" sz="1200" kern="0" dirty="0">
                <a:solidFill>
                  <a:srgbClr val="000000"/>
                </a:solidFill>
              </a:rPr>
              <a:t>Silver transformations </a:t>
            </a:r>
            <a:r>
              <a:rPr lang="pt-PT" sz="1200" kern="0" dirty="0">
                <a:solidFill>
                  <a:srgbClr val="000000"/>
                </a:solidFill>
              </a:rPr>
              <a:t>→</a:t>
            </a:r>
            <a:r>
              <a:rPr lang="de-DE" sz="1200" kern="0" dirty="0">
                <a:solidFill>
                  <a:srgbClr val="000000"/>
                </a:solidFill>
              </a:rPr>
              <a:t> Gold modeling </a:t>
            </a:r>
            <a:r>
              <a:rPr lang="pt-PT" sz="1200" kern="0" dirty="0">
                <a:solidFill>
                  <a:srgbClr val="000000"/>
                </a:solidFill>
              </a:rPr>
              <a:t>→</a:t>
            </a:r>
            <a:r>
              <a:rPr lang="de-DE" sz="1200" kern="0" dirty="0">
                <a:solidFill>
                  <a:srgbClr val="000000"/>
                </a:solidFill>
              </a:rPr>
              <a:t> Delta Lake loading</a:t>
            </a:r>
          </a:p>
        </p:txBody>
      </p:sp>
    </p:spTree>
    <p:extLst>
      <p:ext uri="{BB962C8B-B14F-4D97-AF65-F5344CB8AC3E}">
        <p14:creationId xmlns:p14="http://schemas.microsoft.com/office/powerpoint/2010/main" val="3975973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B3EFC-C8B9-065F-7FFE-E32AA7C48FA2}"/>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89EC5C96-EFFA-08DF-F35C-FC2941655582}"/>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DATA ACQUISITION</a:t>
            </a:r>
          </a:p>
        </p:txBody>
      </p:sp>
      <p:sp>
        <p:nvSpPr>
          <p:cNvPr id="22" name="Textfeld 8">
            <a:extLst>
              <a:ext uri="{FF2B5EF4-FFF2-40B4-BE49-F238E27FC236}">
                <a16:creationId xmlns:a16="http://schemas.microsoft.com/office/drawing/2014/main" id="{4F574CD4-B3B2-A3ED-4986-8FEE7F9531EA}"/>
              </a:ext>
            </a:extLst>
          </p:cNvPr>
          <p:cNvSpPr txBox="1">
            <a:spLocks/>
          </p:cNvSpPr>
          <p:nvPr/>
        </p:nvSpPr>
        <p:spPr>
          <a:xfrm>
            <a:off x="591044" y="1015779"/>
            <a:ext cx="10774948" cy="2340069"/>
          </a:xfrm>
          <a:prstGeom prst="rect">
            <a:avLst/>
          </a:prstGeom>
          <a:noFill/>
        </p:spPr>
        <p:txBody>
          <a:bodyPr wrap="square" lIns="0" tIns="0" rIns="0" bIns="0" rtlCol="0">
            <a:noAutofit/>
          </a:bodyPr>
          <a:lstStyle/>
          <a:p>
            <a:r>
              <a:rPr lang="de-DE" sz="1200" kern="0" dirty="0">
                <a:solidFill>
                  <a:srgbClr val="000000"/>
                </a:solidFill>
              </a:rPr>
              <a:t>The data acquisition part, was what can be called the first layer of the medalian. Here i wanted to get the dataset directly from the source, and save it in a folder called Bronze, the folder where all the Bronze files would go.</a:t>
            </a:r>
          </a:p>
          <a:p>
            <a:endParaRPr lang="de-DE" sz="1200" kern="0" dirty="0">
              <a:solidFill>
                <a:srgbClr val="000000"/>
              </a:solidFill>
            </a:endParaRPr>
          </a:p>
          <a:p>
            <a:r>
              <a:rPr lang="de-DE" sz="1200" kern="0" dirty="0">
                <a:solidFill>
                  <a:srgbClr val="000000"/>
                </a:solidFill>
              </a:rPr>
              <a:t>Script steps:</a:t>
            </a:r>
          </a:p>
          <a:p>
            <a:pPr marL="171450" indent="-171450">
              <a:buFontTx/>
              <a:buChar char="-"/>
            </a:pPr>
            <a:r>
              <a:rPr lang="de-DE" sz="1200" kern="0" dirty="0">
                <a:solidFill>
                  <a:srgbClr val="000000"/>
                </a:solidFill>
              </a:rPr>
              <a:t>Gets the dataset from the datasource, and creates the Bronze folder, if it isn‘t already created;</a:t>
            </a:r>
          </a:p>
          <a:p>
            <a:pPr marL="171450" indent="-171450">
              <a:buFontTx/>
              <a:buChar char="-"/>
            </a:pPr>
            <a:r>
              <a:rPr lang="de-DE" sz="1200" kern="0" dirty="0">
                <a:solidFill>
                  <a:srgbClr val="000000"/>
                </a:solidFill>
              </a:rPr>
              <a:t>The information is downloaded as a stream of data. Without streaming the file would be stored in RAM first, and if it was large it could crash. With streaming the file is processed incremently, so the memory usage stays more consistent;</a:t>
            </a:r>
          </a:p>
          <a:p>
            <a:pPr marL="171450" indent="-171450">
              <a:buFontTx/>
              <a:buChar char="-"/>
            </a:pPr>
            <a:r>
              <a:rPr lang="de-DE" sz="1200" kern="0" dirty="0">
                <a:solidFill>
                  <a:srgbClr val="000000"/>
                </a:solidFill>
              </a:rPr>
              <a:t>Has 120 seconds timeout, so that it doesn‘t hang indefinitely;</a:t>
            </a:r>
          </a:p>
          <a:p>
            <a:pPr marL="171450" indent="-171450">
              <a:buFontTx/>
              <a:buChar char="-"/>
            </a:pPr>
            <a:r>
              <a:rPr lang="de-DE" sz="1200" kern="0" dirty="0">
                <a:solidFill>
                  <a:srgbClr val="000000"/>
                </a:solidFill>
              </a:rPr>
              <a:t>Has an HTTP request validation, to e</a:t>
            </a:r>
            <a:r>
              <a:rPr lang="en-US" sz="1200" kern="0" dirty="0">
                <a:solidFill>
                  <a:srgbClr val="000000"/>
                </a:solidFill>
              </a:rPr>
              <a:t>ensure the request was successful (HTTP 200), if it was not, it fails immediately;</a:t>
            </a:r>
          </a:p>
          <a:p>
            <a:pPr marL="171450" indent="-171450">
              <a:buFontTx/>
              <a:buChar char="-"/>
            </a:pPr>
            <a:r>
              <a:rPr lang="en-US" sz="1200" kern="0" dirty="0">
                <a:solidFill>
                  <a:srgbClr val="000000"/>
                </a:solidFill>
              </a:rPr>
              <a:t>The file is than downloaded in chunks of 1MB as it large enough to be efficient, but small enough to remain safe;</a:t>
            </a:r>
          </a:p>
          <a:p>
            <a:r>
              <a:rPr lang="en-US" sz="1200" kern="0" dirty="0">
                <a:solidFill>
                  <a:srgbClr val="000000"/>
                </a:solidFill>
              </a:rPr>
              <a:t>-    Finally, the file is saved raw in the Bronze storage.</a:t>
            </a:r>
            <a:endParaRPr lang="de-DE" sz="1200" kern="0" dirty="0">
              <a:solidFill>
                <a:srgbClr val="000000"/>
              </a:solidFill>
            </a:endParaRPr>
          </a:p>
          <a:p>
            <a:pPr marL="171450" indent="-171450">
              <a:buFontTx/>
              <a:buChar char="-"/>
            </a:pPr>
            <a:endParaRPr kumimoji="0" lang="en-US" sz="1200" b="0" i="0" u="none" strike="noStrike" kern="0" cap="none" spc="0" normalizeH="0" baseline="0" noProof="0" dirty="0">
              <a:ln>
                <a:noFill/>
              </a:ln>
              <a:solidFill>
                <a:srgbClr val="000000"/>
              </a:solidFill>
              <a:effectLst/>
              <a:uLnTx/>
              <a:uFillTx/>
            </a:endParaRPr>
          </a:p>
        </p:txBody>
      </p:sp>
      <p:sp>
        <p:nvSpPr>
          <p:cNvPr id="2" name="TextBox 1">
            <a:extLst>
              <a:ext uri="{FF2B5EF4-FFF2-40B4-BE49-F238E27FC236}">
                <a16:creationId xmlns:a16="http://schemas.microsoft.com/office/drawing/2014/main" id="{A878D92B-E4FD-B93E-AE8C-AD05C5E18821}"/>
              </a:ext>
            </a:extLst>
          </p:cNvPr>
          <p:cNvSpPr txBox="1"/>
          <p:nvPr/>
        </p:nvSpPr>
        <p:spPr>
          <a:xfrm>
            <a:off x="591044" y="3615001"/>
            <a:ext cx="1457212" cy="307777"/>
          </a:xfrm>
          <a:prstGeom prst="rect">
            <a:avLst/>
          </a:prstGeom>
          <a:noFill/>
          <a:ln w="19050">
            <a:solidFill>
              <a:srgbClr val="156082"/>
            </a:solidFill>
          </a:ln>
        </p:spPr>
        <p:txBody>
          <a:bodyPr wrap="square" rtlCol="0">
            <a:spAutoFit/>
          </a:bodyPr>
          <a:lstStyle/>
          <a:p>
            <a:pPr algn="ctr"/>
            <a:r>
              <a:rPr lang="pt-PT" sz="1400" dirty="0"/>
              <a:t>Data </a:t>
            </a:r>
            <a:r>
              <a:rPr lang="pt-PT" sz="1400" dirty="0" err="1"/>
              <a:t>Source</a:t>
            </a:r>
            <a:endParaRPr lang="en-US" sz="1400" dirty="0"/>
          </a:p>
        </p:txBody>
      </p:sp>
      <p:sp>
        <p:nvSpPr>
          <p:cNvPr id="3" name="TextBox 2">
            <a:extLst>
              <a:ext uri="{FF2B5EF4-FFF2-40B4-BE49-F238E27FC236}">
                <a16:creationId xmlns:a16="http://schemas.microsoft.com/office/drawing/2014/main" id="{DAC5F21F-BF35-7B87-E611-2AAA775602C9}"/>
              </a:ext>
            </a:extLst>
          </p:cNvPr>
          <p:cNvSpPr txBox="1"/>
          <p:nvPr/>
        </p:nvSpPr>
        <p:spPr>
          <a:xfrm>
            <a:off x="2473184" y="3401568"/>
            <a:ext cx="1669048" cy="738664"/>
          </a:xfrm>
          <a:prstGeom prst="rect">
            <a:avLst/>
          </a:prstGeom>
          <a:noFill/>
          <a:ln w="19050">
            <a:solidFill>
              <a:srgbClr val="156082"/>
            </a:solidFill>
          </a:ln>
        </p:spPr>
        <p:txBody>
          <a:bodyPr wrap="square" rtlCol="0">
            <a:spAutoFit/>
          </a:bodyPr>
          <a:lstStyle/>
          <a:p>
            <a:pPr algn="ctr"/>
            <a:r>
              <a:rPr lang="pt-PT" sz="1400" dirty="0"/>
              <a:t>HTTP </a:t>
            </a:r>
            <a:r>
              <a:rPr lang="pt-PT" sz="1400" dirty="0" err="1"/>
              <a:t>Request</a:t>
            </a:r>
            <a:endParaRPr lang="pt-PT" sz="1400" dirty="0"/>
          </a:p>
          <a:p>
            <a:pPr marL="285750" indent="-285750">
              <a:buFontTx/>
              <a:buChar char="-"/>
            </a:pPr>
            <a:r>
              <a:rPr lang="pt-PT" sz="1400" dirty="0" err="1"/>
              <a:t>Stream</a:t>
            </a:r>
            <a:r>
              <a:rPr lang="pt-PT" sz="1400" dirty="0"/>
              <a:t> = </a:t>
            </a:r>
            <a:r>
              <a:rPr lang="pt-PT" sz="1400" dirty="0" err="1"/>
              <a:t>True</a:t>
            </a:r>
            <a:endParaRPr lang="pt-PT" sz="1400" dirty="0"/>
          </a:p>
          <a:p>
            <a:pPr marL="285750" indent="-285750">
              <a:buFontTx/>
              <a:buChar char="-"/>
            </a:pPr>
            <a:r>
              <a:rPr lang="pt-PT" sz="1400" dirty="0" err="1"/>
              <a:t>Timeout</a:t>
            </a:r>
            <a:r>
              <a:rPr lang="pt-PT" sz="1400" dirty="0"/>
              <a:t> = 120s</a:t>
            </a:r>
            <a:endParaRPr lang="en-US" sz="1400" dirty="0"/>
          </a:p>
        </p:txBody>
      </p:sp>
      <p:sp>
        <p:nvSpPr>
          <p:cNvPr id="4" name="TextBox 3">
            <a:extLst>
              <a:ext uri="{FF2B5EF4-FFF2-40B4-BE49-F238E27FC236}">
                <a16:creationId xmlns:a16="http://schemas.microsoft.com/office/drawing/2014/main" id="{CBE40B0C-331F-B13A-E07C-6FE13B1DEFF1}"/>
              </a:ext>
            </a:extLst>
          </p:cNvPr>
          <p:cNvSpPr txBox="1"/>
          <p:nvPr/>
        </p:nvSpPr>
        <p:spPr>
          <a:xfrm>
            <a:off x="4567160" y="3507279"/>
            <a:ext cx="1806208" cy="523220"/>
          </a:xfrm>
          <a:prstGeom prst="rect">
            <a:avLst/>
          </a:prstGeom>
          <a:noFill/>
          <a:ln w="19050">
            <a:solidFill>
              <a:srgbClr val="156082"/>
            </a:solidFill>
          </a:ln>
        </p:spPr>
        <p:txBody>
          <a:bodyPr wrap="square" rtlCol="0">
            <a:spAutoFit/>
          </a:bodyPr>
          <a:lstStyle/>
          <a:p>
            <a:pPr algn="ctr"/>
            <a:r>
              <a:rPr lang="pt-PT" sz="1400" dirty="0"/>
              <a:t>Response </a:t>
            </a:r>
            <a:r>
              <a:rPr lang="pt-PT" sz="1400" dirty="0" err="1"/>
              <a:t>Validation</a:t>
            </a:r>
            <a:endParaRPr lang="pt-PT" sz="1400" dirty="0"/>
          </a:p>
          <a:p>
            <a:pPr marL="285750" indent="-285750">
              <a:buFontTx/>
              <a:buChar char="-"/>
            </a:pPr>
            <a:r>
              <a:rPr lang="pt-PT" sz="1400" dirty="0" err="1"/>
              <a:t>Raise</a:t>
            </a:r>
            <a:r>
              <a:rPr lang="pt-PT" sz="1400" dirty="0"/>
              <a:t> for status()</a:t>
            </a:r>
            <a:endParaRPr lang="en-US" sz="1400" dirty="0"/>
          </a:p>
        </p:txBody>
      </p:sp>
      <p:sp>
        <p:nvSpPr>
          <p:cNvPr id="5" name="TextBox 4">
            <a:extLst>
              <a:ext uri="{FF2B5EF4-FFF2-40B4-BE49-F238E27FC236}">
                <a16:creationId xmlns:a16="http://schemas.microsoft.com/office/drawing/2014/main" id="{066DC47A-D522-FEDB-3923-D14E3651C67F}"/>
              </a:ext>
            </a:extLst>
          </p:cNvPr>
          <p:cNvSpPr txBox="1"/>
          <p:nvPr/>
        </p:nvSpPr>
        <p:spPr>
          <a:xfrm>
            <a:off x="6798296" y="3507279"/>
            <a:ext cx="2232658" cy="523220"/>
          </a:xfrm>
          <a:prstGeom prst="rect">
            <a:avLst/>
          </a:prstGeom>
          <a:noFill/>
          <a:ln w="19050">
            <a:solidFill>
              <a:srgbClr val="156082"/>
            </a:solidFill>
          </a:ln>
        </p:spPr>
        <p:txBody>
          <a:bodyPr wrap="square" rtlCol="0">
            <a:spAutoFit/>
          </a:bodyPr>
          <a:lstStyle/>
          <a:p>
            <a:pPr algn="ctr"/>
            <a:r>
              <a:rPr lang="pt-PT" sz="1400" dirty="0" err="1"/>
              <a:t>Chunked</a:t>
            </a:r>
            <a:r>
              <a:rPr lang="pt-PT" sz="1400" dirty="0"/>
              <a:t> Download Loop</a:t>
            </a:r>
          </a:p>
          <a:p>
            <a:r>
              <a:rPr lang="pt-PT" sz="1400" dirty="0"/>
              <a:t>- 1MB </a:t>
            </a:r>
            <a:r>
              <a:rPr lang="pt-PT" sz="1400" dirty="0" err="1"/>
              <a:t>Chunks</a:t>
            </a:r>
            <a:r>
              <a:rPr lang="pt-PT" sz="1400" dirty="0"/>
              <a:t> </a:t>
            </a:r>
            <a:r>
              <a:rPr lang="pt-PT" sz="1400" dirty="0" err="1"/>
              <a:t>iterations</a:t>
            </a:r>
            <a:endParaRPr lang="en-US" sz="1400" dirty="0"/>
          </a:p>
        </p:txBody>
      </p:sp>
      <p:sp>
        <p:nvSpPr>
          <p:cNvPr id="6" name="TextBox 5">
            <a:extLst>
              <a:ext uri="{FF2B5EF4-FFF2-40B4-BE49-F238E27FC236}">
                <a16:creationId xmlns:a16="http://schemas.microsoft.com/office/drawing/2014/main" id="{1AF0DAC5-3195-F095-7E80-D1305C891524}"/>
              </a:ext>
            </a:extLst>
          </p:cNvPr>
          <p:cNvSpPr txBox="1"/>
          <p:nvPr/>
        </p:nvSpPr>
        <p:spPr>
          <a:xfrm>
            <a:off x="9455882" y="3508251"/>
            <a:ext cx="2034538" cy="523220"/>
          </a:xfrm>
          <a:prstGeom prst="rect">
            <a:avLst/>
          </a:prstGeom>
          <a:noFill/>
          <a:ln w="19050">
            <a:solidFill>
              <a:srgbClr val="156082"/>
            </a:solidFill>
          </a:ln>
        </p:spPr>
        <p:txBody>
          <a:bodyPr wrap="square" rtlCol="0">
            <a:spAutoFit/>
          </a:bodyPr>
          <a:lstStyle/>
          <a:p>
            <a:pPr algn="ctr"/>
            <a:r>
              <a:rPr lang="pt-PT" sz="1400" dirty="0"/>
              <a:t>Bronze </a:t>
            </a:r>
            <a:r>
              <a:rPr lang="pt-PT" sz="1400" dirty="0" err="1"/>
              <a:t>Storage</a:t>
            </a:r>
            <a:endParaRPr lang="pt-PT" sz="1400" dirty="0"/>
          </a:p>
          <a:p>
            <a:r>
              <a:rPr lang="pt-PT" sz="1400" dirty="0"/>
              <a:t>- </a:t>
            </a:r>
            <a:r>
              <a:rPr lang="pt-PT" sz="1400" dirty="0" err="1"/>
              <a:t>Raw</a:t>
            </a:r>
            <a:r>
              <a:rPr lang="pt-PT" sz="1400" dirty="0"/>
              <a:t> file </a:t>
            </a:r>
            <a:r>
              <a:rPr lang="pt-PT" sz="1400" dirty="0" err="1"/>
              <a:t>saved</a:t>
            </a:r>
            <a:r>
              <a:rPr lang="pt-PT" sz="1400" dirty="0"/>
              <a:t> to </a:t>
            </a:r>
            <a:r>
              <a:rPr lang="pt-PT" sz="1400" dirty="0" err="1"/>
              <a:t>disk</a:t>
            </a:r>
            <a:endParaRPr lang="en-US" sz="1400" dirty="0"/>
          </a:p>
        </p:txBody>
      </p:sp>
      <p:cxnSp>
        <p:nvCxnSpPr>
          <p:cNvPr id="8" name="Straight Arrow Connector 7">
            <a:extLst>
              <a:ext uri="{FF2B5EF4-FFF2-40B4-BE49-F238E27FC236}">
                <a16:creationId xmlns:a16="http://schemas.microsoft.com/office/drawing/2014/main" id="{43408F6D-2223-2AB0-FB28-F4E46F7DB8C8}"/>
              </a:ext>
            </a:extLst>
          </p:cNvPr>
          <p:cNvCxnSpPr>
            <a:stCxn id="2" idx="3"/>
            <a:endCxn id="3" idx="1"/>
          </p:cNvCxnSpPr>
          <p:nvPr/>
        </p:nvCxnSpPr>
        <p:spPr>
          <a:xfrm>
            <a:off x="2048256" y="3768890"/>
            <a:ext cx="424928" cy="20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B1FAC10-1F1C-3485-222B-DB370BC65D88}"/>
              </a:ext>
            </a:extLst>
          </p:cNvPr>
          <p:cNvCxnSpPr/>
          <p:nvPr/>
        </p:nvCxnSpPr>
        <p:spPr>
          <a:xfrm>
            <a:off x="4142232" y="3766879"/>
            <a:ext cx="424928" cy="20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F4BD5BC-F81A-7A5C-4F57-4F514ACB0D0F}"/>
              </a:ext>
            </a:extLst>
          </p:cNvPr>
          <p:cNvCxnSpPr/>
          <p:nvPr/>
        </p:nvCxnSpPr>
        <p:spPr>
          <a:xfrm>
            <a:off x="6374129" y="3764869"/>
            <a:ext cx="424928" cy="20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B3D7E75-710C-B5B7-8109-BBC67733FCE7}"/>
              </a:ext>
            </a:extLst>
          </p:cNvPr>
          <p:cNvCxnSpPr/>
          <p:nvPr/>
        </p:nvCxnSpPr>
        <p:spPr>
          <a:xfrm>
            <a:off x="9030954" y="3769222"/>
            <a:ext cx="424928" cy="20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feld 8">
            <a:extLst>
              <a:ext uri="{FF2B5EF4-FFF2-40B4-BE49-F238E27FC236}">
                <a16:creationId xmlns:a16="http://schemas.microsoft.com/office/drawing/2014/main" id="{7A659E3F-3DAE-49B1-928F-8B543ACC4D84}"/>
              </a:ext>
            </a:extLst>
          </p:cNvPr>
          <p:cNvSpPr txBox="1">
            <a:spLocks/>
          </p:cNvSpPr>
          <p:nvPr/>
        </p:nvSpPr>
        <p:spPr>
          <a:xfrm>
            <a:off x="633715" y="4553484"/>
            <a:ext cx="10774948" cy="1664436"/>
          </a:xfrm>
          <a:prstGeom prst="rect">
            <a:avLst/>
          </a:prstGeom>
          <a:noFill/>
        </p:spPr>
        <p:txBody>
          <a:bodyPr wrap="square" lIns="0" tIns="0" rIns="0" bIns="0" rtlCol="0">
            <a:noAutofit/>
          </a:bodyPr>
          <a:lstStyle/>
          <a:p>
            <a:r>
              <a:rPr kumimoji="0" lang="de-DE" sz="1200" b="0" i="0" u="none" strike="noStrike" kern="0" cap="none" spc="0" normalizeH="0" baseline="0" noProof="0" dirty="0">
                <a:ln>
                  <a:noFill/>
                </a:ln>
                <a:solidFill>
                  <a:srgbClr val="000000"/>
                </a:solidFill>
                <a:effectLst/>
                <a:uLnTx/>
                <a:uFillTx/>
              </a:rPr>
              <a:t>Only two </a:t>
            </a:r>
            <a:r>
              <a:rPr lang="de-DE" sz="1200" kern="0" dirty="0">
                <a:solidFill>
                  <a:srgbClr val="000000"/>
                </a:solidFill>
              </a:rPr>
              <a:t>scripts were created, one for the website NHTSA (for the datasource </a:t>
            </a:r>
            <a:r>
              <a:rPr lang="de-DE" sz="1200" kern="0" dirty="0">
                <a:solidFill>
                  <a:srgbClr val="000000"/>
                </a:solidFill>
                <a:hlinkClick r:id="rId2"/>
              </a:rPr>
              <a:t>https://static.nhtsa.gov/nhtsa/downloads/Safercar/Safercar_data.csv</a:t>
            </a:r>
            <a:r>
              <a:rPr lang="de-DE" sz="1200" kern="0" dirty="0">
                <a:solidFill>
                  <a:srgbClr val="000000"/>
                </a:solidFill>
              </a:rPr>
              <a:t>), and another for Fueleconomy (for the datasource </a:t>
            </a:r>
            <a:r>
              <a:rPr lang="de-DE" sz="1200" kern="0" dirty="0">
                <a:solidFill>
                  <a:srgbClr val="000000"/>
                </a:solidFill>
                <a:hlinkClick r:id="rId3"/>
              </a:rPr>
              <a:t>https://fueleconomy.gov/feg/epadata/vehicles.csv.zip</a:t>
            </a:r>
            <a:r>
              <a:rPr lang="de-DE" sz="1200" kern="0" dirty="0">
                <a:solidFill>
                  <a:srgbClr val="000000"/>
                </a:solidFill>
              </a:rPr>
              <a:t>). For both cases i used a csv option, has it was more readable, and it provided a full bulk dataset.</a:t>
            </a:r>
          </a:p>
          <a:p>
            <a:endParaRPr kumimoji="0" lang="de-DE" sz="1200" b="0" i="0" u="none" strike="noStrike" kern="0" cap="none" spc="0" normalizeH="0" baseline="0" noProof="0" dirty="0">
              <a:ln>
                <a:noFill/>
              </a:ln>
              <a:solidFill>
                <a:srgbClr val="000000"/>
              </a:solidFill>
              <a:effectLst/>
              <a:uLnTx/>
              <a:uFillTx/>
            </a:endParaRPr>
          </a:p>
          <a:p>
            <a:r>
              <a:rPr lang="de-DE" sz="1200" kern="0" dirty="0">
                <a:solidFill>
                  <a:srgbClr val="000000"/>
                </a:solidFill>
              </a:rPr>
              <a:t>For Alternative Fuels Data Center Website, there wasn‘t a direct link to be able to ingest the file (called light-duty-vehicles-2026-02-08), so i had to download it directly. In a real use case, the solution would be to ask the company for the API of that dataset to be able to injest it.</a:t>
            </a:r>
          </a:p>
          <a:p>
            <a:endParaRPr kumimoji="0" lang="de-DE" sz="1200" b="0" i="0" u="none" strike="noStrike" kern="0" cap="none" spc="0" normalizeH="0" baseline="0" noProof="0" dirty="0">
              <a:ln>
                <a:noFill/>
              </a:ln>
              <a:solidFill>
                <a:srgbClr val="000000"/>
              </a:solidFill>
              <a:effectLst/>
              <a:uLnTx/>
              <a:uFillTx/>
            </a:endParaRPr>
          </a:p>
          <a:p>
            <a:r>
              <a:rPr lang="de-DE" sz="1200" b="1" u="sng" kern="0" dirty="0">
                <a:solidFill>
                  <a:srgbClr val="000000"/>
                </a:solidFill>
              </a:rPr>
              <a:t>Note: </a:t>
            </a:r>
            <a:r>
              <a:rPr lang="en-US" sz="1200" kern="0" dirty="0">
                <a:solidFill>
                  <a:srgbClr val="000000"/>
                </a:solidFill>
              </a:rPr>
              <a:t>For both the Bronze and Silver layers, each dataset was handled by a dedicated script. This approach improves traceability, makes debugging easier, and allows changes to be applied to a single source without impacting the rest of the pipeline.</a:t>
            </a:r>
            <a:endParaRPr kumimoji="0" lang="en-US" sz="1200" b="0" i="0" u="none" strike="noStrike" kern="0" cap="none" spc="0" normalizeH="0" baseline="0" noProof="0" dirty="0">
              <a:ln>
                <a:noFill/>
              </a:ln>
              <a:solidFill>
                <a:srgbClr val="000000"/>
              </a:solidFill>
              <a:effectLst/>
              <a:uLnTx/>
              <a:uFillTx/>
            </a:endParaRPr>
          </a:p>
        </p:txBody>
      </p:sp>
      <p:sp>
        <p:nvSpPr>
          <p:cNvPr id="13" name="Textfeld 8">
            <a:extLst>
              <a:ext uri="{FF2B5EF4-FFF2-40B4-BE49-F238E27FC236}">
                <a16:creationId xmlns:a16="http://schemas.microsoft.com/office/drawing/2014/main" id="{7C231A00-91F2-7ED0-54CA-E9BE55241CBC}"/>
              </a:ext>
            </a:extLst>
          </p:cNvPr>
          <p:cNvSpPr txBox="1">
            <a:spLocks/>
          </p:cNvSpPr>
          <p:nvPr/>
        </p:nvSpPr>
        <p:spPr>
          <a:xfrm>
            <a:off x="9847545" y="152682"/>
            <a:ext cx="1518447" cy="656471"/>
          </a:xfrm>
          <a:prstGeom prst="rect">
            <a:avLst/>
          </a:prstGeom>
          <a:noFill/>
          <a:ln w="12700">
            <a:solidFill>
              <a:schemeClr val="tx1"/>
            </a:solidFill>
          </a:ln>
        </p:spPr>
        <p:txBody>
          <a:bodyPr wrap="square" lIns="0" tIns="0" rIns="0" bIns="0" rtlCol="0">
            <a:noAutofit/>
          </a:bodyPr>
          <a:lstStyle/>
          <a:p>
            <a:r>
              <a:rPr kumimoji="0" lang="de-DE" sz="1200" b="1" i="0" u="sng" strike="noStrike" kern="0" cap="none" spc="0" normalizeH="0" baseline="0" noProof="0" dirty="0">
                <a:ln>
                  <a:noFill/>
                </a:ln>
                <a:solidFill>
                  <a:srgbClr val="000000"/>
                </a:solidFill>
                <a:effectLst/>
                <a:uLnTx/>
                <a:uFillTx/>
              </a:rPr>
              <a:t>Scripts</a:t>
            </a:r>
          </a:p>
          <a:p>
            <a:r>
              <a:rPr lang="de-DE" sz="1200" kern="0" dirty="0">
                <a:solidFill>
                  <a:srgbClr val="000000"/>
                </a:solidFill>
              </a:rPr>
              <a:t>- BronzeNHTSA</a:t>
            </a:r>
          </a:p>
          <a:p>
            <a:r>
              <a:rPr lang="de-DE" sz="1200" kern="0" dirty="0">
                <a:solidFill>
                  <a:srgbClr val="000000"/>
                </a:solidFill>
              </a:rPr>
              <a:t>- BronzeFuelEconomy</a:t>
            </a:r>
          </a:p>
        </p:txBody>
      </p:sp>
    </p:spTree>
    <p:extLst>
      <p:ext uri="{BB962C8B-B14F-4D97-AF65-F5344CB8AC3E}">
        <p14:creationId xmlns:p14="http://schemas.microsoft.com/office/powerpoint/2010/main" val="868879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15E57-C901-C9FC-A395-4F92AAB39E22}"/>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BBF940E3-FDE2-9F44-3705-29124A51DA1E}"/>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DATA PROCESSING</a:t>
            </a:r>
          </a:p>
        </p:txBody>
      </p:sp>
      <p:sp>
        <p:nvSpPr>
          <p:cNvPr id="22" name="Textfeld 8">
            <a:extLst>
              <a:ext uri="{FF2B5EF4-FFF2-40B4-BE49-F238E27FC236}">
                <a16:creationId xmlns:a16="http://schemas.microsoft.com/office/drawing/2014/main" id="{45F4EC1A-2692-ACF2-B595-5E0E6CE4FEBF}"/>
              </a:ext>
            </a:extLst>
          </p:cNvPr>
          <p:cNvSpPr txBox="1">
            <a:spLocks/>
          </p:cNvSpPr>
          <p:nvPr/>
        </p:nvSpPr>
        <p:spPr>
          <a:xfrm>
            <a:off x="591044" y="1171227"/>
            <a:ext cx="10774948" cy="1050765"/>
          </a:xfrm>
          <a:prstGeom prst="rect">
            <a:avLst/>
          </a:prstGeom>
          <a:noFill/>
        </p:spPr>
        <p:txBody>
          <a:bodyPr wrap="square" lIns="0" tIns="0" rIns="0" bIns="0" rtlCol="0">
            <a:noAutofit/>
          </a:bodyPr>
          <a:lstStyle/>
          <a:p>
            <a:r>
              <a:rPr lang="pt-PT" sz="1200" kern="0" dirty="0" err="1">
                <a:solidFill>
                  <a:srgbClr val="000000"/>
                </a:solidFill>
              </a:rPr>
              <a:t>The</a:t>
            </a:r>
            <a:r>
              <a:rPr lang="pt-PT" sz="1200" kern="0" dirty="0">
                <a:solidFill>
                  <a:srgbClr val="000000"/>
                </a:solidFill>
              </a:rPr>
              <a:t> Data </a:t>
            </a:r>
            <a:r>
              <a:rPr lang="pt-PT" sz="1200" kern="0" dirty="0" err="1">
                <a:solidFill>
                  <a:srgbClr val="000000"/>
                </a:solidFill>
              </a:rPr>
              <a:t>Processing</a:t>
            </a:r>
            <a:r>
              <a:rPr lang="pt-PT" sz="1200" kern="0" dirty="0">
                <a:solidFill>
                  <a:srgbClr val="000000"/>
                </a:solidFill>
              </a:rPr>
              <a:t> step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created</a:t>
            </a:r>
            <a:r>
              <a:rPr lang="pt-PT" sz="1200" kern="0" dirty="0">
                <a:solidFill>
                  <a:srgbClr val="000000"/>
                </a:solidFill>
              </a:rPr>
              <a:t>, </a:t>
            </a:r>
            <a:r>
              <a:rPr lang="pt-PT" sz="1200" kern="0" dirty="0" err="1">
                <a:solidFill>
                  <a:srgbClr val="000000"/>
                </a:solidFill>
              </a:rPr>
              <a:t>again</a:t>
            </a:r>
            <a:r>
              <a:rPr lang="pt-PT" sz="1200" kern="0" dirty="0">
                <a:solidFill>
                  <a:srgbClr val="000000"/>
                </a:solidFill>
              </a:rPr>
              <a:t>, in </a:t>
            </a:r>
            <a:r>
              <a:rPr lang="pt-PT" sz="1200" kern="0" dirty="0" err="1">
                <a:solidFill>
                  <a:srgbClr val="000000"/>
                </a:solidFill>
              </a:rPr>
              <a:t>one</a:t>
            </a:r>
            <a:r>
              <a:rPr lang="pt-PT" sz="1200" kern="0" dirty="0">
                <a:solidFill>
                  <a:srgbClr val="000000"/>
                </a:solidFill>
              </a:rPr>
              <a:t> script for </a:t>
            </a:r>
            <a:r>
              <a:rPr lang="pt-PT" sz="1200" kern="0" dirty="0" err="1">
                <a:solidFill>
                  <a:srgbClr val="000000"/>
                </a:solidFill>
              </a:rPr>
              <a:t>each</a:t>
            </a:r>
            <a:r>
              <a:rPr lang="pt-PT" sz="1200" kern="0" dirty="0">
                <a:solidFill>
                  <a:srgbClr val="000000"/>
                </a:solidFill>
              </a:rPr>
              <a:t> file. </a:t>
            </a:r>
            <a:r>
              <a:rPr lang="en-US" sz="1200" kern="0" dirty="0">
                <a:solidFill>
                  <a:srgbClr val="000000"/>
                </a:solidFill>
              </a:rPr>
              <a:t>After processing, the curated outputs were stored in the Silver layer, where they were prepared for integration and modeling in the Gold layer. All the tables were saved as parquet files, as it provides columnar storage, better performance for analytics, schema preservation and efficient compression.</a:t>
            </a:r>
          </a:p>
          <a:p>
            <a:endParaRPr lang="en-US" sz="1200" kern="0" dirty="0">
              <a:solidFill>
                <a:srgbClr val="000000"/>
              </a:solidFill>
            </a:endParaRPr>
          </a:p>
          <a:p>
            <a:r>
              <a:rPr lang="pt-PT" sz="1200" kern="0" dirty="0" err="1">
                <a:solidFill>
                  <a:srgbClr val="000000"/>
                </a:solidFill>
              </a:rPr>
              <a:t>The</a:t>
            </a:r>
            <a:r>
              <a:rPr lang="pt-PT" sz="1200" kern="0" dirty="0">
                <a:solidFill>
                  <a:srgbClr val="000000"/>
                </a:solidFill>
              </a:rPr>
              <a:t> script </a:t>
            </a:r>
            <a:r>
              <a:rPr lang="pt-PT" sz="1200" kern="0" dirty="0" err="1">
                <a:solidFill>
                  <a:srgbClr val="000000"/>
                </a:solidFill>
              </a:rPr>
              <a:t>starts</a:t>
            </a:r>
            <a:r>
              <a:rPr lang="pt-PT" sz="1200" kern="0" dirty="0">
                <a:solidFill>
                  <a:srgbClr val="000000"/>
                </a:solidFill>
              </a:rPr>
              <a:t> by </a:t>
            </a:r>
            <a:r>
              <a:rPr lang="en-US" sz="1200" kern="0" dirty="0">
                <a:solidFill>
                  <a:srgbClr val="000000"/>
                </a:solidFill>
              </a:rPr>
              <a:t>getting the dataset from the Bronze layer, and by creating the Silver folder, if it isn't already created. </a:t>
            </a:r>
          </a:p>
          <a:p>
            <a:r>
              <a:rPr lang="en-US" sz="1200" kern="0" dirty="0">
                <a:solidFill>
                  <a:srgbClr val="000000"/>
                </a:solidFill>
              </a:rPr>
              <a:t>Then, it moves to the</a:t>
            </a:r>
            <a:r>
              <a:rPr lang="pt-PT" sz="1200" kern="0" dirty="0">
                <a:solidFill>
                  <a:srgbClr val="000000"/>
                </a:solidFill>
              </a:rPr>
              <a:t> data </a:t>
            </a:r>
            <a:r>
              <a:rPr lang="pt-PT" sz="1200" kern="0" dirty="0" err="1">
                <a:solidFill>
                  <a:srgbClr val="000000"/>
                </a:solidFill>
              </a:rPr>
              <a:t>processing</a:t>
            </a:r>
            <a:r>
              <a:rPr lang="pt-PT" sz="1200" kern="0" dirty="0">
                <a:solidFill>
                  <a:srgbClr val="000000"/>
                </a:solidFill>
              </a:rPr>
              <a:t> steps:</a:t>
            </a:r>
            <a:endParaRPr lang="de-DE" sz="1200" kern="0" dirty="0">
              <a:solidFill>
                <a:srgbClr val="000000"/>
              </a:solidFill>
            </a:endParaRPr>
          </a:p>
          <a:p>
            <a:pPr marL="171450" indent="-171450">
              <a:buFontTx/>
              <a:buChar char="-"/>
            </a:pPr>
            <a:endParaRPr kumimoji="0" lang="en-US" sz="1200" b="0" i="0" u="none" strike="noStrike" kern="0" cap="none" spc="0" normalizeH="0" baseline="0" noProof="0" dirty="0">
              <a:ln>
                <a:noFill/>
              </a:ln>
              <a:solidFill>
                <a:srgbClr val="000000"/>
              </a:solidFill>
              <a:effectLst/>
              <a:uLnTx/>
              <a:uFillTx/>
            </a:endParaRPr>
          </a:p>
        </p:txBody>
      </p:sp>
      <p:sp>
        <p:nvSpPr>
          <p:cNvPr id="14" name="Isosceles Triangle 13">
            <a:extLst>
              <a:ext uri="{FF2B5EF4-FFF2-40B4-BE49-F238E27FC236}">
                <a16:creationId xmlns:a16="http://schemas.microsoft.com/office/drawing/2014/main" id="{BC0D2F97-8C24-91E0-7D0C-FD6B909E40DB}"/>
              </a:ext>
            </a:extLst>
          </p:cNvPr>
          <p:cNvSpPr/>
          <p:nvPr/>
        </p:nvSpPr>
        <p:spPr>
          <a:xfrm rot="5400000">
            <a:off x="574213" y="2586295"/>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feld 8">
            <a:extLst>
              <a:ext uri="{FF2B5EF4-FFF2-40B4-BE49-F238E27FC236}">
                <a16:creationId xmlns:a16="http://schemas.microsoft.com/office/drawing/2014/main" id="{DF6BBFC0-731A-7226-C3E1-6885F3D177EE}"/>
              </a:ext>
            </a:extLst>
          </p:cNvPr>
          <p:cNvSpPr txBox="1">
            <a:spLocks/>
          </p:cNvSpPr>
          <p:nvPr/>
        </p:nvSpPr>
        <p:spPr>
          <a:xfrm>
            <a:off x="936460" y="2569464"/>
            <a:ext cx="10429532" cy="3291840"/>
          </a:xfrm>
          <a:prstGeom prst="rect">
            <a:avLst/>
          </a:prstGeom>
          <a:noFill/>
        </p:spPr>
        <p:txBody>
          <a:bodyPr wrap="square" lIns="0" tIns="0" rIns="0" bIns="0" rtlCol="0">
            <a:noAutofit/>
          </a:bodyPr>
          <a:lstStyle/>
          <a:p>
            <a:r>
              <a:rPr lang="pt-PT" sz="1200" b="1" kern="0" dirty="0">
                <a:solidFill>
                  <a:srgbClr val="000000"/>
                </a:solidFill>
              </a:rPr>
              <a:t>Standardizing </a:t>
            </a:r>
            <a:r>
              <a:rPr lang="pt-PT" sz="1200" b="1" kern="0" dirty="0" err="1">
                <a:solidFill>
                  <a:srgbClr val="000000"/>
                </a:solidFill>
              </a:rPr>
              <a:t>column</a:t>
            </a:r>
            <a:r>
              <a:rPr lang="pt-PT" sz="1200" b="1" kern="0" dirty="0">
                <a:solidFill>
                  <a:srgbClr val="000000"/>
                </a:solidFill>
              </a:rPr>
              <a:t> </a:t>
            </a:r>
            <a:r>
              <a:rPr lang="pt-PT" sz="1200" b="1" kern="0" dirty="0" err="1">
                <a:solidFill>
                  <a:srgbClr val="000000"/>
                </a:solidFill>
              </a:rPr>
              <a:t>names</a:t>
            </a:r>
            <a:r>
              <a:rPr lang="pt-PT" sz="1200" b="1" kern="0" dirty="0">
                <a:solidFill>
                  <a:srgbClr val="000000"/>
                </a:solidFill>
              </a:rPr>
              <a:t>: </a:t>
            </a:r>
            <a:r>
              <a:rPr lang="pt-PT" sz="1200" kern="0" dirty="0" err="1">
                <a:solidFill>
                  <a:srgbClr val="000000"/>
                </a:solidFill>
              </a:rPr>
              <a:t>Leading</a:t>
            </a:r>
            <a:r>
              <a:rPr lang="pt-PT" sz="1200" kern="0" dirty="0">
                <a:solidFill>
                  <a:srgbClr val="000000"/>
                </a:solidFill>
              </a:rPr>
              <a:t>/</a:t>
            </a:r>
            <a:r>
              <a:rPr lang="pt-PT" sz="1200" kern="0" dirty="0" err="1">
                <a:solidFill>
                  <a:srgbClr val="000000"/>
                </a:solidFill>
              </a:rPr>
              <a:t>trailing</a:t>
            </a:r>
            <a:r>
              <a:rPr lang="pt-PT" sz="1200" kern="0" dirty="0">
                <a:solidFill>
                  <a:srgbClr val="000000"/>
                </a:solidFill>
              </a:rPr>
              <a:t> </a:t>
            </a:r>
            <a:r>
              <a:rPr lang="pt-PT" sz="1200" kern="0" dirty="0" err="1">
                <a:solidFill>
                  <a:srgbClr val="000000"/>
                </a:solidFill>
              </a:rPr>
              <a:t>spaces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removed</a:t>
            </a:r>
            <a:r>
              <a:rPr lang="pt-PT" sz="1200" kern="0" dirty="0">
                <a:solidFill>
                  <a:srgbClr val="000000"/>
                </a:solidFill>
              </a:rPr>
              <a:t>;</a:t>
            </a:r>
            <a:r>
              <a:rPr lang="en-US" sz="1200" kern="0" dirty="0">
                <a:solidFill>
                  <a:srgbClr val="000000"/>
                </a:solidFill>
              </a:rPr>
              <a:t> Special characters were replaced with underscores; CamelCase words were replaced by </a:t>
            </a:r>
            <a:r>
              <a:rPr lang="en-US" sz="1200" kern="0" dirty="0" err="1">
                <a:solidFill>
                  <a:srgbClr val="000000"/>
                </a:solidFill>
              </a:rPr>
              <a:t>Snake_Case</a:t>
            </a:r>
            <a:r>
              <a:rPr lang="en-US" sz="1200" kern="0" dirty="0">
                <a:solidFill>
                  <a:srgbClr val="000000"/>
                </a:solidFill>
              </a:rPr>
              <a:t>; Multiple underscores were converted in only 1; all column names were converted to Uppercase.</a:t>
            </a:r>
          </a:p>
          <a:p>
            <a:r>
              <a:rPr lang="en-US" sz="1200" u="sng" kern="0" dirty="0">
                <a:solidFill>
                  <a:srgbClr val="000000"/>
                </a:solidFill>
              </a:rPr>
              <a:t>Main Goal</a:t>
            </a:r>
            <a:r>
              <a:rPr lang="en-US" sz="1200" kern="0" dirty="0">
                <a:solidFill>
                  <a:srgbClr val="000000"/>
                </a:solidFill>
              </a:rPr>
              <a:t>: Standardization of column names for possible joins or aggregations.</a:t>
            </a:r>
          </a:p>
          <a:p>
            <a:endParaRPr lang="en-US" sz="1200" kern="0" dirty="0">
              <a:solidFill>
                <a:srgbClr val="000000"/>
              </a:solidFill>
            </a:endParaRPr>
          </a:p>
          <a:p>
            <a:r>
              <a:rPr lang="pt-PT" sz="1200" b="1" kern="0" dirty="0" err="1">
                <a:solidFill>
                  <a:srgbClr val="000000"/>
                </a:solidFill>
              </a:rPr>
              <a:t>Missing</a:t>
            </a:r>
            <a:r>
              <a:rPr lang="pt-PT" sz="1200" b="1" kern="0" dirty="0">
                <a:solidFill>
                  <a:srgbClr val="000000"/>
                </a:solidFill>
              </a:rPr>
              <a:t> </a:t>
            </a:r>
            <a:r>
              <a:rPr lang="pt-PT" sz="1200" b="1" kern="0" dirty="0" err="1">
                <a:solidFill>
                  <a:srgbClr val="000000"/>
                </a:solidFill>
              </a:rPr>
              <a:t>values</a:t>
            </a:r>
            <a:r>
              <a:rPr lang="pt-PT" sz="1200" b="1" kern="0" dirty="0">
                <a:solidFill>
                  <a:srgbClr val="000000"/>
                </a:solidFill>
              </a:rPr>
              <a:t> </a:t>
            </a:r>
            <a:r>
              <a:rPr lang="pt-PT" sz="1200" b="1" kern="0" dirty="0" err="1">
                <a:solidFill>
                  <a:srgbClr val="000000"/>
                </a:solidFill>
              </a:rPr>
              <a:t>normalization</a:t>
            </a:r>
            <a:r>
              <a:rPr lang="pt-PT" sz="1200" b="1" kern="0" dirty="0">
                <a:solidFill>
                  <a:srgbClr val="000000"/>
                </a:solidFill>
              </a:rPr>
              <a:t>:</a:t>
            </a:r>
            <a:r>
              <a:rPr lang="en-US" sz="1200" b="1" kern="0" dirty="0">
                <a:solidFill>
                  <a:srgbClr val="000000"/>
                </a:solidFill>
              </a:rPr>
              <a:t> </a:t>
            </a:r>
            <a:r>
              <a:rPr lang="en-US" sz="1200" kern="0" dirty="0">
                <a:solidFill>
                  <a:srgbClr val="000000"/>
                </a:solidFill>
              </a:rPr>
              <a:t>For all string column values, trailing spaces were removed, and inconsistent missing values were turned into pd.NA.</a:t>
            </a:r>
          </a:p>
          <a:p>
            <a:r>
              <a:rPr lang="en-US" sz="1200" u="sng" kern="0" dirty="0">
                <a:solidFill>
                  <a:srgbClr val="000000"/>
                </a:solidFill>
              </a:rPr>
              <a:t>Main Goal</a:t>
            </a:r>
            <a:r>
              <a:rPr lang="en-US" sz="1200" kern="0" dirty="0">
                <a:solidFill>
                  <a:srgbClr val="000000"/>
                </a:solidFill>
              </a:rPr>
              <a:t>: Consistent missing values for data quality.</a:t>
            </a:r>
          </a:p>
          <a:p>
            <a:endParaRPr lang="de-DE" sz="1200" kern="0" dirty="0">
              <a:solidFill>
                <a:srgbClr val="000000"/>
              </a:solidFill>
            </a:endParaRPr>
          </a:p>
          <a:p>
            <a:r>
              <a:rPr lang="pt-PT" sz="1200" b="1" kern="0" dirty="0">
                <a:solidFill>
                  <a:srgbClr val="000000"/>
                </a:solidFill>
              </a:rPr>
              <a:t>Remove </a:t>
            </a:r>
            <a:r>
              <a:rPr lang="pt-PT" sz="1200" b="1" kern="0" dirty="0" err="1">
                <a:solidFill>
                  <a:srgbClr val="000000"/>
                </a:solidFill>
              </a:rPr>
              <a:t>full</a:t>
            </a:r>
            <a:r>
              <a:rPr lang="pt-PT" sz="1200" b="1" kern="0" dirty="0">
                <a:solidFill>
                  <a:srgbClr val="000000"/>
                </a:solidFill>
              </a:rPr>
              <a:t> </a:t>
            </a:r>
            <a:r>
              <a:rPr lang="pt-PT" sz="1200" b="1" kern="0" dirty="0" err="1">
                <a:solidFill>
                  <a:srgbClr val="000000"/>
                </a:solidFill>
              </a:rPr>
              <a:t>row</a:t>
            </a:r>
            <a:r>
              <a:rPr lang="pt-PT" sz="1200" b="1" kern="0" dirty="0">
                <a:solidFill>
                  <a:srgbClr val="000000"/>
                </a:solidFill>
              </a:rPr>
              <a:t> </a:t>
            </a:r>
            <a:r>
              <a:rPr lang="pt-PT" sz="1200" b="1" kern="0" dirty="0" err="1">
                <a:solidFill>
                  <a:srgbClr val="000000"/>
                </a:solidFill>
              </a:rPr>
              <a:t>duplicates</a:t>
            </a:r>
            <a:r>
              <a:rPr lang="pt-PT" sz="1200" b="1" kern="0" dirty="0">
                <a:solidFill>
                  <a:srgbClr val="000000"/>
                </a:solidFill>
              </a:rPr>
              <a:t>: </a:t>
            </a:r>
            <a:r>
              <a:rPr lang="pt-PT" sz="1200" kern="0" dirty="0" err="1">
                <a:solidFill>
                  <a:srgbClr val="000000"/>
                </a:solidFill>
              </a:rPr>
              <a:t>Full</a:t>
            </a:r>
            <a:r>
              <a:rPr lang="pt-PT" sz="1200" kern="0" dirty="0">
                <a:solidFill>
                  <a:srgbClr val="000000"/>
                </a:solidFill>
              </a:rPr>
              <a:t> </a:t>
            </a:r>
            <a:r>
              <a:rPr lang="pt-PT" sz="1200" kern="0" dirty="0" err="1">
                <a:solidFill>
                  <a:srgbClr val="000000"/>
                </a:solidFill>
              </a:rPr>
              <a:t>dupplicate</a:t>
            </a:r>
            <a:r>
              <a:rPr lang="pt-PT" sz="1200" kern="0" dirty="0">
                <a:solidFill>
                  <a:srgbClr val="000000"/>
                </a:solidFill>
              </a:rPr>
              <a:t> </a:t>
            </a:r>
            <a:r>
              <a:rPr lang="pt-PT" sz="1200" kern="0" dirty="0" err="1">
                <a:solidFill>
                  <a:srgbClr val="000000"/>
                </a:solidFill>
              </a:rPr>
              <a:t>rows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removed</a:t>
            </a:r>
            <a:r>
              <a:rPr lang="pt-PT" sz="1200" kern="0" dirty="0">
                <a:solidFill>
                  <a:srgbClr val="000000"/>
                </a:solidFill>
              </a:rPr>
              <a:t>.</a:t>
            </a:r>
            <a:endParaRPr lang="en-US" sz="1200" kern="0" dirty="0">
              <a:solidFill>
                <a:srgbClr val="000000"/>
              </a:solidFill>
            </a:endParaRPr>
          </a:p>
          <a:p>
            <a:r>
              <a:rPr lang="en-US" sz="1200" u="sng" kern="0" dirty="0">
                <a:solidFill>
                  <a:srgbClr val="000000"/>
                </a:solidFill>
              </a:rPr>
              <a:t>Main Goal</a:t>
            </a:r>
            <a:r>
              <a:rPr lang="en-US" sz="1200" kern="0" dirty="0">
                <a:solidFill>
                  <a:srgbClr val="000000"/>
                </a:solidFill>
              </a:rPr>
              <a:t>: Ensures the dataset represents unique records.</a:t>
            </a:r>
          </a:p>
          <a:p>
            <a:endParaRPr lang="de-DE" sz="1200" kern="0" dirty="0">
              <a:solidFill>
                <a:srgbClr val="000000"/>
              </a:solidFill>
            </a:endParaRPr>
          </a:p>
          <a:p>
            <a:r>
              <a:rPr lang="pt-PT" sz="1200" b="1" kern="0" dirty="0">
                <a:solidFill>
                  <a:srgbClr val="000000"/>
                </a:solidFill>
              </a:rPr>
              <a:t>Cast </a:t>
            </a:r>
            <a:r>
              <a:rPr lang="pt-PT" sz="1200" b="1" kern="0" dirty="0" err="1">
                <a:solidFill>
                  <a:srgbClr val="000000"/>
                </a:solidFill>
              </a:rPr>
              <a:t>Numeric-Like</a:t>
            </a:r>
            <a:r>
              <a:rPr lang="pt-PT" sz="1200" b="1" kern="0" dirty="0">
                <a:solidFill>
                  <a:srgbClr val="000000"/>
                </a:solidFill>
              </a:rPr>
              <a:t> </a:t>
            </a:r>
            <a:r>
              <a:rPr lang="pt-PT" sz="1200" b="1" kern="0" dirty="0" err="1">
                <a:solidFill>
                  <a:srgbClr val="000000"/>
                </a:solidFill>
              </a:rPr>
              <a:t>Columns</a:t>
            </a:r>
            <a:r>
              <a:rPr lang="pt-PT" sz="1200" b="1" kern="0" dirty="0">
                <a:solidFill>
                  <a:srgbClr val="000000"/>
                </a:solidFill>
              </a:rPr>
              <a:t>: </a:t>
            </a:r>
            <a:r>
              <a:rPr lang="pt-PT" sz="1200" kern="0" dirty="0" err="1">
                <a:solidFill>
                  <a:srgbClr val="000000"/>
                </a:solidFill>
              </a:rPr>
              <a:t>Many</a:t>
            </a:r>
            <a:r>
              <a:rPr lang="pt-PT" sz="1200" kern="0" dirty="0">
                <a:solidFill>
                  <a:srgbClr val="000000"/>
                </a:solidFill>
              </a:rPr>
              <a:t> </a:t>
            </a:r>
            <a:r>
              <a:rPr lang="pt-PT" sz="1200" kern="0" dirty="0" err="1">
                <a:solidFill>
                  <a:srgbClr val="000000"/>
                </a:solidFill>
              </a:rPr>
              <a:t>numeric</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can </a:t>
            </a:r>
            <a:r>
              <a:rPr lang="pt-PT" sz="1200" kern="0" dirty="0" err="1">
                <a:solidFill>
                  <a:srgbClr val="000000"/>
                </a:solidFill>
              </a:rPr>
              <a:t>arrive</a:t>
            </a:r>
            <a:r>
              <a:rPr lang="pt-PT" sz="1200" kern="0" dirty="0">
                <a:solidFill>
                  <a:srgbClr val="000000"/>
                </a:solidFill>
              </a:rPr>
              <a:t> as </a:t>
            </a:r>
            <a:r>
              <a:rPr lang="pt-PT" sz="1200" kern="0" dirty="0" err="1">
                <a:solidFill>
                  <a:srgbClr val="000000"/>
                </a:solidFill>
              </a:rPr>
              <a:t>strings</a:t>
            </a:r>
            <a:r>
              <a:rPr lang="pt-PT" sz="1200" kern="0" dirty="0">
                <a:solidFill>
                  <a:srgbClr val="000000"/>
                </a:solidFill>
              </a:rPr>
              <a:t>,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string</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checked</a:t>
            </a:r>
            <a:r>
              <a:rPr lang="pt-PT" sz="1200" kern="0" dirty="0">
                <a:solidFill>
                  <a:srgbClr val="000000"/>
                </a:solidFill>
              </a:rPr>
              <a:t>. For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analysis</a:t>
            </a:r>
            <a:r>
              <a:rPr lang="pt-PT" sz="1200" kern="0" dirty="0">
                <a:solidFill>
                  <a:srgbClr val="000000"/>
                </a:solidFill>
              </a:rPr>
              <a:t> i </a:t>
            </a:r>
            <a:r>
              <a:rPr lang="pt-PT" sz="1200" kern="0" dirty="0" err="1">
                <a:solidFill>
                  <a:srgbClr val="000000"/>
                </a:solidFill>
              </a:rPr>
              <a:t>took</a:t>
            </a:r>
            <a:r>
              <a:rPr lang="pt-PT" sz="1200" kern="0" dirty="0">
                <a:solidFill>
                  <a:srgbClr val="000000"/>
                </a:solidFill>
              </a:rPr>
              <a:t> a sample </a:t>
            </a:r>
            <a:r>
              <a:rPr lang="pt-PT" sz="1200" kern="0" dirty="0" err="1">
                <a:solidFill>
                  <a:srgbClr val="000000"/>
                </a:solidFill>
              </a:rPr>
              <a:t>of</a:t>
            </a:r>
            <a:r>
              <a:rPr lang="pt-PT" sz="1200" kern="0" dirty="0">
                <a:solidFill>
                  <a:srgbClr val="000000"/>
                </a:solidFill>
              </a:rPr>
              <a:t> 2000 for </a:t>
            </a:r>
            <a:r>
              <a:rPr lang="pt-PT" sz="1200" kern="0" dirty="0" err="1">
                <a:solidFill>
                  <a:srgbClr val="000000"/>
                </a:solidFill>
              </a:rPr>
              <a:t>every</a:t>
            </a:r>
            <a:r>
              <a:rPr lang="pt-PT" sz="1200" kern="0" dirty="0">
                <a:solidFill>
                  <a:srgbClr val="000000"/>
                </a:solidFill>
              </a:rPr>
              <a:t> </a:t>
            </a:r>
            <a:r>
              <a:rPr lang="pt-PT" sz="1200" kern="0" dirty="0" err="1">
                <a:solidFill>
                  <a:srgbClr val="000000"/>
                </a:solidFill>
              </a:rPr>
              <a:t>string</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that</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script </a:t>
            </a:r>
            <a:r>
              <a:rPr lang="pt-PT" sz="1200" kern="0" dirty="0" err="1">
                <a:solidFill>
                  <a:srgbClr val="000000"/>
                </a:solidFill>
              </a:rPr>
              <a:t>doesn’t</a:t>
            </a:r>
            <a:r>
              <a:rPr lang="pt-PT" sz="1200" kern="0" dirty="0">
                <a:solidFill>
                  <a:srgbClr val="000000"/>
                </a:solidFill>
              </a:rPr>
              <a:t> </a:t>
            </a:r>
            <a:r>
              <a:rPr lang="pt-PT" sz="1200" kern="0" dirty="0" err="1">
                <a:solidFill>
                  <a:srgbClr val="000000"/>
                </a:solidFill>
              </a:rPr>
              <a:t>get</a:t>
            </a:r>
            <a:r>
              <a:rPr lang="pt-PT" sz="1200" kern="0" dirty="0">
                <a:solidFill>
                  <a:srgbClr val="000000"/>
                </a:solidFill>
              </a:rPr>
              <a:t> </a:t>
            </a:r>
            <a:r>
              <a:rPr lang="pt-PT" sz="1200" kern="0" dirty="0" err="1">
                <a:solidFill>
                  <a:srgbClr val="000000"/>
                </a:solidFill>
              </a:rPr>
              <a:t>very</a:t>
            </a:r>
            <a:r>
              <a:rPr lang="pt-PT" sz="1200" kern="0" dirty="0">
                <a:solidFill>
                  <a:srgbClr val="000000"/>
                </a:solidFill>
              </a:rPr>
              <a:t> slow, </a:t>
            </a:r>
            <a:r>
              <a:rPr lang="pt-PT" sz="1200" kern="0" dirty="0" err="1">
                <a:solidFill>
                  <a:srgbClr val="000000"/>
                </a:solidFill>
              </a:rPr>
              <a:t>and</a:t>
            </a:r>
            <a:r>
              <a:rPr lang="pt-PT" sz="1200" kern="0" dirty="0">
                <a:solidFill>
                  <a:srgbClr val="000000"/>
                </a:solidFill>
              </a:rPr>
              <a:t> to </a:t>
            </a:r>
            <a:r>
              <a:rPr lang="pt-PT" sz="1200" kern="0" dirty="0" err="1">
                <a:solidFill>
                  <a:srgbClr val="000000"/>
                </a:solidFill>
              </a:rPr>
              <a:t>make</a:t>
            </a:r>
            <a:r>
              <a:rPr lang="pt-PT" sz="1200" kern="0" dirty="0">
                <a:solidFill>
                  <a:srgbClr val="000000"/>
                </a:solidFill>
              </a:rPr>
              <a:t> </a:t>
            </a:r>
            <a:r>
              <a:rPr lang="pt-PT" sz="1200" kern="0" dirty="0" err="1">
                <a:solidFill>
                  <a:srgbClr val="000000"/>
                </a:solidFill>
              </a:rPr>
              <a:t>it</a:t>
            </a:r>
            <a:r>
              <a:rPr lang="pt-PT" sz="1200" kern="0" dirty="0">
                <a:solidFill>
                  <a:srgbClr val="000000"/>
                </a:solidFill>
              </a:rPr>
              <a:t> </a:t>
            </a:r>
            <a:r>
              <a:rPr lang="pt-PT" sz="1200" kern="0" dirty="0" err="1">
                <a:solidFill>
                  <a:srgbClr val="000000"/>
                </a:solidFill>
              </a:rPr>
              <a:t>scalable</a:t>
            </a:r>
            <a:r>
              <a:rPr lang="pt-PT" sz="1200" kern="0" dirty="0">
                <a:solidFill>
                  <a:srgbClr val="000000"/>
                </a:solidFill>
              </a:rPr>
              <a:t> (</a:t>
            </a:r>
            <a:r>
              <a:rPr lang="pt-PT" sz="1200" kern="0" dirty="0" err="1">
                <a:solidFill>
                  <a:srgbClr val="000000"/>
                </a:solidFill>
              </a:rPr>
              <a:t>seamed</a:t>
            </a:r>
            <a:r>
              <a:rPr lang="pt-PT" sz="1200" kern="0" dirty="0">
                <a:solidFill>
                  <a:srgbClr val="000000"/>
                </a:solidFill>
              </a:rPr>
              <a:t> </a:t>
            </a:r>
            <a:r>
              <a:rPr lang="pt-PT" sz="1200" kern="0" dirty="0" err="1">
                <a:solidFill>
                  <a:srgbClr val="000000"/>
                </a:solidFill>
              </a:rPr>
              <a:t>like</a:t>
            </a:r>
            <a:r>
              <a:rPr lang="pt-PT" sz="1200" kern="0" dirty="0">
                <a:solidFill>
                  <a:srgbClr val="000000"/>
                </a:solidFill>
              </a:rPr>
              <a:t> a </a:t>
            </a:r>
            <a:r>
              <a:rPr lang="pt-PT" sz="1200" kern="0" dirty="0" err="1">
                <a:solidFill>
                  <a:srgbClr val="000000"/>
                </a:solidFill>
              </a:rPr>
              <a:t>good</a:t>
            </a:r>
            <a:r>
              <a:rPr lang="pt-PT" sz="1200" kern="0" dirty="0">
                <a:solidFill>
                  <a:srgbClr val="000000"/>
                </a:solidFill>
              </a:rPr>
              <a:t> </a:t>
            </a:r>
            <a:r>
              <a:rPr lang="pt-PT" sz="1200" kern="0" dirty="0" err="1">
                <a:solidFill>
                  <a:srgbClr val="000000"/>
                </a:solidFill>
              </a:rPr>
              <a:t>enough</a:t>
            </a:r>
            <a:r>
              <a:rPr lang="pt-PT" sz="1200" kern="0" dirty="0">
                <a:solidFill>
                  <a:srgbClr val="000000"/>
                </a:solidFill>
              </a:rPr>
              <a:t> sample </a:t>
            </a:r>
            <a:r>
              <a:rPr lang="pt-PT" sz="1200" kern="0" dirty="0" err="1">
                <a:solidFill>
                  <a:srgbClr val="000000"/>
                </a:solidFill>
              </a:rPr>
              <a:t>since</a:t>
            </a:r>
            <a:r>
              <a:rPr lang="pt-PT" sz="1200" kern="0" dirty="0">
                <a:solidFill>
                  <a:srgbClr val="000000"/>
                </a:solidFill>
              </a:rPr>
              <a:t> some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tables</a:t>
            </a:r>
            <a:r>
              <a:rPr lang="pt-PT" sz="1200" kern="0" dirty="0">
                <a:solidFill>
                  <a:srgbClr val="000000"/>
                </a:solidFill>
              </a:rPr>
              <a:t> can </a:t>
            </a:r>
            <a:r>
              <a:rPr lang="pt-PT" sz="1200" kern="0" dirty="0" err="1">
                <a:solidFill>
                  <a:srgbClr val="000000"/>
                </a:solidFill>
              </a:rPr>
              <a:t>reach</a:t>
            </a:r>
            <a:r>
              <a:rPr lang="pt-PT" sz="1200" kern="0" dirty="0">
                <a:solidFill>
                  <a:srgbClr val="000000"/>
                </a:solidFill>
              </a:rPr>
              <a:t> 50000 </a:t>
            </a:r>
            <a:r>
              <a:rPr lang="pt-PT" sz="1200" kern="0" dirty="0" err="1">
                <a:solidFill>
                  <a:srgbClr val="000000"/>
                </a:solidFill>
              </a:rPr>
              <a:t>lines</a:t>
            </a:r>
            <a:r>
              <a:rPr lang="pt-PT" sz="1200" kern="0" dirty="0">
                <a:solidFill>
                  <a:srgbClr val="000000"/>
                </a:solidFill>
              </a:rPr>
              <a:t>). </a:t>
            </a:r>
            <a:r>
              <a:rPr lang="pt-PT" sz="1200" kern="0" dirty="0" err="1">
                <a:solidFill>
                  <a:srgbClr val="000000"/>
                </a:solidFill>
              </a:rPr>
              <a:t>If</a:t>
            </a:r>
            <a:r>
              <a:rPr lang="pt-PT" sz="1200" kern="0" dirty="0">
                <a:solidFill>
                  <a:srgbClr val="000000"/>
                </a:solidFill>
              </a:rPr>
              <a:t> 95%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these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look </a:t>
            </a:r>
            <a:r>
              <a:rPr lang="pt-PT" sz="1200" kern="0" dirty="0" err="1">
                <a:solidFill>
                  <a:srgbClr val="000000"/>
                </a:solidFill>
              </a:rPr>
              <a:t>numeric</a:t>
            </a:r>
            <a:r>
              <a:rPr lang="pt-PT" sz="1200" kern="0" dirty="0">
                <a:solidFill>
                  <a:srgbClr val="000000"/>
                </a:solidFill>
              </a:rPr>
              <a:t>, </a:t>
            </a:r>
            <a:r>
              <a:rPr lang="pt-PT" sz="1200" kern="0" dirty="0" err="1">
                <a:solidFill>
                  <a:srgbClr val="000000"/>
                </a:solidFill>
              </a:rPr>
              <a:t>than</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gets</a:t>
            </a:r>
            <a:r>
              <a:rPr lang="pt-PT" sz="1200" kern="0" dirty="0">
                <a:solidFill>
                  <a:srgbClr val="000000"/>
                </a:solidFill>
              </a:rPr>
              <a:t> </a:t>
            </a:r>
            <a:r>
              <a:rPr lang="pt-PT" sz="1200" kern="0" dirty="0" err="1">
                <a:solidFill>
                  <a:srgbClr val="000000"/>
                </a:solidFill>
              </a:rPr>
              <a:t>converted</a:t>
            </a:r>
            <a:r>
              <a:rPr lang="pt-PT" sz="1200" kern="0" dirty="0">
                <a:solidFill>
                  <a:srgbClr val="000000"/>
                </a:solidFill>
              </a:rPr>
              <a:t> to </a:t>
            </a:r>
            <a:r>
              <a:rPr lang="pt-PT" sz="1200" kern="0" dirty="0" err="1">
                <a:solidFill>
                  <a:srgbClr val="000000"/>
                </a:solidFill>
              </a:rPr>
              <a:t>numeric</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non-</a:t>
            </a:r>
            <a:r>
              <a:rPr lang="pt-PT" sz="1200" kern="0" dirty="0" err="1">
                <a:solidFill>
                  <a:srgbClr val="000000"/>
                </a:solidFill>
              </a:rPr>
              <a:t>convertibles</a:t>
            </a:r>
            <a:r>
              <a:rPr lang="pt-PT" sz="1200" kern="0" dirty="0">
                <a:solidFill>
                  <a:srgbClr val="000000"/>
                </a:solidFill>
              </a:rPr>
              <a:t> </a:t>
            </a:r>
            <a:r>
              <a:rPr lang="pt-PT" sz="1200" kern="0" dirty="0" err="1">
                <a:solidFill>
                  <a:srgbClr val="000000"/>
                </a:solidFill>
              </a:rPr>
              <a:t>get</a:t>
            </a:r>
            <a:r>
              <a:rPr lang="pt-PT" sz="1200" kern="0" dirty="0">
                <a:solidFill>
                  <a:srgbClr val="000000"/>
                </a:solidFill>
              </a:rPr>
              <a:t> </a:t>
            </a:r>
            <a:r>
              <a:rPr lang="pt-PT" sz="1200" kern="0" dirty="0" err="1">
                <a:solidFill>
                  <a:srgbClr val="000000"/>
                </a:solidFill>
              </a:rPr>
              <a:t>converted</a:t>
            </a:r>
            <a:r>
              <a:rPr lang="pt-PT" sz="1200" kern="0" dirty="0">
                <a:solidFill>
                  <a:srgbClr val="000000"/>
                </a:solidFill>
              </a:rPr>
              <a:t> to </a:t>
            </a:r>
            <a:r>
              <a:rPr lang="pt-PT" sz="1200" kern="0" dirty="0" err="1">
                <a:solidFill>
                  <a:srgbClr val="000000"/>
                </a:solidFill>
              </a:rPr>
              <a:t>null</a:t>
            </a:r>
            <a:r>
              <a:rPr lang="pt-PT" sz="1200" kern="0" dirty="0">
                <a:solidFill>
                  <a:srgbClr val="000000"/>
                </a:solidFill>
              </a:rPr>
              <a:t>.</a:t>
            </a:r>
            <a:endParaRPr lang="en-US" sz="1200" kern="0" dirty="0">
              <a:solidFill>
                <a:srgbClr val="000000"/>
              </a:solidFill>
            </a:endParaRPr>
          </a:p>
          <a:p>
            <a:r>
              <a:rPr lang="en-US" sz="1200" u="sng" kern="0" dirty="0">
                <a:solidFill>
                  <a:srgbClr val="000000"/>
                </a:solidFill>
              </a:rPr>
              <a:t>Main Goal</a:t>
            </a:r>
            <a:r>
              <a:rPr lang="en-US" sz="1200" kern="0" dirty="0">
                <a:solidFill>
                  <a:srgbClr val="000000"/>
                </a:solidFill>
              </a:rPr>
              <a:t>: Ensures correct numeric types for possible calculations and aggregations.</a:t>
            </a:r>
          </a:p>
          <a:p>
            <a:endParaRPr lang="en-US" sz="1200" kern="0" dirty="0">
              <a:solidFill>
                <a:srgbClr val="000000"/>
              </a:solidFill>
            </a:endParaRPr>
          </a:p>
          <a:p>
            <a:r>
              <a:rPr lang="en-US" sz="1200" b="1" kern="0" dirty="0">
                <a:solidFill>
                  <a:srgbClr val="000000"/>
                </a:solidFill>
              </a:rPr>
              <a:t>Drop Columns With &gt; 95% Missing Values</a:t>
            </a:r>
            <a:r>
              <a:rPr lang="pt-PT" sz="1200" b="1" kern="0" dirty="0">
                <a:solidFill>
                  <a:srgbClr val="000000"/>
                </a:solidFill>
              </a:rPr>
              <a:t>: </a:t>
            </a:r>
            <a:r>
              <a:rPr lang="en-US" sz="1200" kern="0" dirty="0">
                <a:solidFill>
                  <a:srgbClr val="000000"/>
                </a:solidFill>
              </a:rPr>
              <a:t>Columns with &gt;95% missing values were dropped</a:t>
            </a:r>
            <a:r>
              <a:rPr lang="pt-PT" sz="1200" kern="0" dirty="0">
                <a:solidFill>
                  <a:srgbClr val="000000"/>
                </a:solidFill>
              </a:rPr>
              <a:t>.</a:t>
            </a:r>
            <a:endParaRPr lang="en-US" sz="1200" kern="0" dirty="0">
              <a:solidFill>
                <a:srgbClr val="000000"/>
              </a:solidFill>
            </a:endParaRPr>
          </a:p>
          <a:p>
            <a:r>
              <a:rPr lang="en-US" sz="1200" u="sng" kern="0" dirty="0">
                <a:solidFill>
                  <a:srgbClr val="000000"/>
                </a:solidFill>
              </a:rPr>
              <a:t>Main Goal</a:t>
            </a:r>
            <a:r>
              <a:rPr lang="en-US" sz="1200" kern="0" dirty="0">
                <a:solidFill>
                  <a:srgbClr val="000000"/>
                </a:solidFill>
              </a:rPr>
              <a:t>: Reduces noise from very low fields.</a:t>
            </a:r>
          </a:p>
        </p:txBody>
      </p:sp>
      <p:sp>
        <p:nvSpPr>
          <p:cNvPr id="16" name="Textfeld 8">
            <a:extLst>
              <a:ext uri="{FF2B5EF4-FFF2-40B4-BE49-F238E27FC236}">
                <a16:creationId xmlns:a16="http://schemas.microsoft.com/office/drawing/2014/main" id="{039CD9F2-C4A9-2AF4-781B-A82843AE3E8C}"/>
              </a:ext>
            </a:extLst>
          </p:cNvPr>
          <p:cNvSpPr txBox="1">
            <a:spLocks/>
          </p:cNvSpPr>
          <p:nvPr/>
        </p:nvSpPr>
        <p:spPr>
          <a:xfrm>
            <a:off x="9847545" y="152682"/>
            <a:ext cx="1518447" cy="770407"/>
          </a:xfrm>
          <a:prstGeom prst="rect">
            <a:avLst/>
          </a:prstGeom>
          <a:noFill/>
          <a:ln w="12700">
            <a:solidFill>
              <a:schemeClr val="tx1"/>
            </a:solidFill>
          </a:ln>
        </p:spPr>
        <p:txBody>
          <a:bodyPr wrap="square" lIns="0" tIns="0" rIns="0" bIns="0" rtlCol="0">
            <a:noAutofit/>
          </a:bodyPr>
          <a:lstStyle/>
          <a:p>
            <a:r>
              <a:rPr kumimoji="0" lang="de-DE" sz="1200" b="1" i="0" u="sng" strike="noStrike" kern="0" cap="none" spc="0" normalizeH="0" baseline="0" noProof="0" dirty="0">
                <a:ln>
                  <a:noFill/>
                </a:ln>
                <a:solidFill>
                  <a:srgbClr val="000000"/>
                </a:solidFill>
                <a:effectLst/>
                <a:uLnTx/>
                <a:uFillTx/>
              </a:rPr>
              <a:t>Scripts</a:t>
            </a:r>
          </a:p>
          <a:p>
            <a:r>
              <a:rPr lang="de-DE" sz="1200" kern="0" dirty="0">
                <a:solidFill>
                  <a:srgbClr val="000000"/>
                </a:solidFill>
              </a:rPr>
              <a:t>- SilverAFDC</a:t>
            </a:r>
          </a:p>
          <a:p>
            <a:r>
              <a:rPr lang="de-DE" sz="1200" kern="0" dirty="0">
                <a:solidFill>
                  <a:srgbClr val="000000"/>
                </a:solidFill>
              </a:rPr>
              <a:t>- SilverNHTSA</a:t>
            </a:r>
          </a:p>
          <a:p>
            <a:r>
              <a:rPr lang="de-DE" sz="1200" kern="0" dirty="0">
                <a:solidFill>
                  <a:srgbClr val="000000"/>
                </a:solidFill>
              </a:rPr>
              <a:t>- SilverFuelEconomy</a:t>
            </a:r>
          </a:p>
        </p:txBody>
      </p:sp>
      <p:sp>
        <p:nvSpPr>
          <p:cNvPr id="17" name="Isosceles Triangle 16">
            <a:extLst>
              <a:ext uri="{FF2B5EF4-FFF2-40B4-BE49-F238E27FC236}">
                <a16:creationId xmlns:a16="http://schemas.microsoft.com/office/drawing/2014/main" id="{B67C65B8-2A15-8B51-0057-DCADDF9DD1CE}"/>
              </a:ext>
            </a:extLst>
          </p:cNvPr>
          <p:cNvSpPr/>
          <p:nvPr/>
        </p:nvSpPr>
        <p:spPr>
          <a:xfrm rot="5400000">
            <a:off x="574213" y="3323911"/>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589CC6E-45EA-44A6-A25F-267F0E7EC3E4}"/>
              </a:ext>
            </a:extLst>
          </p:cNvPr>
          <p:cNvSpPr/>
          <p:nvPr/>
        </p:nvSpPr>
        <p:spPr>
          <a:xfrm rot="5400000">
            <a:off x="574213" y="3861615"/>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40709ED4-1EF1-67FE-B8C8-6FB9DD2F9852}"/>
              </a:ext>
            </a:extLst>
          </p:cNvPr>
          <p:cNvSpPr/>
          <p:nvPr/>
        </p:nvSpPr>
        <p:spPr>
          <a:xfrm rot="5400000">
            <a:off x="574213" y="4408463"/>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CD90D2D9-936A-F1BE-58A1-3F798F63FA4B}"/>
              </a:ext>
            </a:extLst>
          </p:cNvPr>
          <p:cNvSpPr/>
          <p:nvPr/>
        </p:nvSpPr>
        <p:spPr>
          <a:xfrm rot="5400000">
            <a:off x="574213" y="5322236"/>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8510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8C01C-2C69-FAC6-29FF-738EA5CE6026}"/>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A0FC09E5-E55D-6C48-3E7C-EF9E39F5B84A}"/>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DATA PROCESSING</a:t>
            </a:r>
          </a:p>
        </p:txBody>
      </p:sp>
      <p:sp>
        <p:nvSpPr>
          <p:cNvPr id="14" name="Isosceles Triangle 13">
            <a:extLst>
              <a:ext uri="{FF2B5EF4-FFF2-40B4-BE49-F238E27FC236}">
                <a16:creationId xmlns:a16="http://schemas.microsoft.com/office/drawing/2014/main" id="{9405B116-B4D7-F00B-C4A0-C34E0B396D0F}"/>
              </a:ext>
            </a:extLst>
          </p:cNvPr>
          <p:cNvSpPr/>
          <p:nvPr/>
        </p:nvSpPr>
        <p:spPr>
          <a:xfrm rot="5400000">
            <a:off x="574213" y="1141543"/>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feld 8">
            <a:extLst>
              <a:ext uri="{FF2B5EF4-FFF2-40B4-BE49-F238E27FC236}">
                <a16:creationId xmlns:a16="http://schemas.microsoft.com/office/drawing/2014/main" id="{87EC7C24-D2BD-9E30-CD26-875C9BF4FA2E}"/>
              </a:ext>
            </a:extLst>
          </p:cNvPr>
          <p:cNvSpPr txBox="1">
            <a:spLocks/>
          </p:cNvSpPr>
          <p:nvPr/>
        </p:nvSpPr>
        <p:spPr>
          <a:xfrm>
            <a:off x="936460" y="1124712"/>
            <a:ext cx="10429532" cy="1828800"/>
          </a:xfrm>
          <a:prstGeom prst="rect">
            <a:avLst/>
          </a:prstGeom>
          <a:noFill/>
        </p:spPr>
        <p:txBody>
          <a:bodyPr wrap="square" lIns="0" tIns="0" rIns="0" bIns="0" rtlCol="0">
            <a:noAutofit/>
          </a:bodyPr>
          <a:lstStyle/>
          <a:p>
            <a:r>
              <a:rPr lang="pt-PT" sz="1200" b="1" kern="0" dirty="0">
                <a:solidFill>
                  <a:srgbClr val="000000"/>
                </a:solidFill>
              </a:rPr>
              <a:t>Cast Date-</a:t>
            </a:r>
            <a:r>
              <a:rPr lang="pt-PT" sz="1200" b="1" kern="0" dirty="0" err="1">
                <a:solidFill>
                  <a:srgbClr val="000000"/>
                </a:solidFill>
              </a:rPr>
              <a:t>Like</a:t>
            </a:r>
            <a:r>
              <a:rPr lang="pt-PT" sz="1200" b="1" kern="0" dirty="0">
                <a:solidFill>
                  <a:srgbClr val="000000"/>
                </a:solidFill>
              </a:rPr>
              <a:t> </a:t>
            </a:r>
            <a:r>
              <a:rPr lang="pt-PT" sz="1200" b="1" kern="0" dirty="0" err="1">
                <a:solidFill>
                  <a:srgbClr val="000000"/>
                </a:solidFill>
              </a:rPr>
              <a:t>Columns</a:t>
            </a:r>
            <a:r>
              <a:rPr lang="pt-PT" sz="1200" b="1" kern="0" dirty="0">
                <a:solidFill>
                  <a:srgbClr val="000000"/>
                </a:solidFill>
              </a:rPr>
              <a:t>: </a:t>
            </a:r>
            <a:r>
              <a:rPr lang="pt-PT" sz="1200" kern="0" dirty="0">
                <a:solidFill>
                  <a:srgbClr val="000000"/>
                </a:solidFill>
              </a:rPr>
              <a:t>Date </a:t>
            </a:r>
            <a:r>
              <a:rPr lang="pt-PT" sz="1200" kern="0" dirty="0" err="1">
                <a:solidFill>
                  <a:srgbClr val="000000"/>
                </a:solidFill>
              </a:rPr>
              <a:t>values</a:t>
            </a:r>
            <a:r>
              <a:rPr lang="pt-PT" sz="1200" kern="0" dirty="0">
                <a:solidFill>
                  <a:srgbClr val="000000"/>
                </a:solidFill>
              </a:rPr>
              <a:t> can </a:t>
            </a:r>
            <a:r>
              <a:rPr lang="pt-PT" sz="1200" kern="0" dirty="0" err="1">
                <a:solidFill>
                  <a:srgbClr val="000000"/>
                </a:solidFill>
              </a:rPr>
              <a:t>also</a:t>
            </a:r>
            <a:r>
              <a:rPr lang="pt-PT" sz="1200" kern="0" dirty="0">
                <a:solidFill>
                  <a:srgbClr val="000000"/>
                </a:solidFill>
              </a:rPr>
              <a:t> </a:t>
            </a:r>
            <a:r>
              <a:rPr lang="pt-PT" sz="1200" kern="0" dirty="0" err="1">
                <a:solidFill>
                  <a:srgbClr val="000000"/>
                </a:solidFill>
              </a:rPr>
              <a:t>arrive</a:t>
            </a:r>
            <a:r>
              <a:rPr lang="pt-PT" sz="1200" kern="0" dirty="0">
                <a:solidFill>
                  <a:srgbClr val="000000"/>
                </a:solidFill>
              </a:rPr>
              <a:t> as </a:t>
            </a:r>
            <a:r>
              <a:rPr lang="pt-PT" sz="1200" kern="0" dirty="0" err="1">
                <a:solidFill>
                  <a:srgbClr val="000000"/>
                </a:solidFill>
              </a:rPr>
              <a:t>strings</a:t>
            </a:r>
            <a:r>
              <a:rPr lang="pt-PT" sz="1200" kern="0" dirty="0">
                <a:solidFill>
                  <a:srgbClr val="000000"/>
                </a:solidFill>
              </a:rPr>
              <a:t>,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string</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checked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same</a:t>
            </a:r>
            <a:r>
              <a:rPr lang="pt-PT" sz="1200" kern="0" dirty="0">
                <a:solidFill>
                  <a:srgbClr val="000000"/>
                </a:solidFill>
              </a:rPr>
              <a:t> sample </a:t>
            </a:r>
            <a:r>
              <a:rPr lang="pt-PT" sz="1200" kern="0" dirty="0" err="1">
                <a:solidFill>
                  <a:srgbClr val="000000"/>
                </a:solidFill>
              </a:rPr>
              <a:t>procedure</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taken</a:t>
            </a:r>
            <a:r>
              <a:rPr lang="pt-PT" sz="1200" kern="0" dirty="0">
                <a:solidFill>
                  <a:srgbClr val="000000"/>
                </a:solidFill>
              </a:rPr>
              <a:t>. </a:t>
            </a:r>
            <a:r>
              <a:rPr lang="pt-PT" sz="1200" kern="0" dirty="0" err="1">
                <a:solidFill>
                  <a:srgbClr val="000000"/>
                </a:solidFill>
              </a:rPr>
              <a:t>Now</a:t>
            </a:r>
            <a:r>
              <a:rPr lang="pt-PT" sz="1200" kern="0" dirty="0">
                <a:solidFill>
                  <a:srgbClr val="000000"/>
                </a:solidFill>
              </a:rPr>
              <a:t>, i </a:t>
            </a:r>
            <a:r>
              <a:rPr lang="pt-PT" sz="1200" kern="0" dirty="0" err="1">
                <a:solidFill>
                  <a:srgbClr val="000000"/>
                </a:solidFill>
              </a:rPr>
              <a:t>also</a:t>
            </a:r>
            <a:r>
              <a:rPr lang="pt-PT" sz="1200" kern="0" dirty="0">
                <a:solidFill>
                  <a:srgbClr val="000000"/>
                </a:solidFill>
              </a:rPr>
              <a:t> </a:t>
            </a:r>
            <a:r>
              <a:rPr lang="pt-PT" sz="1200" kern="0" dirty="0" err="1">
                <a:solidFill>
                  <a:srgbClr val="000000"/>
                </a:solidFill>
              </a:rPr>
              <a:t>checked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year</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as </a:t>
            </a:r>
            <a:r>
              <a:rPr lang="pt-PT" sz="1200" kern="0" dirty="0" err="1">
                <a:solidFill>
                  <a:srgbClr val="000000"/>
                </a:solidFill>
              </a:rPr>
              <a:t>these</a:t>
            </a:r>
            <a:r>
              <a:rPr lang="pt-PT" sz="1200" kern="0" dirty="0">
                <a:solidFill>
                  <a:srgbClr val="000000"/>
                </a:solidFill>
              </a:rPr>
              <a:t> are importante to </a:t>
            </a:r>
            <a:r>
              <a:rPr lang="pt-PT" sz="1200" kern="0" dirty="0" err="1">
                <a:solidFill>
                  <a:srgbClr val="000000"/>
                </a:solidFill>
              </a:rPr>
              <a:t>keep</a:t>
            </a:r>
            <a:r>
              <a:rPr lang="pt-PT" sz="1200" kern="0" dirty="0">
                <a:solidFill>
                  <a:srgbClr val="000000"/>
                </a:solidFill>
              </a:rPr>
              <a:t> as </a:t>
            </a:r>
            <a:r>
              <a:rPr lang="pt-PT" sz="1200" kern="0" dirty="0" err="1">
                <a:solidFill>
                  <a:srgbClr val="000000"/>
                </a:solidFill>
              </a:rPr>
              <a:t>int</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not</a:t>
            </a:r>
            <a:r>
              <a:rPr lang="pt-PT" sz="1200" kern="0" dirty="0">
                <a:solidFill>
                  <a:srgbClr val="000000"/>
                </a:solidFill>
              </a:rPr>
              <a:t> as date. For </a:t>
            </a:r>
            <a:r>
              <a:rPr lang="pt-PT" sz="1200" kern="0" dirty="0" err="1">
                <a:solidFill>
                  <a:srgbClr val="000000"/>
                </a:solidFill>
              </a:rPr>
              <a:t>this</a:t>
            </a:r>
            <a:r>
              <a:rPr lang="pt-PT" sz="1200" kern="0" dirty="0">
                <a:solidFill>
                  <a:srgbClr val="000000"/>
                </a:solidFill>
              </a:rPr>
              <a:t>, i </a:t>
            </a:r>
            <a:r>
              <a:rPr lang="pt-PT" sz="1200" kern="0" dirty="0" err="1">
                <a:solidFill>
                  <a:srgbClr val="000000"/>
                </a:solidFill>
              </a:rPr>
              <a:t>used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sample to </a:t>
            </a:r>
            <a:r>
              <a:rPr lang="pt-PT" sz="1200" kern="0" dirty="0" err="1">
                <a:solidFill>
                  <a:srgbClr val="000000"/>
                </a:solidFill>
              </a:rPr>
              <a:t>answer</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question</a:t>
            </a:r>
            <a:r>
              <a:rPr lang="pt-PT" sz="1200" kern="0" dirty="0">
                <a:solidFill>
                  <a:srgbClr val="000000"/>
                </a:solidFill>
              </a:rPr>
              <a:t> “Is 80%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4 </a:t>
            </a:r>
            <a:r>
              <a:rPr lang="pt-PT" sz="1200" kern="0" dirty="0" err="1">
                <a:solidFill>
                  <a:srgbClr val="000000"/>
                </a:solidFill>
              </a:rPr>
              <a:t>digit</a:t>
            </a:r>
            <a:r>
              <a:rPr lang="pt-PT" sz="1200" kern="0" dirty="0">
                <a:solidFill>
                  <a:srgbClr val="000000"/>
                </a:solidFill>
              </a:rPr>
              <a:t> </a:t>
            </a:r>
            <a:r>
              <a:rPr lang="pt-PT" sz="1200" kern="0" dirty="0" err="1">
                <a:solidFill>
                  <a:srgbClr val="000000"/>
                </a:solidFill>
              </a:rPr>
              <a:t>numbers</a:t>
            </a:r>
            <a:r>
              <a:rPr lang="pt-PT" sz="1200" kern="0" dirty="0">
                <a:solidFill>
                  <a:srgbClr val="000000"/>
                </a:solidFill>
              </a:rPr>
              <a:t> </a:t>
            </a:r>
            <a:r>
              <a:rPr lang="pt-PT" sz="1200" kern="0" dirty="0" err="1">
                <a:solidFill>
                  <a:srgbClr val="000000"/>
                </a:solidFill>
              </a:rPr>
              <a:t>between</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range 1900-2100?”. </a:t>
            </a:r>
            <a:r>
              <a:rPr lang="pt-PT" sz="1200" kern="0" dirty="0" err="1">
                <a:solidFill>
                  <a:srgbClr val="000000"/>
                </a:solidFill>
              </a:rPr>
              <a:t>Then</a:t>
            </a:r>
            <a:r>
              <a:rPr lang="pt-PT" sz="1200" kern="0" dirty="0">
                <a:solidFill>
                  <a:srgbClr val="000000"/>
                </a:solidFill>
              </a:rPr>
              <a:t> </a:t>
            </a:r>
            <a:r>
              <a:rPr lang="pt-PT" sz="1200" kern="0" dirty="0" err="1">
                <a:solidFill>
                  <a:srgbClr val="000000"/>
                </a:solidFill>
              </a:rPr>
              <a:t>again</a:t>
            </a:r>
            <a:r>
              <a:rPr lang="pt-PT" sz="1200" kern="0" dirty="0">
                <a:solidFill>
                  <a:srgbClr val="000000"/>
                </a:solidFill>
              </a:rPr>
              <a:t>, i </a:t>
            </a:r>
            <a:r>
              <a:rPr lang="pt-PT" sz="1200" kern="0" dirty="0" err="1">
                <a:solidFill>
                  <a:srgbClr val="000000"/>
                </a:solidFill>
              </a:rPr>
              <a:t>used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sample to </a:t>
            </a:r>
            <a:r>
              <a:rPr lang="pt-PT" sz="1200" kern="0" dirty="0" err="1">
                <a:solidFill>
                  <a:srgbClr val="000000"/>
                </a:solidFill>
              </a:rPr>
              <a:t>convert</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95% date </a:t>
            </a:r>
            <a:r>
              <a:rPr lang="pt-PT" sz="1200" kern="0" dirty="0" err="1">
                <a:solidFill>
                  <a:srgbClr val="000000"/>
                </a:solidFill>
              </a:rPr>
              <a:t>like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to </a:t>
            </a:r>
            <a:r>
              <a:rPr lang="pt-PT" sz="1200" kern="0" dirty="0" err="1">
                <a:solidFill>
                  <a:srgbClr val="000000"/>
                </a:solidFill>
              </a:rPr>
              <a:t>datetime</a:t>
            </a:r>
            <a:r>
              <a:rPr lang="pt-PT" sz="1200" kern="0" dirty="0">
                <a:solidFill>
                  <a:srgbClr val="000000"/>
                </a:solidFill>
              </a:rPr>
              <a:t>.</a:t>
            </a:r>
            <a:endParaRPr lang="en-US" sz="1200" kern="0" dirty="0">
              <a:solidFill>
                <a:srgbClr val="000000"/>
              </a:solidFill>
            </a:endParaRPr>
          </a:p>
          <a:p>
            <a:r>
              <a:rPr lang="en-US" sz="1200" u="sng" kern="0" dirty="0">
                <a:solidFill>
                  <a:srgbClr val="000000"/>
                </a:solidFill>
              </a:rPr>
              <a:t>Main Goal</a:t>
            </a:r>
            <a:r>
              <a:rPr lang="en-US" sz="1200" kern="0" dirty="0">
                <a:solidFill>
                  <a:srgbClr val="000000"/>
                </a:solidFill>
              </a:rPr>
              <a:t>: Proper storage of temporal fields.</a:t>
            </a:r>
          </a:p>
          <a:p>
            <a:endParaRPr lang="en-US" sz="1200" kern="0" dirty="0">
              <a:solidFill>
                <a:srgbClr val="000000"/>
              </a:solidFill>
            </a:endParaRPr>
          </a:p>
          <a:p>
            <a:r>
              <a:rPr lang="pt-PT" sz="1200" b="1" kern="0" dirty="0" err="1">
                <a:solidFill>
                  <a:srgbClr val="000000"/>
                </a:solidFill>
              </a:rPr>
              <a:t>Standardize</a:t>
            </a:r>
            <a:r>
              <a:rPr lang="pt-PT" sz="1200" b="1" kern="0" dirty="0">
                <a:solidFill>
                  <a:srgbClr val="000000"/>
                </a:solidFill>
              </a:rPr>
              <a:t> </a:t>
            </a:r>
            <a:r>
              <a:rPr lang="pt-PT" sz="1200" b="1" kern="0" dirty="0" err="1">
                <a:solidFill>
                  <a:srgbClr val="000000"/>
                </a:solidFill>
              </a:rPr>
              <a:t>Boolean-Like</a:t>
            </a:r>
            <a:r>
              <a:rPr lang="pt-PT" sz="1200" b="1" kern="0" dirty="0">
                <a:solidFill>
                  <a:srgbClr val="000000"/>
                </a:solidFill>
              </a:rPr>
              <a:t> </a:t>
            </a:r>
            <a:r>
              <a:rPr lang="pt-PT" sz="1200" b="1" kern="0" dirty="0" err="1">
                <a:solidFill>
                  <a:srgbClr val="000000"/>
                </a:solidFill>
              </a:rPr>
              <a:t>Columns</a:t>
            </a:r>
            <a:r>
              <a:rPr lang="pt-PT" sz="1200" b="1" kern="0" dirty="0">
                <a:solidFill>
                  <a:srgbClr val="000000"/>
                </a:solidFill>
              </a:rPr>
              <a:t>: </a:t>
            </a:r>
            <a:r>
              <a:rPr lang="pt-PT" sz="1200" kern="0" dirty="0" err="1">
                <a:solidFill>
                  <a:srgbClr val="000000"/>
                </a:solidFill>
              </a:rPr>
              <a:t>Boolean</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can </a:t>
            </a:r>
            <a:r>
              <a:rPr lang="pt-PT" sz="1200" kern="0" dirty="0" err="1">
                <a:solidFill>
                  <a:srgbClr val="000000"/>
                </a:solidFill>
              </a:rPr>
              <a:t>also</a:t>
            </a:r>
            <a:r>
              <a:rPr lang="pt-PT" sz="1200" kern="0" dirty="0">
                <a:solidFill>
                  <a:srgbClr val="000000"/>
                </a:solidFill>
              </a:rPr>
              <a:t> </a:t>
            </a:r>
            <a:r>
              <a:rPr lang="pt-PT" sz="1200" kern="0" dirty="0" err="1">
                <a:solidFill>
                  <a:srgbClr val="000000"/>
                </a:solidFill>
              </a:rPr>
              <a:t>arrive</a:t>
            </a:r>
            <a:r>
              <a:rPr lang="pt-PT" sz="1200" kern="0" dirty="0">
                <a:solidFill>
                  <a:srgbClr val="000000"/>
                </a:solidFill>
              </a:rPr>
              <a:t> as </a:t>
            </a:r>
            <a:r>
              <a:rPr lang="pt-PT" sz="1200" kern="0" dirty="0" err="1">
                <a:solidFill>
                  <a:srgbClr val="000000"/>
                </a:solidFill>
              </a:rPr>
              <a:t>strings</a:t>
            </a:r>
            <a:r>
              <a:rPr lang="pt-PT" sz="1200" kern="0" dirty="0">
                <a:solidFill>
                  <a:srgbClr val="000000"/>
                </a:solidFill>
              </a:rPr>
              <a:t>,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string</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checked</a:t>
            </a:r>
            <a:r>
              <a:rPr lang="pt-PT" sz="1200" kern="0" dirty="0">
                <a:solidFill>
                  <a:srgbClr val="000000"/>
                </a:solidFill>
              </a:rPr>
              <a:t>. For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i </a:t>
            </a:r>
            <a:r>
              <a:rPr lang="pt-PT" sz="1200" kern="0" dirty="0" err="1">
                <a:solidFill>
                  <a:srgbClr val="000000"/>
                </a:solidFill>
              </a:rPr>
              <a:t>lowercased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to </a:t>
            </a:r>
            <a:r>
              <a:rPr lang="pt-PT" sz="1200" kern="0" dirty="0" err="1">
                <a:solidFill>
                  <a:srgbClr val="000000"/>
                </a:solidFill>
              </a:rPr>
              <a:t>make</a:t>
            </a:r>
            <a:r>
              <a:rPr lang="pt-PT" sz="1200" kern="0" dirty="0">
                <a:solidFill>
                  <a:srgbClr val="000000"/>
                </a:solidFill>
              </a:rPr>
              <a:t> </a:t>
            </a:r>
            <a:r>
              <a:rPr lang="pt-PT" sz="1200" kern="0" dirty="0" err="1">
                <a:solidFill>
                  <a:srgbClr val="000000"/>
                </a:solidFill>
              </a:rPr>
              <a:t>them</a:t>
            </a:r>
            <a:r>
              <a:rPr lang="pt-PT" sz="1200" kern="0" dirty="0">
                <a:solidFill>
                  <a:srgbClr val="000000"/>
                </a:solidFill>
              </a:rPr>
              <a:t> </a:t>
            </a:r>
            <a:r>
              <a:rPr lang="pt-PT" sz="1200" kern="0" dirty="0" err="1">
                <a:solidFill>
                  <a:srgbClr val="000000"/>
                </a:solidFill>
              </a:rPr>
              <a:t>consistent</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i </a:t>
            </a:r>
            <a:r>
              <a:rPr lang="pt-PT" sz="1200" kern="0" dirty="0" err="1">
                <a:solidFill>
                  <a:srgbClr val="000000"/>
                </a:solidFill>
              </a:rPr>
              <a:t>used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sample </a:t>
            </a:r>
            <a:r>
              <a:rPr lang="pt-PT" sz="1200" kern="0" dirty="0" err="1">
                <a:solidFill>
                  <a:srgbClr val="000000"/>
                </a:solidFill>
              </a:rPr>
              <a:t>strategy</a:t>
            </a:r>
            <a:r>
              <a:rPr lang="pt-PT" sz="1200" kern="0" dirty="0">
                <a:solidFill>
                  <a:srgbClr val="000000"/>
                </a:solidFill>
              </a:rPr>
              <a:t> to </a:t>
            </a:r>
            <a:r>
              <a:rPr lang="pt-PT" sz="1200" kern="0" dirty="0" err="1">
                <a:solidFill>
                  <a:srgbClr val="000000"/>
                </a:solidFill>
              </a:rPr>
              <a:t>see</a:t>
            </a:r>
            <a:r>
              <a:rPr lang="pt-PT" sz="1200" kern="0" dirty="0">
                <a:solidFill>
                  <a:srgbClr val="000000"/>
                </a:solidFill>
              </a:rPr>
              <a:t> </a:t>
            </a:r>
            <a:r>
              <a:rPr lang="pt-PT" sz="1200" kern="0" dirty="0" err="1">
                <a:solidFill>
                  <a:srgbClr val="000000"/>
                </a:solidFill>
              </a:rPr>
              <a:t>if</a:t>
            </a:r>
            <a:r>
              <a:rPr lang="pt-PT" sz="1200" kern="0" dirty="0">
                <a:solidFill>
                  <a:srgbClr val="000000"/>
                </a:solidFill>
              </a:rPr>
              <a:t> 95%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each</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 </a:t>
            </a:r>
            <a:r>
              <a:rPr lang="pt-PT" sz="1200" kern="0" dirty="0" err="1">
                <a:solidFill>
                  <a:srgbClr val="000000"/>
                </a:solidFill>
              </a:rPr>
              <a:t>boolean</a:t>
            </a:r>
            <a:r>
              <a:rPr lang="pt-PT" sz="1200" kern="0" dirty="0">
                <a:solidFill>
                  <a:srgbClr val="000000"/>
                </a:solidFill>
              </a:rPr>
              <a:t> (</a:t>
            </a:r>
            <a:r>
              <a:rPr lang="pt-PT" sz="1200" kern="0" dirty="0" err="1">
                <a:solidFill>
                  <a:srgbClr val="000000"/>
                </a:solidFill>
              </a:rPr>
              <a:t>having</a:t>
            </a:r>
            <a:r>
              <a:rPr lang="pt-PT" sz="1200" kern="0" dirty="0">
                <a:solidFill>
                  <a:srgbClr val="000000"/>
                </a:solidFill>
              </a:rPr>
              <a:t> in </a:t>
            </a:r>
            <a:r>
              <a:rPr lang="pt-PT" sz="1200" kern="0" dirty="0" err="1">
                <a:solidFill>
                  <a:srgbClr val="000000"/>
                </a:solidFill>
              </a:rPr>
              <a:t>consideration</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possibility</a:t>
            </a:r>
            <a:r>
              <a:rPr lang="pt-PT" sz="1200" kern="0" dirty="0">
                <a:solidFill>
                  <a:srgbClr val="000000"/>
                </a:solidFill>
              </a:rPr>
              <a:t>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being</a:t>
            </a:r>
            <a:r>
              <a:rPr lang="pt-PT" sz="1200" kern="0" dirty="0">
                <a:solidFill>
                  <a:srgbClr val="000000"/>
                </a:solidFill>
              </a:rPr>
              <a:t> F, false, no, </a:t>
            </a:r>
            <a:r>
              <a:rPr lang="pt-PT" sz="1200" kern="0" dirty="0" err="1">
                <a:solidFill>
                  <a:srgbClr val="000000"/>
                </a:solidFill>
              </a:rPr>
              <a:t>yes</a:t>
            </a:r>
            <a:r>
              <a:rPr lang="pt-PT" sz="1200" kern="0" dirty="0">
                <a:solidFill>
                  <a:srgbClr val="000000"/>
                </a:solidFill>
              </a:rPr>
              <a:t>, </a:t>
            </a:r>
            <a:r>
              <a:rPr lang="pt-PT" sz="1200" kern="0" dirty="0" err="1">
                <a:solidFill>
                  <a:srgbClr val="000000"/>
                </a:solidFill>
              </a:rPr>
              <a:t>true</a:t>
            </a:r>
            <a:r>
              <a:rPr lang="pt-PT" sz="1200" kern="0" dirty="0">
                <a:solidFill>
                  <a:srgbClr val="000000"/>
                </a:solidFill>
              </a:rPr>
              <a:t>…). </a:t>
            </a:r>
            <a:r>
              <a:rPr lang="pt-PT" sz="1200" kern="0" dirty="0" err="1">
                <a:solidFill>
                  <a:srgbClr val="000000"/>
                </a:solidFill>
              </a:rPr>
              <a:t>If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answer</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yes</a:t>
            </a:r>
            <a:r>
              <a:rPr lang="pt-PT" sz="1200" kern="0" dirty="0">
                <a:solidFill>
                  <a:srgbClr val="000000"/>
                </a:solidFill>
              </a:rPr>
              <a:t>, </a:t>
            </a:r>
            <a:r>
              <a:rPr lang="pt-PT" sz="1200" kern="0" dirty="0" err="1">
                <a:solidFill>
                  <a:srgbClr val="000000"/>
                </a:solidFill>
              </a:rPr>
              <a:t>than</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mapped</a:t>
            </a:r>
            <a:r>
              <a:rPr lang="pt-PT" sz="1200" kern="0" dirty="0">
                <a:solidFill>
                  <a:srgbClr val="000000"/>
                </a:solidFill>
              </a:rPr>
              <a:t> to </a:t>
            </a:r>
            <a:r>
              <a:rPr lang="pt-PT" sz="1200" kern="0" dirty="0" err="1">
                <a:solidFill>
                  <a:srgbClr val="000000"/>
                </a:solidFill>
              </a:rPr>
              <a:t>boolean</a:t>
            </a:r>
            <a:r>
              <a:rPr lang="pt-PT" sz="1200" kern="0" dirty="0">
                <a:solidFill>
                  <a:srgbClr val="000000"/>
                </a:solidFill>
              </a:rPr>
              <a:t>. </a:t>
            </a:r>
          </a:p>
          <a:p>
            <a:r>
              <a:rPr lang="en-US" sz="1200" u="sng" kern="0" dirty="0">
                <a:solidFill>
                  <a:srgbClr val="000000"/>
                </a:solidFill>
              </a:rPr>
              <a:t>Main Goal</a:t>
            </a:r>
            <a:r>
              <a:rPr lang="en-US" sz="1200" kern="0" dirty="0">
                <a:solidFill>
                  <a:srgbClr val="000000"/>
                </a:solidFill>
              </a:rPr>
              <a:t>: Prevents </a:t>
            </a:r>
            <a:r>
              <a:rPr lang="en-US" sz="1200" kern="0" dirty="0" err="1">
                <a:solidFill>
                  <a:srgbClr val="000000"/>
                </a:solidFill>
              </a:rPr>
              <a:t>boolean</a:t>
            </a:r>
            <a:r>
              <a:rPr lang="en-US" sz="1200" kern="0" dirty="0">
                <a:solidFill>
                  <a:srgbClr val="000000"/>
                </a:solidFill>
              </a:rPr>
              <a:t> fields being treated as text.</a:t>
            </a:r>
          </a:p>
          <a:p>
            <a:endParaRPr lang="en-US" sz="1200" kern="0" dirty="0">
              <a:solidFill>
                <a:srgbClr val="000000"/>
              </a:solidFill>
            </a:endParaRPr>
          </a:p>
          <a:p>
            <a:endParaRPr lang="de-DE" sz="1200" kern="0" dirty="0">
              <a:solidFill>
                <a:srgbClr val="000000"/>
              </a:solidFill>
            </a:endParaRPr>
          </a:p>
          <a:p>
            <a:pPr marL="171450" indent="-171450">
              <a:buFontTx/>
              <a:buChar char="-"/>
            </a:pPr>
            <a:endParaRPr kumimoji="0" lang="en-US" sz="1200" b="0" i="0" u="none" strike="noStrike" kern="0" cap="none" spc="0" normalizeH="0" baseline="0" noProof="0" dirty="0">
              <a:ln>
                <a:noFill/>
              </a:ln>
              <a:solidFill>
                <a:srgbClr val="000000"/>
              </a:solidFill>
              <a:effectLst/>
              <a:uLnTx/>
              <a:uFillTx/>
            </a:endParaRPr>
          </a:p>
        </p:txBody>
      </p:sp>
      <p:sp>
        <p:nvSpPr>
          <p:cNvPr id="2" name="Isosceles Triangle 1">
            <a:extLst>
              <a:ext uri="{FF2B5EF4-FFF2-40B4-BE49-F238E27FC236}">
                <a16:creationId xmlns:a16="http://schemas.microsoft.com/office/drawing/2014/main" id="{1D519556-6723-28AB-1C0B-E9C0E4BE8F3B}"/>
              </a:ext>
            </a:extLst>
          </p:cNvPr>
          <p:cNvSpPr/>
          <p:nvPr/>
        </p:nvSpPr>
        <p:spPr>
          <a:xfrm rot="5400000">
            <a:off x="574213" y="2034607"/>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feld 8">
            <a:extLst>
              <a:ext uri="{FF2B5EF4-FFF2-40B4-BE49-F238E27FC236}">
                <a16:creationId xmlns:a16="http://schemas.microsoft.com/office/drawing/2014/main" id="{95D061BA-791F-D567-6AD1-B56EB9576718}"/>
              </a:ext>
            </a:extLst>
          </p:cNvPr>
          <p:cNvSpPr txBox="1">
            <a:spLocks/>
          </p:cNvSpPr>
          <p:nvPr/>
        </p:nvSpPr>
        <p:spPr>
          <a:xfrm>
            <a:off x="480591" y="3139569"/>
            <a:ext cx="10774948" cy="3447374"/>
          </a:xfrm>
          <a:prstGeom prst="rect">
            <a:avLst/>
          </a:prstGeom>
          <a:noFill/>
        </p:spPr>
        <p:txBody>
          <a:bodyPr wrap="square" lIns="0" tIns="0" rIns="0" bIns="0" rtlCol="0">
            <a:noAutofit/>
          </a:bodyPr>
          <a:lstStyle/>
          <a:p>
            <a:r>
              <a:rPr lang="pt-PT" sz="1200" kern="0" dirty="0">
                <a:solidFill>
                  <a:srgbClr val="000000"/>
                </a:solidFill>
              </a:rPr>
              <a:t>Some </a:t>
            </a:r>
            <a:r>
              <a:rPr lang="pt-PT" sz="1200" kern="0" dirty="0" err="1">
                <a:solidFill>
                  <a:srgbClr val="000000"/>
                </a:solidFill>
              </a:rPr>
              <a:t>specific</a:t>
            </a:r>
            <a:r>
              <a:rPr lang="pt-PT" sz="1200" kern="0" dirty="0">
                <a:solidFill>
                  <a:srgbClr val="000000"/>
                </a:solidFill>
              </a:rPr>
              <a:t> </a:t>
            </a:r>
            <a:r>
              <a:rPr lang="pt-PT" sz="1200" kern="0" dirty="0" err="1">
                <a:solidFill>
                  <a:srgbClr val="000000"/>
                </a:solidFill>
              </a:rPr>
              <a:t>processing</a:t>
            </a:r>
            <a:r>
              <a:rPr lang="pt-PT" sz="1200" kern="0" dirty="0">
                <a:solidFill>
                  <a:srgbClr val="000000"/>
                </a:solidFill>
              </a:rPr>
              <a:t> steps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then</a:t>
            </a:r>
            <a:r>
              <a:rPr lang="pt-PT" sz="1200" kern="0" dirty="0">
                <a:solidFill>
                  <a:srgbClr val="000000"/>
                </a:solidFill>
              </a:rPr>
              <a:t> </a:t>
            </a:r>
            <a:r>
              <a:rPr lang="pt-PT" sz="1200" kern="0" dirty="0" err="1">
                <a:solidFill>
                  <a:srgbClr val="000000"/>
                </a:solidFill>
              </a:rPr>
              <a:t>applied</a:t>
            </a:r>
            <a:r>
              <a:rPr lang="pt-PT" sz="1200" kern="0" dirty="0">
                <a:solidFill>
                  <a:srgbClr val="000000"/>
                </a:solidFill>
              </a:rPr>
              <a:t> in some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scripts.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three</a:t>
            </a:r>
            <a:r>
              <a:rPr lang="pt-PT" sz="1200" kern="0" dirty="0">
                <a:solidFill>
                  <a:srgbClr val="000000"/>
                </a:solidFill>
              </a:rPr>
              <a:t> </a:t>
            </a:r>
            <a:r>
              <a:rPr lang="pt-PT" sz="1200" kern="0" dirty="0" err="1">
                <a:solidFill>
                  <a:srgbClr val="000000"/>
                </a:solidFill>
              </a:rPr>
              <a:t>datasets</a:t>
            </a:r>
            <a:r>
              <a:rPr lang="pt-PT" sz="1200" kern="0" dirty="0">
                <a:solidFill>
                  <a:srgbClr val="000000"/>
                </a:solidFill>
              </a:rPr>
              <a:t> </a:t>
            </a:r>
            <a:r>
              <a:rPr lang="pt-PT" sz="1200" kern="0" dirty="0" err="1">
                <a:solidFill>
                  <a:srgbClr val="000000"/>
                </a:solidFill>
              </a:rPr>
              <a:t>were</a:t>
            </a:r>
            <a:r>
              <a:rPr lang="pt-PT" sz="1200" kern="0" dirty="0">
                <a:solidFill>
                  <a:srgbClr val="000000"/>
                </a:solidFill>
              </a:rPr>
              <a:t> </a:t>
            </a:r>
            <a:r>
              <a:rPr lang="pt-PT" sz="1200" kern="0" dirty="0" err="1">
                <a:solidFill>
                  <a:srgbClr val="000000"/>
                </a:solidFill>
              </a:rPr>
              <a:t>missing</a:t>
            </a:r>
            <a:r>
              <a:rPr lang="pt-PT" sz="1200" kern="0" dirty="0">
                <a:solidFill>
                  <a:srgbClr val="000000"/>
                </a:solidFill>
              </a:rPr>
              <a:t> a </a:t>
            </a:r>
            <a:r>
              <a:rPr lang="pt-PT" sz="1200" kern="0" dirty="0" err="1">
                <a:solidFill>
                  <a:srgbClr val="000000"/>
                </a:solidFill>
              </a:rPr>
              <a:t>unique</a:t>
            </a:r>
            <a:r>
              <a:rPr lang="pt-PT" sz="1200" kern="0" dirty="0">
                <a:solidFill>
                  <a:srgbClr val="000000"/>
                </a:solidFill>
              </a:rPr>
              <a:t> </a:t>
            </a:r>
            <a:r>
              <a:rPr lang="pt-PT" sz="1200" kern="0" dirty="0" err="1">
                <a:solidFill>
                  <a:srgbClr val="000000"/>
                </a:solidFill>
              </a:rPr>
              <a:t>key</a:t>
            </a:r>
            <a:r>
              <a:rPr lang="pt-PT" sz="1200" kern="0" dirty="0">
                <a:solidFill>
                  <a:srgbClr val="000000"/>
                </a:solidFill>
              </a:rPr>
              <a:t> </a:t>
            </a:r>
            <a:r>
              <a:rPr lang="pt-PT" sz="1200" kern="0" dirty="0" err="1">
                <a:solidFill>
                  <a:srgbClr val="000000"/>
                </a:solidFill>
              </a:rPr>
              <a:t>that</a:t>
            </a:r>
            <a:r>
              <a:rPr lang="pt-PT" sz="1200" kern="0" dirty="0">
                <a:solidFill>
                  <a:srgbClr val="000000"/>
                </a:solidFill>
              </a:rPr>
              <a:t> </a:t>
            </a:r>
            <a:r>
              <a:rPr lang="pt-PT" sz="1200" kern="0" dirty="0" err="1">
                <a:solidFill>
                  <a:srgbClr val="000000"/>
                </a:solidFill>
              </a:rPr>
              <a:t>could</a:t>
            </a:r>
            <a:r>
              <a:rPr lang="pt-PT" sz="1200" kern="0" dirty="0">
                <a:solidFill>
                  <a:srgbClr val="000000"/>
                </a:solidFill>
              </a:rPr>
              <a:t> </a:t>
            </a:r>
            <a:r>
              <a:rPr lang="pt-PT" sz="1200" kern="0" dirty="0" err="1">
                <a:solidFill>
                  <a:srgbClr val="000000"/>
                </a:solidFill>
              </a:rPr>
              <a:t>be</a:t>
            </a:r>
            <a:r>
              <a:rPr lang="pt-PT" sz="1200" kern="0" dirty="0">
                <a:solidFill>
                  <a:srgbClr val="000000"/>
                </a:solidFill>
              </a:rPr>
              <a:t> </a:t>
            </a:r>
            <a:r>
              <a:rPr lang="pt-PT" sz="1200" kern="0" dirty="0" err="1">
                <a:solidFill>
                  <a:srgbClr val="000000"/>
                </a:solidFill>
              </a:rPr>
              <a:t>used</a:t>
            </a:r>
            <a:r>
              <a:rPr lang="pt-PT" sz="1200" kern="0" dirty="0">
                <a:solidFill>
                  <a:srgbClr val="000000"/>
                </a:solidFill>
              </a:rPr>
              <a:t> for </a:t>
            </a:r>
            <a:r>
              <a:rPr lang="pt-PT" sz="1200" kern="0" dirty="0" err="1">
                <a:solidFill>
                  <a:srgbClr val="000000"/>
                </a:solidFill>
              </a:rPr>
              <a:t>line</a:t>
            </a:r>
            <a:r>
              <a:rPr lang="pt-PT" sz="1200" kern="0" dirty="0">
                <a:solidFill>
                  <a:srgbClr val="000000"/>
                </a:solidFill>
              </a:rPr>
              <a:t> </a:t>
            </a:r>
            <a:r>
              <a:rPr lang="pt-PT" sz="1200" kern="0" dirty="0" err="1">
                <a:solidFill>
                  <a:srgbClr val="000000"/>
                </a:solidFill>
              </a:rPr>
              <a:t>identification</a:t>
            </a:r>
            <a:r>
              <a:rPr lang="pt-PT" sz="1200" kern="0" dirty="0">
                <a:solidFill>
                  <a:srgbClr val="000000"/>
                </a:solidFill>
              </a:rPr>
              <a:t>, </a:t>
            </a:r>
            <a:r>
              <a:rPr lang="pt-PT" sz="1200" kern="0" dirty="0" err="1">
                <a:solidFill>
                  <a:srgbClr val="000000"/>
                </a:solidFill>
              </a:rPr>
              <a:t>or</a:t>
            </a:r>
            <a:r>
              <a:rPr lang="pt-PT" sz="1200" kern="0" dirty="0">
                <a:solidFill>
                  <a:srgbClr val="000000"/>
                </a:solidFill>
              </a:rPr>
              <a:t> for </a:t>
            </a:r>
            <a:r>
              <a:rPr lang="pt-PT" sz="1200" kern="0" dirty="0" err="1">
                <a:solidFill>
                  <a:srgbClr val="000000"/>
                </a:solidFill>
              </a:rPr>
              <a:t>joining</a:t>
            </a:r>
            <a:r>
              <a:rPr lang="pt-PT" sz="1200" kern="0" dirty="0">
                <a:solidFill>
                  <a:srgbClr val="000000"/>
                </a:solidFill>
              </a:rPr>
              <a:t> </a:t>
            </a:r>
            <a:r>
              <a:rPr lang="pt-PT" sz="1200" kern="0" dirty="0" err="1">
                <a:solidFill>
                  <a:srgbClr val="000000"/>
                </a:solidFill>
              </a:rPr>
              <a:t>tables</a:t>
            </a:r>
            <a:r>
              <a:rPr lang="pt-PT" sz="1200" kern="0" dirty="0">
                <a:solidFill>
                  <a:srgbClr val="000000"/>
                </a:solidFill>
              </a:rPr>
              <a:t> later </a:t>
            </a:r>
            <a:r>
              <a:rPr lang="pt-PT" sz="1200" kern="0" dirty="0" err="1">
                <a:solidFill>
                  <a:srgbClr val="000000"/>
                </a:solidFill>
              </a:rPr>
              <a:t>on</a:t>
            </a:r>
            <a:r>
              <a:rPr lang="pt-PT" sz="1200" kern="0" dirty="0">
                <a:solidFill>
                  <a:srgbClr val="000000"/>
                </a:solidFill>
              </a:rPr>
              <a:t>.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with</a:t>
            </a:r>
            <a:r>
              <a:rPr lang="pt-PT" sz="1200" kern="0" dirty="0">
                <a:solidFill>
                  <a:srgbClr val="000000"/>
                </a:solidFill>
              </a:rPr>
              <a:t> </a:t>
            </a:r>
            <a:r>
              <a:rPr lang="pt-PT" sz="1200" kern="0" dirty="0" err="1">
                <a:solidFill>
                  <a:srgbClr val="000000"/>
                </a:solidFill>
              </a:rPr>
              <a:t>these</a:t>
            </a:r>
            <a:r>
              <a:rPr lang="pt-PT" sz="1200" kern="0" dirty="0">
                <a:solidFill>
                  <a:srgbClr val="000000"/>
                </a:solidFill>
              </a:rPr>
              <a:t> </a:t>
            </a:r>
            <a:r>
              <a:rPr lang="pt-PT" sz="1200" kern="0" dirty="0" err="1">
                <a:solidFill>
                  <a:srgbClr val="000000"/>
                </a:solidFill>
              </a:rPr>
              <a:t>transformations</a:t>
            </a:r>
            <a:r>
              <a:rPr lang="pt-PT" sz="1200" kern="0" dirty="0">
                <a:solidFill>
                  <a:srgbClr val="000000"/>
                </a:solidFill>
              </a:rPr>
              <a:t>, i </a:t>
            </a:r>
            <a:r>
              <a:rPr lang="pt-PT" sz="1200" kern="0" dirty="0" err="1">
                <a:solidFill>
                  <a:srgbClr val="000000"/>
                </a:solidFill>
              </a:rPr>
              <a:t>wanted</a:t>
            </a:r>
            <a:r>
              <a:rPr lang="pt-PT" sz="1200" kern="0" dirty="0">
                <a:solidFill>
                  <a:srgbClr val="000000"/>
                </a:solidFill>
              </a:rPr>
              <a:t> to </a:t>
            </a:r>
            <a:r>
              <a:rPr lang="pt-PT" sz="1200" kern="0" dirty="0" err="1">
                <a:solidFill>
                  <a:srgbClr val="000000"/>
                </a:solidFill>
              </a:rPr>
              <a:t>make</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MANUFACTURER, MODEL, MODEL YEAR,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unique</a:t>
            </a:r>
            <a:r>
              <a:rPr lang="pt-PT" sz="1200" kern="0" dirty="0">
                <a:solidFill>
                  <a:srgbClr val="000000"/>
                </a:solidFill>
              </a:rPr>
              <a:t> </a:t>
            </a:r>
            <a:r>
              <a:rPr lang="pt-PT" sz="1200" kern="0" dirty="0" err="1">
                <a:solidFill>
                  <a:srgbClr val="000000"/>
                </a:solidFill>
              </a:rPr>
              <a:t>key</a:t>
            </a:r>
            <a:r>
              <a:rPr lang="pt-PT" sz="1200" kern="0" dirty="0">
                <a:solidFill>
                  <a:srgbClr val="000000"/>
                </a:solidFill>
              </a:rPr>
              <a:t>.</a:t>
            </a:r>
          </a:p>
          <a:p>
            <a:endParaRPr lang="pt-PT" sz="1200" kern="0" dirty="0">
              <a:solidFill>
                <a:srgbClr val="000000"/>
              </a:solidFill>
            </a:endParaRPr>
          </a:p>
          <a:p>
            <a:r>
              <a:rPr lang="pt-PT" sz="1200" kern="0" dirty="0">
                <a:solidFill>
                  <a:srgbClr val="000000"/>
                </a:solidFill>
              </a:rPr>
              <a:t>For </a:t>
            </a:r>
            <a:r>
              <a:rPr lang="pt-PT" sz="1200" kern="0" dirty="0" err="1">
                <a:solidFill>
                  <a:srgbClr val="000000"/>
                </a:solidFill>
              </a:rPr>
              <a:t>that</a:t>
            </a:r>
            <a:r>
              <a:rPr lang="pt-PT" sz="1200" kern="0" dirty="0">
                <a:solidFill>
                  <a:srgbClr val="000000"/>
                </a:solidFill>
              </a:rPr>
              <a:t> i </a:t>
            </a:r>
            <a:r>
              <a:rPr lang="pt-PT" sz="1200" kern="0" dirty="0" err="1">
                <a:solidFill>
                  <a:srgbClr val="000000"/>
                </a:solidFill>
              </a:rPr>
              <a:t>performed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following</a:t>
            </a:r>
            <a:r>
              <a:rPr lang="pt-PT" sz="1200" kern="0" dirty="0">
                <a:solidFill>
                  <a:srgbClr val="000000"/>
                </a:solidFill>
              </a:rPr>
              <a:t> </a:t>
            </a:r>
            <a:r>
              <a:rPr lang="pt-PT" sz="1200" kern="0" dirty="0" err="1">
                <a:solidFill>
                  <a:srgbClr val="000000"/>
                </a:solidFill>
              </a:rPr>
              <a:t>transformations</a:t>
            </a:r>
            <a:r>
              <a:rPr lang="pt-PT" sz="1200" kern="0" dirty="0">
                <a:solidFill>
                  <a:srgbClr val="000000"/>
                </a:solidFill>
              </a:rPr>
              <a:t> for </a:t>
            </a:r>
            <a:r>
              <a:rPr lang="pt-PT" sz="1200" kern="0" dirty="0" err="1">
                <a:solidFill>
                  <a:srgbClr val="000000"/>
                </a:solidFill>
              </a:rPr>
              <a:t>each</a:t>
            </a:r>
            <a:r>
              <a:rPr lang="pt-PT" sz="1200" kern="0" dirty="0">
                <a:solidFill>
                  <a:srgbClr val="000000"/>
                </a:solidFill>
              </a:rPr>
              <a:t> script:</a:t>
            </a:r>
            <a:endParaRPr lang="de-DE" sz="1200" kern="0" dirty="0">
              <a:solidFill>
                <a:srgbClr val="000000"/>
              </a:solidFill>
            </a:endParaRPr>
          </a:p>
          <a:p>
            <a:endParaRPr lang="de-DE" sz="1200" kern="0" dirty="0">
              <a:solidFill>
                <a:srgbClr val="000000"/>
              </a:solidFill>
            </a:endParaRPr>
          </a:p>
          <a:p>
            <a:pPr marL="171450" indent="-171450">
              <a:buFontTx/>
              <a:buChar char="-"/>
            </a:pPr>
            <a:r>
              <a:rPr lang="de-DE" sz="1200" u="sng" kern="0" dirty="0">
                <a:solidFill>
                  <a:srgbClr val="000000"/>
                </a:solidFill>
              </a:rPr>
              <a:t>SilverAFDC</a:t>
            </a:r>
            <a:r>
              <a:rPr lang="de-DE" sz="1200" kern="0" dirty="0">
                <a:solidFill>
                  <a:srgbClr val="000000"/>
                </a:solidFill>
              </a:rPr>
              <a:t>: Converted the columns values from MANUFACTURER, MODEL and DRIVETRAIN, to uppercase, and moved the columns </a:t>
            </a:r>
            <a:r>
              <a:rPr lang="pt-PT" sz="1200" kern="0" dirty="0">
                <a:solidFill>
                  <a:srgbClr val="000000"/>
                </a:solidFill>
              </a:rPr>
              <a:t>MANUFACTURER, MODEL </a:t>
            </a:r>
            <a:r>
              <a:rPr lang="pt-PT" sz="1200" kern="0" dirty="0" err="1">
                <a:solidFill>
                  <a:srgbClr val="000000"/>
                </a:solidFill>
              </a:rPr>
              <a:t>and</a:t>
            </a:r>
            <a:r>
              <a:rPr lang="pt-PT" sz="1200" kern="0" dirty="0">
                <a:solidFill>
                  <a:srgbClr val="000000"/>
                </a:solidFill>
              </a:rPr>
              <a:t> MODEL YEAR to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beggining</a:t>
            </a:r>
            <a:r>
              <a:rPr lang="pt-PT" sz="1200" kern="0" dirty="0">
                <a:solidFill>
                  <a:srgbClr val="000000"/>
                </a:solidFill>
              </a:rPr>
              <a:t>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a:t>
            </a:r>
            <a:r>
              <a:rPr lang="pt-PT" sz="1200" kern="0" dirty="0" err="1">
                <a:solidFill>
                  <a:srgbClr val="000000"/>
                </a:solidFill>
              </a:rPr>
              <a:t>since</a:t>
            </a:r>
            <a:r>
              <a:rPr lang="pt-PT" sz="1200" kern="0" dirty="0">
                <a:solidFill>
                  <a:srgbClr val="000000"/>
                </a:solidFill>
              </a:rPr>
              <a:t> </a:t>
            </a:r>
            <a:r>
              <a:rPr lang="pt-PT" sz="1200" kern="0" dirty="0" err="1">
                <a:solidFill>
                  <a:srgbClr val="000000"/>
                </a:solidFill>
              </a:rPr>
              <a:t>these</a:t>
            </a:r>
            <a:r>
              <a:rPr lang="pt-PT" sz="1200" kern="0" dirty="0">
                <a:solidFill>
                  <a:srgbClr val="000000"/>
                </a:solidFill>
              </a:rPr>
              <a:t> </a:t>
            </a:r>
            <a:r>
              <a:rPr lang="pt-PT" sz="1200" kern="0" dirty="0" err="1">
                <a:solidFill>
                  <a:srgbClr val="000000"/>
                </a:solidFill>
              </a:rPr>
              <a:t>made</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unique</a:t>
            </a:r>
            <a:r>
              <a:rPr lang="pt-PT" sz="1200" kern="0" dirty="0">
                <a:solidFill>
                  <a:srgbClr val="000000"/>
                </a:solidFill>
              </a:rPr>
              <a:t> </a:t>
            </a:r>
            <a:r>
              <a:rPr lang="pt-PT" sz="1200" kern="0" dirty="0" err="1">
                <a:solidFill>
                  <a:srgbClr val="000000"/>
                </a:solidFill>
              </a:rPr>
              <a:t>key</a:t>
            </a:r>
            <a:r>
              <a:rPr lang="pt-PT" sz="1200" kern="0" dirty="0">
                <a:solidFill>
                  <a:srgbClr val="000000"/>
                </a:solidFill>
              </a:rPr>
              <a:t>. (DRIVETRAIN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mentioned</a:t>
            </a:r>
            <a:r>
              <a:rPr lang="pt-PT" sz="1200" kern="0" dirty="0">
                <a:solidFill>
                  <a:srgbClr val="000000"/>
                </a:solidFill>
              </a:rPr>
              <a:t> </a:t>
            </a:r>
            <a:r>
              <a:rPr lang="pt-PT" sz="1200" kern="0" dirty="0" err="1">
                <a:solidFill>
                  <a:srgbClr val="000000"/>
                </a:solidFill>
              </a:rPr>
              <a:t>because</a:t>
            </a:r>
            <a:r>
              <a:rPr lang="pt-PT" sz="1200" kern="0" dirty="0">
                <a:solidFill>
                  <a:srgbClr val="000000"/>
                </a:solidFill>
              </a:rPr>
              <a:t>, </a:t>
            </a:r>
            <a:r>
              <a:rPr lang="pt-PT" sz="1200" kern="0" dirty="0" err="1">
                <a:solidFill>
                  <a:srgbClr val="000000"/>
                </a:solidFill>
              </a:rPr>
              <a:t>at</a:t>
            </a:r>
            <a:r>
              <a:rPr lang="pt-PT" sz="1200" kern="0" dirty="0">
                <a:solidFill>
                  <a:srgbClr val="000000"/>
                </a:solidFill>
              </a:rPr>
              <a:t> </a:t>
            </a:r>
            <a:r>
              <a:rPr lang="pt-PT" sz="1200" kern="0" dirty="0" err="1">
                <a:solidFill>
                  <a:srgbClr val="000000"/>
                </a:solidFill>
              </a:rPr>
              <a:t>first</a:t>
            </a:r>
            <a:r>
              <a:rPr lang="pt-PT" sz="1200" kern="0" dirty="0">
                <a:solidFill>
                  <a:srgbClr val="000000"/>
                </a:solidFill>
              </a:rPr>
              <a:t>,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t>
            </a:r>
            <a:r>
              <a:rPr lang="pt-PT" sz="1200" kern="0" dirty="0" err="1">
                <a:solidFill>
                  <a:srgbClr val="000000"/>
                </a:solidFill>
              </a:rPr>
              <a:t>going</a:t>
            </a:r>
            <a:r>
              <a:rPr lang="pt-PT" sz="1200" kern="0" dirty="0">
                <a:solidFill>
                  <a:srgbClr val="000000"/>
                </a:solidFill>
              </a:rPr>
              <a:t> to </a:t>
            </a:r>
            <a:r>
              <a:rPr lang="pt-PT" sz="1200" kern="0" dirty="0" err="1">
                <a:solidFill>
                  <a:srgbClr val="000000"/>
                </a:solidFill>
              </a:rPr>
              <a:t>be</a:t>
            </a:r>
            <a:r>
              <a:rPr lang="pt-PT" sz="1200" kern="0" dirty="0">
                <a:solidFill>
                  <a:srgbClr val="000000"/>
                </a:solidFill>
              </a:rPr>
              <a:t> </a:t>
            </a:r>
            <a:r>
              <a:rPr lang="pt-PT" sz="1200" kern="0" dirty="0" err="1">
                <a:solidFill>
                  <a:srgbClr val="000000"/>
                </a:solidFill>
              </a:rPr>
              <a:t>added</a:t>
            </a:r>
            <a:r>
              <a:rPr lang="pt-PT" sz="1200" kern="0" dirty="0">
                <a:solidFill>
                  <a:srgbClr val="000000"/>
                </a:solidFill>
              </a:rPr>
              <a:t> to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unique</a:t>
            </a:r>
            <a:r>
              <a:rPr lang="pt-PT" sz="1200" kern="0" dirty="0">
                <a:solidFill>
                  <a:srgbClr val="000000"/>
                </a:solidFill>
              </a:rPr>
              <a:t> </a:t>
            </a:r>
            <a:r>
              <a:rPr lang="pt-PT" sz="1200" kern="0" dirty="0" err="1">
                <a:solidFill>
                  <a:srgbClr val="000000"/>
                </a:solidFill>
              </a:rPr>
              <a:t>key</a:t>
            </a:r>
            <a:r>
              <a:rPr lang="pt-PT" sz="1200" kern="0" dirty="0">
                <a:solidFill>
                  <a:srgbClr val="000000"/>
                </a:solidFill>
              </a:rPr>
              <a:t>, </a:t>
            </a:r>
            <a:r>
              <a:rPr lang="pt-PT" sz="1200" kern="0" dirty="0" err="1">
                <a:solidFill>
                  <a:srgbClr val="000000"/>
                </a:solidFill>
              </a:rPr>
              <a:t>but</a:t>
            </a:r>
            <a:r>
              <a:rPr lang="pt-PT" sz="1200" kern="0" dirty="0">
                <a:solidFill>
                  <a:srgbClr val="000000"/>
                </a:solidFill>
              </a:rPr>
              <a:t> </a:t>
            </a:r>
            <a:r>
              <a:rPr lang="pt-PT" sz="1200" kern="0" dirty="0" err="1">
                <a:solidFill>
                  <a:srgbClr val="000000"/>
                </a:solidFill>
              </a:rPr>
              <a:t>latter</a:t>
            </a:r>
            <a:r>
              <a:rPr lang="pt-PT" sz="1200" kern="0" dirty="0">
                <a:solidFill>
                  <a:srgbClr val="000000"/>
                </a:solidFill>
              </a:rPr>
              <a:t> </a:t>
            </a:r>
            <a:r>
              <a:rPr lang="pt-PT" sz="1200" kern="0" dirty="0" err="1">
                <a:solidFill>
                  <a:srgbClr val="000000"/>
                </a:solidFill>
              </a:rPr>
              <a:t>on</a:t>
            </a:r>
            <a:r>
              <a:rPr lang="pt-PT" sz="1200" kern="0" dirty="0">
                <a:solidFill>
                  <a:srgbClr val="000000"/>
                </a:solidFill>
              </a:rPr>
              <a:t>, i </a:t>
            </a:r>
            <a:r>
              <a:rPr lang="pt-PT" sz="1200" kern="0" dirty="0" err="1">
                <a:solidFill>
                  <a:srgbClr val="000000"/>
                </a:solidFill>
              </a:rPr>
              <a:t>stopped</a:t>
            </a:r>
            <a:r>
              <a:rPr lang="pt-PT" sz="1200" kern="0" dirty="0">
                <a:solidFill>
                  <a:srgbClr val="000000"/>
                </a:solidFill>
              </a:rPr>
              <a:t> </a:t>
            </a:r>
            <a:r>
              <a:rPr lang="pt-PT" sz="1200" kern="0" dirty="0" err="1">
                <a:solidFill>
                  <a:srgbClr val="000000"/>
                </a:solidFill>
              </a:rPr>
              <a:t>finding</a:t>
            </a:r>
            <a:r>
              <a:rPr lang="pt-PT" sz="1200" kern="0" dirty="0">
                <a:solidFill>
                  <a:srgbClr val="000000"/>
                </a:solidFill>
              </a:rPr>
              <a:t> </a:t>
            </a:r>
            <a:r>
              <a:rPr lang="pt-PT" sz="1200" kern="0" dirty="0" err="1">
                <a:solidFill>
                  <a:srgbClr val="000000"/>
                </a:solidFill>
              </a:rPr>
              <a:t>it</a:t>
            </a:r>
            <a:r>
              <a:rPr lang="pt-PT" sz="1200" kern="0" dirty="0">
                <a:solidFill>
                  <a:srgbClr val="000000"/>
                </a:solidFill>
              </a:rPr>
              <a:t> </a:t>
            </a:r>
            <a:r>
              <a:rPr lang="pt-PT" sz="1200" kern="0" dirty="0" err="1">
                <a:solidFill>
                  <a:srgbClr val="000000"/>
                </a:solidFill>
              </a:rPr>
              <a:t>decisive</a:t>
            </a:r>
            <a:r>
              <a:rPr lang="pt-PT" sz="1200" kern="0" dirty="0">
                <a:solidFill>
                  <a:srgbClr val="000000"/>
                </a:solidFill>
              </a:rPr>
              <a:t>. I </a:t>
            </a:r>
            <a:r>
              <a:rPr lang="pt-PT" sz="1200" kern="0" dirty="0" err="1">
                <a:solidFill>
                  <a:srgbClr val="000000"/>
                </a:solidFill>
              </a:rPr>
              <a:t>didn’t</a:t>
            </a:r>
            <a:r>
              <a:rPr lang="pt-PT" sz="1200" kern="0" dirty="0">
                <a:solidFill>
                  <a:srgbClr val="000000"/>
                </a:solidFill>
              </a:rPr>
              <a:t> remove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processing</a:t>
            </a:r>
            <a:r>
              <a:rPr lang="pt-PT" sz="1200" kern="0" dirty="0">
                <a:solidFill>
                  <a:srgbClr val="000000"/>
                </a:solidFill>
              </a:rPr>
              <a:t>, </a:t>
            </a:r>
            <a:r>
              <a:rPr lang="pt-PT" sz="1200" kern="0" dirty="0" err="1">
                <a:solidFill>
                  <a:srgbClr val="000000"/>
                </a:solidFill>
              </a:rPr>
              <a:t>since</a:t>
            </a:r>
            <a:r>
              <a:rPr lang="pt-PT" sz="1200" kern="0" dirty="0">
                <a:solidFill>
                  <a:srgbClr val="000000"/>
                </a:solidFill>
              </a:rPr>
              <a:t> </a:t>
            </a:r>
            <a:r>
              <a:rPr lang="pt-PT" sz="1200" kern="0" dirty="0" err="1">
                <a:solidFill>
                  <a:srgbClr val="000000"/>
                </a:solidFill>
              </a:rPr>
              <a:t>it</a:t>
            </a:r>
            <a:r>
              <a:rPr lang="pt-PT" sz="1200" kern="0" dirty="0">
                <a:solidFill>
                  <a:srgbClr val="000000"/>
                </a:solidFill>
              </a:rPr>
              <a:t> </a:t>
            </a:r>
            <a:r>
              <a:rPr lang="pt-PT" sz="1200" kern="0" dirty="0" err="1">
                <a:solidFill>
                  <a:srgbClr val="000000"/>
                </a:solidFill>
              </a:rPr>
              <a:t>could</a:t>
            </a:r>
            <a:r>
              <a:rPr lang="pt-PT" sz="1200" kern="0" dirty="0">
                <a:solidFill>
                  <a:srgbClr val="000000"/>
                </a:solidFill>
              </a:rPr>
              <a:t> </a:t>
            </a:r>
            <a:r>
              <a:rPr lang="pt-PT" sz="1200" kern="0" dirty="0" err="1">
                <a:solidFill>
                  <a:srgbClr val="000000"/>
                </a:solidFill>
              </a:rPr>
              <a:t>still</a:t>
            </a:r>
            <a:r>
              <a:rPr lang="pt-PT" sz="1200" kern="0" dirty="0">
                <a:solidFill>
                  <a:srgbClr val="000000"/>
                </a:solidFill>
              </a:rPr>
              <a:t> </a:t>
            </a:r>
            <a:r>
              <a:rPr lang="pt-PT" sz="1200" kern="0" dirty="0" err="1">
                <a:solidFill>
                  <a:srgbClr val="000000"/>
                </a:solidFill>
              </a:rPr>
              <a:t>be</a:t>
            </a:r>
            <a:r>
              <a:rPr lang="pt-PT" sz="1200" kern="0" dirty="0">
                <a:solidFill>
                  <a:srgbClr val="000000"/>
                </a:solidFill>
              </a:rPr>
              <a:t> </a:t>
            </a:r>
            <a:r>
              <a:rPr lang="pt-PT" sz="1200" kern="0" dirty="0" err="1">
                <a:solidFill>
                  <a:srgbClr val="000000"/>
                </a:solidFill>
              </a:rPr>
              <a:t>of</a:t>
            </a:r>
            <a:r>
              <a:rPr lang="pt-PT" sz="1200" kern="0" dirty="0">
                <a:solidFill>
                  <a:srgbClr val="000000"/>
                </a:solidFill>
              </a:rPr>
              <a:t> use).</a:t>
            </a:r>
            <a:br>
              <a:rPr lang="pt-PT" sz="1200" kern="0" dirty="0">
                <a:solidFill>
                  <a:srgbClr val="000000"/>
                </a:solidFill>
              </a:rPr>
            </a:br>
            <a:endParaRPr lang="pt-PT" sz="1200" kern="0" dirty="0">
              <a:solidFill>
                <a:srgbClr val="000000"/>
              </a:solidFill>
            </a:endParaRPr>
          </a:p>
          <a:p>
            <a:pPr marL="171450" indent="-171450">
              <a:buFontTx/>
              <a:buChar char="-"/>
            </a:pPr>
            <a:r>
              <a:rPr lang="pt-PT" sz="1200" u="sng" kern="0" dirty="0" err="1">
                <a:solidFill>
                  <a:srgbClr val="000000"/>
                </a:solidFill>
              </a:rPr>
              <a:t>SilverNHTSA</a:t>
            </a:r>
            <a:r>
              <a:rPr lang="pt-PT" sz="1200" kern="0" dirty="0">
                <a:solidFill>
                  <a:srgbClr val="000000"/>
                </a:solidFill>
              </a:rPr>
              <a:t>: </a:t>
            </a:r>
            <a:r>
              <a:rPr lang="de-DE" sz="1200" kern="0" dirty="0">
                <a:solidFill>
                  <a:srgbClr val="000000"/>
                </a:solidFill>
              </a:rPr>
              <a:t>Converted the columns values from MODEL, MAKE and DRIVE_TRAIN, to uppercase</a:t>
            </a:r>
            <a:r>
              <a:rPr lang="pt-PT" sz="1200" kern="0" dirty="0">
                <a:solidFill>
                  <a:srgbClr val="000000"/>
                </a:solidFill>
              </a:rPr>
              <a:t>. </a:t>
            </a:r>
            <a:r>
              <a:rPr lang="pt-PT" sz="1200" kern="0" dirty="0" err="1">
                <a:solidFill>
                  <a:srgbClr val="000000"/>
                </a:solidFill>
              </a:rPr>
              <a:t>Renamed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MAKE, DRIVE_TRAIN </a:t>
            </a:r>
            <a:r>
              <a:rPr lang="pt-PT" sz="1200" kern="0" dirty="0" err="1">
                <a:solidFill>
                  <a:srgbClr val="000000"/>
                </a:solidFill>
              </a:rPr>
              <a:t>and</a:t>
            </a:r>
            <a:r>
              <a:rPr lang="pt-PT" sz="1200" kern="0" dirty="0">
                <a:solidFill>
                  <a:srgbClr val="000000"/>
                </a:solidFill>
              </a:rPr>
              <a:t> MODEL_YR to MANUFACTURER, DRIVETRAIN </a:t>
            </a:r>
            <a:r>
              <a:rPr lang="pt-PT" sz="1200" kern="0" dirty="0" err="1">
                <a:solidFill>
                  <a:srgbClr val="000000"/>
                </a:solidFill>
              </a:rPr>
              <a:t>and</a:t>
            </a:r>
            <a:r>
              <a:rPr lang="pt-PT" sz="1200" kern="0" dirty="0">
                <a:solidFill>
                  <a:srgbClr val="000000"/>
                </a:solidFill>
              </a:rPr>
              <a:t> MODEL_YEAR </a:t>
            </a:r>
            <a:r>
              <a:rPr lang="pt-PT" sz="1200" kern="0" dirty="0" err="1">
                <a:solidFill>
                  <a:srgbClr val="000000"/>
                </a:solidFill>
              </a:rPr>
              <a:t>respectively</a:t>
            </a:r>
            <a:r>
              <a:rPr lang="pt-PT" sz="1200" kern="0" dirty="0">
                <a:solidFill>
                  <a:srgbClr val="000000"/>
                </a:solidFill>
              </a:rPr>
              <a:t>. </a:t>
            </a:r>
            <a:r>
              <a:rPr lang="pt-PT" sz="1200" kern="0" dirty="0" err="1">
                <a:solidFill>
                  <a:srgbClr val="000000"/>
                </a:solidFill>
              </a:rPr>
              <a:t>Then</a:t>
            </a:r>
            <a:r>
              <a:rPr lang="pt-PT" sz="1200" kern="0" dirty="0">
                <a:solidFill>
                  <a:srgbClr val="000000"/>
                </a:solidFill>
              </a:rPr>
              <a:t>, i </a:t>
            </a:r>
            <a:r>
              <a:rPr lang="pt-PT" sz="1200" kern="0" dirty="0" err="1">
                <a:solidFill>
                  <a:srgbClr val="000000"/>
                </a:solidFill>
              </a:rPr>
              <a:t>mapped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DRIVETRAIN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they</a:t>
            </a:r>
            <a:r>
              <a:rPr lang="pt-PT" sz="1200" kern="0" dirty="0">
                <a:solidFill>
                  <a:srgbClr val="000000"/>
                </a:solidFill>
              </a:rPr>
              <a:t> </a:t>
            </a:r>
            <a:r>
              <a:rPr lang="pt-PT" sz="1200" kern="0" dirty="0" err="1">
                <a:solidFill>
                  <a:srgbClr val="000000"/>
                </a:solidFill>
              </a:rPr>
              <a:t>could</a:t>
            </a:r>
            <a:r>
              <a:rPr lang="pt-PT" sz="1200" kern="0" dirty="0">
                <a:solidFill>
                  <a:srgbClr val="000000"/>
                </a:solidFill>
              </a:rPr>
              <a:t> </a:t>
            </a:r>
            <a:r>
              <a:rPr lang="pt-PT" sz="1200" kern="0" dirty="0" err="1">
                <a:solidFill>
                  <a:srgbClr val="000000"/>
                </a:solidFill>
              </a:rPr>
              <a:t>be</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same</a:t>
            </a:r>
            <a:r>
              <a:rPr lang="pt-PT" sz="1200" kern="0" dirty="0">
                <a:solidFill>
                  <a:srgbClr val="000000"/>
                </a:solidFill>
              </a:rPr>
              <a:t> as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SIlverAFDC</a:t>
            </a:r>
            <a:r>
              <a:rPr lang="pt-PT" sz="1200" kern="0" dirty="0">
                <a:solidFill>
                  <a:srgbClr val="000000"/>
                </a:solidFill>
              </a:rPr>
              <a:t>. </a:t>
            </a:r>
            <a:r>
              <a:rPr lang="pt-PT" sz="1200" kern="0" dirty="0" err="1">
                <a:solidFill>
                  <a:srgbClr val="000000"/>
                </a:solidFill>
              </a:rPr>
              <a:t>Finally</a:t>
            </a:r>
            <a:r>
              <a:rPr lang="pt-PT" sz="1200" kern="0" dirty="0">
                <a:solidFill>
                  <a:srgbClr val="000000"/>
                </a:solidFill>
              </a:rPr>
              <a:t>, i </a:t>
            </a:r>
            <a:r>
              <a:rPr lang="en-US" sz="1200" kern="0" dirty="0">
                <a:solidFill>
                  <a:srgbClr val="000000"/>
                </a:solidFill>
              </a:rPr>
              <a:t>moved the columns MANUFACTURER, MODEL and MODEL YEAR to the </a:t>
            </a:r>
            <a:r>
              <a:rPr lang="en-US" sz="1200" kern="0" dirty="0" err="1">
                <a:solidFill>
                  <a:srgbClr val="000000"/>
                </a:solidFill>
              </a:rPr>
              <a:t>beggining</a:t>
            </a:r>
            <a:r>
              <a:rPr lang="en-US" sz="1200" kern="0" dirty="0">
                <a:solidFill>
                  <a:srgbClr val="000000"/>
                </a:solidFill>
              </a:rPr>
              <a:t> of the table.</a:t>
            </a:r>
          </a:p>
          <a:p>
            <a:pPr marL="171450" indent="-171450">
              <a:buFontTx/>
              <a:buChar char="-"/>
            </a:pPr>
            <a:endParaRPr lang="en-US" sz="1200" kern="0" dirty="0">
              <a:solidFill>
                <a:srgbClr val="000000"/>
              </a:solidFill>
            </a:endParaRPr>
          </a:p>
          <a:p>
            <a:pPr marL="171450" indent="-171450">
              <a:buFontTx/>
              <a:buChar char="-"/>
            </a:pPr>
            <a:r>
              <a:rPr lang="en-US" sz="1200" u="sng" kern="0" dirty="0" err="1">
                <a:solidFill>
                  <a:srgbClr val="000000"/>
                </a:solidFill>
              </a:rPr>
              <a:t>SilverFuelEconomy</a:t>
            </a:r>
            <a:r>
              <a:rPr lang="en-US" sz="1200" kern="0" dirty="0">
                <a:solidFill>
                  <a:srgbClr val="000000"/>
                </a:solidFill>
              </a:rPr>
              <a:t>: </a:t>
            </a:r>
            <a:r>
              <a:rPr lang="de-DE" sz="1200" kern="0" dirty="0">
                <a:solidFill>
                  <a:srgbClr val="000000"/>
                </a:solidFill>
              </a:rPr>
              <a:t>Converted the columns values from MODEL, MAKE and DRIVE, to uppercase</a:t>
            </a:r>
            <a:r>
              <a:rPr lang="pt-PT" sz="1200" kern="0" dirty="0">
                <a:solidFill>
                  <a:srgbClr val="000000"/>
                </a:solidFill>
              </a:rPr>
              <a:t>. </a:t>
            </a:r>
            <a:r>
              <a:rPr lang="pt-PT" sz="1200" kern="0" dirty="0" err="1">
                <a:solidFill>
                  <a:srgbClr val="000000"/>
                </a:solidFill>
              </a:rPr>
              <a:t>Renamed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MAKE, DRIVE </a:t>
            </a:r>
            <a:r>
              <a:rPr lang="pt-PT" sz="1200" kern="0" dirty="0" err="1">
                <a:solidFill>
                  <a:srgbClr val="000000"/>
                </a:solidFill>
              </a:rPr>
              <a:t>and</a:t>
            </a:r>
            <a:r>
              <a:rPr lang="pt-PT" sz="1200" kern="0" dirty="0">
                <a:solidFill>
                  <a:srgbClr val="000000"/>
                </a:solidFill>
              </a:rPr>
              <a:t> YEAR to MANUFACTURER, DRIVETRAIN </a:t>
            </a:r>
            <a:r>
              <a:rPr lang="pt-PT" sz="1200" kern="0" dirty="0" err="1">
                <a:solidFill>
                  <a:srgbClr val="000000"/>
                </a:solidFill>
              </a:rPr>
              <a:t>and</a:t>
            </a:r>
            <a:r>
              <a:rPr lang="pt-PT" sz="1200" kern="0" dirty="0">
                <a:solidFill>
                  <a:srgbClr val="000000"/>
                </a:solidFill>
              </a:rPr>
              <a:t> MODEL_YEAR </a:t>
            </a:r>
            <a:r>
              <a:rPr lang="pt-PT" sz="1200" kern="0" dirty="0" err="1">
                <a:solidFill>
                  <a:srgbClr val="000000"/>
                </a:solidFill>
              </a:rPr>
              <a:t>respectively</a:t>
            </a:r>
            <a:r>
              <a:rPr lang="pt-PT" sz="1200" kern="0" dirty="0">
                <a:solidFill>
                  <a:srgbClr val="000000"/>
                </a:solidFill>
              </a:rPr>
              <a:t>. </a:t>
            </a:r>
            <a:r>
              <a:rPr lang="pt-PT" sz="1200" kern="0" dirty="0" err="1">
                <a:solidFill>
                  <a:srgbClr val="000000"/>
                </a:solidFill>
              </a:rPr>
              <a:t>Then</a:t>
            </a:r>
            <a:r>
              <a:rPr lang="pt-PT" sz="1200" kern="0" dirty="0">
                <a:solidFill>
                  <a:srgbClr val="000000"/>
                </a:solidFill>
              </a:rPr>
              <a:t>, i </a:t>
            </a:r>
            <a:r>
              <a:rPr lang="pt-PT" sz="1200" kern="0" dirty="0" err="1">
                <a:solidFill>
                  <a:srgbClr val="000000"/>
                </a:solidFill>
              </a:rPr>
              <a:t>mapped</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column</a:t>
            </a:r>
            <a:r>
              <a:rPr lang="pt-PT" sz="1200" kern="0" dirty="0">
                <a:solidFill>
                  <a:srgbClr val="000000"/>
                </a:solidFill>
              </a:rPr>
              <a:t> DRIVETRAIN </a:t>
            </a:r>
            <a:r>
              <a:rPr lang="pt-PT" sz="1200" kern="0" dirty="0" err="1">
                <a:solidFill>
                  <a:srgbClr val="000000"/>
                </a:solidFill>
              </a:rPr>
              <a:t>so</a:t>
            </a:r>
            <a:r>
              <a:rPr lang="pt-PT" sz="1200" kern="0" dirty="0">
                <a:solidFill>
                  <a:srgbClr val="000000"/>
                </a:solidFill>
              </a:rPr>
              <a:t> </a:t>
            </a:r>
            <a:r>
              <a:rPr lang="pt-PT" sz="1200" kern="0" dirty="0" err="1">
                <a:solidFill>
                  <a:srgbClr val="000000"/>
                </a:solidFill>
              </a:rPr>
              <a:t>they</a:t>
            </a:r>
            <a:r>
              <a:rPr lang="pt-PT" sz="1200" kern="0" dirty="0">
                <a:solidFill>
                  <a:srgbClr val="000000"/>
                </a:solidFill>
              </a:rPr>
              <a:t> </a:t>
            </a:r>
            <a:r>
              <a:rPr lang="pt-PT" sz="1200" kern="0" dirty="0" err="1">
                <a:solidFill>
                  <a:srgbClr val="000000"/>
                </a:solidFill>
              </a:rPr>
              <a:t>could</a:t>
            </a:r>
            <a:r>
              <a:rPr lang="pt-PT" sz="1200" kern="0" dirty="0">
                <a:solidFill>
                  <a:srgbClr val="000000"/>
                </a:solidFill>
              </a:rPr>
              <a:t> </a:t>
            </a:r>
            <a:r>
              <a:rPr lang="pt-PT" sz="1200" kern="0" dirty="0" err="1">
                <a:solidFill>
                  <a:srgbClr val="000000"/>
                </a:solidFill>
              </a:rPr>
              <a:t>be</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same</a:t>
            </a:r>
            <a:r>
              <a:rPr lang="pt-PT" sz="1200" kern="0" dirty="0">
                <a:solidFill>
                  <a:srgbClr val="000000"/>
                </a:solidFill>
              </a:rPr>
              <a:t> as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values</a:t>
            </a:r>
            <a:r>
              <a:rPr lang="pt-PT" sz="1200" kern="0" dirty="0">
                <a:solidFill>
                  <a:srgbClr val="000000"/>
                </a:solidFill>
              </a:rPr>
              <a:t>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SIlverAFDC</a:t>
            </a:r>
            <a:r>
              <a:rPr lang="pt-PT" sz="1200" kern="0" dirty="0">
                <a:solidFill>
                  <a:srgbClr val="000000"/>
                </a:solidFill>
              </a:rPr>
              <a:t>. </a:t>
            </a:r>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a:t>
            </a:r>
            <a:r>
              <a:rPr lang="pt-PT" sz="1200" kern="0" dirty="0" err="1">
                <a:solidFill>
                  <a:srgbClr val="000000"/>
                </a:solidFill>
              </a:rPr>
              <a:t>had</a:t>
            </a:r>
            <a:r>
              <a:rPr lang="pt-PT" sz="1200" kern="0" dirty="0">
                <a:solidFill>
                  <a:srgbClr val="000000"/>
                </a:solidFill>
              </a:rPr>
              <a:t> a </a:t>
            </a:r>
            <a:r>
              <a:rPr lang="pt-PT" sz="1200" kern="0" dirty="0" err="1">
                <a:solidFill>
                  <a:srgbClr val="000000"/>
                </a:solidFill>
              </a:rPr>
              <a:t>vehicle</a:t>
            </a:r>
            <a:r>
              <a:rPr lang="pt-PT" sz="1200" kern="0" dirty="0">
                <a:solidFill>
                  <a:srgbClr val="000000"/>
                </a:solidFill>
              </a:rPr>
              <a:t> ID </a:t>
            </a:r>
            <a:r>
              <a:rPr lang="pt-PT" sz="1200" kern="0" dirty="0" err="1">
                <a:solidFill>
                  <a:srgbClr val="000000"/>
                </a:solidFill>
              </a:rPr>
              <a:t>column</a:t>
            </a:r>
            <a:r>
              <a:rPr lang="pt-PT" sz="1200" kern="0" dirty="0">
                <a:solidFill>
                  <a:srgbClr val="000000"/>
                </a:solidFill>
              </a:rPr>
              <a:t> </a:t>
            </a:r>
            <a:r>
              <a:rPr lang="pt-PT" sz="1200" kern="0" dirty="0" err="1">
                <a:solidFill>
                  <a:srgbClr val="000000"/>
                </a:solidFill>
              </a:rPr>
              <a:t>that</a:t>
            </a:r>
            <a:r>
              <a:rPr lang="pt-PT" sz="1200" kern="0" dirty="0">
                <a:solidFill>
                  <a:srgbClr val="000000"/>
                </a:solidFill>
              </a:rPr>
              <a:t> i </a:t>
            </a:r>
            <a:r>
              <a:rPr lang="pt-PT" sz="1200" kern="0" dirty="0" err="1">
                <a:solidFill>
                  <a:srgbClr val="000000"/>
                </a:solidFill>
              </a:rPr>
              <a:t>converted</a:t>
            </a:r>
            <a:r>
              <a:rPr lang="pt-PT" sz="1200" kern="0" dirty="0">
                <a:solidFill>
                  <a:srgbClr val="000000"/>
                </a:solidFill>
              </a:rPr>
              <a:t> to </a:t>
            </a:r>
            <a:r>
              <a:rPr lang="pt-PT" sz="1200" kern="0" dirty="0" err="1">
                <a:solidFill>
                  <a:srgbClr val="000000"/>
                </a:solidFill>
              </a:rPr>
              <a:t>string</a:t>
            </a:r>
            <a:r>
              <a:rPr lang="pt-PT" sz="1200" kern="0" dirty="0">
                <a:solidFill>
                  <a:srgbClr val="000000"/>
                </a:solidFill>
              </a:rPr>
              <a:t>. </a:t>
            </a:r>
            <a:r>
              <a:rPr lang="pt-PT" sz="1200" kern="0" dirty="0" err="1">
                <a:solidFill>
                  <a:srgbClr val="000000"/>
                </a:solidFill>
              </a:rPr>
              <a:t>Finally</a:t>
            </a:r>
            <a:r>
              <a:rPr lang="pt-PT" sz="1200" kern="0" dirty="0">
                <a:solidFill>
                  <a:srgbClr val="000000"/>
                </a:solidFill>
              </a:rPr>
              <a:t>, i </a:t>
            </a:r>
            <a:r>
              <a:rPr lang="en-US" sz="1200" kern="0" dirty="0">
                <a:solidFill>
                  <a:srgbClr val="000000"/>
                </a:solidFill>
              </a:rPr>
              <a:t>moved the columns MANUFACTURER, MODEL and MODEL YEAR to the </a:t>
            </a:r>
            <a:r>
              <a:rPr lang="en-US" sz="1200" kern="0" dirty="0" err="1">
                <a:solidFill>
                  <a:srgbClr val="000000"/>
                </a:solidFill>
              </a:rPr>
              <a:t>beggining</a:t>
            </a:r>
            <a:r>
              <a:rPr lang="en-US" sz="1200" kern="0" dirty="0">
                <a:solidFill>
                  <a:srgbClr val="000000"/>
                </a:solidFill>
              </a:rPr>
              <a:t> of the table.</a:t>
            </a:r>
          </a:p>
          <a:p>
            <a:pPr marL="171450" indent="-171450">
              <a:buFontTx/>
              <a:buChar char="-"/>
            </a:pPr>
            <a:endParaRPr lang="pt-PT" sz="1200" kern="0" dirty="0">
              <a:solidFill>
                <a:srgbClr val="000000"/>
              </a:solidFill>
            </a:endParaRPr>
          </a:p>
        </p:txBody>
      </p:sp>
      <p:sp>
        <p:nvSpPr>
          <p:cNvPr id="4" name="Textfeld 8">
            <a:extLst>
              <a:ext uri="{FF2B5EF4-FFF2-40B4-BE49-F238E27FC236}">
                <a16:creationId xmlns:a16="http://schemas.microsoft.com/office/drawing/2014/main" id="{1B9B5ED5-BB5D-EDE8-6652-3EEDA5BEEC1E}"/>
              </a:ext>
            </a:extLst>
          </p:cNvPr>
          <p:cNvSpPr txBox="1">
            <a:spLocks/>
          </p:cNvSpPr>
          <p:nvPr/>
        </p:nvSpPr>
        <p:spPr>
          <a:xfrm>
            <a:off x="9847545" y="152682"/>
            <a:ext cx="1518447" cy="770407"/>
          </a:xfrm>
          <a:prstGeom prst="rect">
            <a:avLst/>
          </a:prstGeom>
          <a:noFill/>
          <a:ln w="12700">
            <a:solidFill>
              <a:schemeClr val="tx1"/>
            </a:solidFill>
          </a:ln>
        </p:spPr>
        <p:txBody>
          <a:bodyPr wrap="square" lIns="0" tIns="0" rIns="0" bIns="0" rtlCol="0">
            <a:noAutofit/>
          </a:bodyPr>
          <a:lstStyle/>
          <a:p>
            <a:r>
              <a:rPr kumimoji="0" lang="de-DE" sz="1200" b="1" i="0" u="sng" strike="noStrike" kern="0" cap="none" spc="0" normalizeH="0" baseline="0" noProof="0" dirty="0">
                <a:ln>
                  <a:noFill/>
                </a:ln>
                <a:solidFill>
                  <a:srgbClr val="000000"/>
                </a:solidFill>
                <a:effectLst/>
                <a:uLnTx/>
                <a:uFillTx/>
              </a:rPr>
              <a:t>Scripts</a:t>
            </a:r>
          </a:p>
          <a:p>
            <a:r>
              <a:rPr lang="de-DE" sz="1200" kern="0" dirty="0">
                <a:solidFill>
                  <a:srgbClr val="000000"/>
                </a:solidFill>
              </a:rPr>
              <a:t>- SilverAFDC</a:t>
            </a:r>
          </a:p>
          <a:p>
            <a:r>
              <a:rPr lang="de-DE" sz="1200" kern="0" dirty="0">
                <a:solidFill>
                  <a:srgbClr val="000000"/>
                </a:solidFill>
              </a:rPr>
              <a:t>- SilverNHTSA</a:t>
            </a:r>
          </a:p>
          <a:p>
            <a:r>
              <a:rPr lang="de-DE" sz="1200" kern="0" dirty="0">
                <a:solidFill>
                  <a:srgbClr val="000000"/>
                </a:solidFill>
              </a:rPr>
              <a:t>- SilverFuelEconomy</a:t>
            </a:r>
          </a:p>
        </p:txBody>
      </p:sp>
    </p:spTree>
    <p:extLst>
      <p:ext uri="{BB962C8B-B14F-4D97-AF65-F5344CB8AC3E}">
        <p14:creationId xmlns:p14="http://schemas.microsoft.com/office/powerpoint/2010/main" val="120184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EDE4C-5C7D-5D32-D7F8-4503D59122F2}"/>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3CE47FCD-A161-1836-4531-4924083F3A39}"/>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DATA TRANSFORMATION</a:t>
            </a:r>
          </a:p>
        </p:txBody>
      </p:sp>
      <p:sp>
        <p:nvSpPr>
          <p:cNvPr id="22" name="Textfeld 8">
            <a:extLst>
              <a:ext uri="{FF2B5EF4-FFF2-40B4-BE49-F238E27FC236}">
                <a16:creationId xmlns:a16="http://schemas.microsoft.com/office/drawing/2014/main" id="{62E9485C-6460-1182-7A4C-8C04B97D4553}"/>
              </a:ext>
            </a:extLst>
          </p:cNvPr>
          <p:cNvSpPr txBox="1">
            <a:spLocks/>
          </p:cNvSpPr>
          <p:nvPr/>
        </p:nvSpPr>
        <p:spPr>
          <a:xfrm>
            <a:off x="591044" y="1015779"/>
            <a:ext cx="10774948" cy="1050765"/>
          </a:xfrm>
          <a:prstGeom prst="rect">
            <a:avLst/>
          </a:prstGeom>
          <a:noFill/>
        </p:spPr>
        <p:txBody>
          <a:bodyPr wrap="square" lIns="0" tIns="0" rIns="0" bIns="0" rtlCol="0">
            <a:noAutofit/>
          </a:bodyPr>
          <a:lstStyle/>
          <a:p>
            <a:r>
              <a:rPr lang="pt-PT" sz="1200" kern="0" dirty="0">
                <a:solidFill>
                  <a:srgbClr val="000000"/>
                </a:solidFill>
              </a:rPr>
              <a:t>In </a:t>
            </a:r>
            <a:r>
              <a:rPr lang="pt-PT" sz="1200" kern="0" dirty="0" err="1">
                <a:solidFill>
                  <a:srgbClr val="000000"/>
                </a:solidFill>
              </a:rPr>
              <a:t>this</a:t>
            </a:r>
            <a:r>
              <a:rPr lang="pt-PT" sz="1200" kern="0" dirty="0">
                <a:solidFill>
                  <a:srgbClr val="000000"/>
                </a:solidFill>
              </a:rPr>
              <a:t> step i </a:t>
            </a:r>
            <a:r>
              <a:rPr lang="pt-PT" sz="1200" kern="0" dirty="0" err="1">
                <a:solidFill>
                  <a:srgbClr val="000000"/>
                </a:solidFill>
              </a:rPr>
              <a:t>moved</a:t>
            </a:r>
            <a:r>
              <a:rPr lang="pt-PT" sz="1200" kern="0" dirty="0">
                <a:solidFill>
                  <a:srgbClr val="000000"/>
                </a:solidFill>
              </a:rPr>
              <a:t> to </a:t>
            </a:r>
            <a:r>
              <a:rPr lang="pt-PT" sz="1200" kern="0" dirty="0" err="1">
                <a:solidFill>
                  <a:srgbClr val="000000"/>
                </a:solidFill>
              </a:rPr>
              <a:t>the</a:t>
            </a:r>
            <a:r>
              <a:rPr lang="pt-PT" sz="1200" kern="0" dirty="0">
                <a:solidFill>
                  <a:srgbClr val="000000"/>
                </a:solidFill>
              </a:rPr>
              <a:t> Gold </a:t>
            </a:r>
            <a:r>
              <a:rPr lang="pt-PT" sz="1200" kern="0" dirty="0" err="1">
                <a:solidFill>
                  <a:srgbClr val="000000"/>
                </a:solidFill>
              </a:rPr>
              <a:t>layer</a:t>
            </a:r>
            <a:r>
              <a:rPr lang="pt-PT" sz="1200" kern="0" dirty="0">
                <a:solidFill>
                  <a:srgbClr val="000000"/>
                </a:solidFill>
              </a:rPr>
              <a:t>. </a:t>
            </a:r>
            <a:r>
              <a:rPr lang="pt-PT" sz="1200" kern="0" dirty="0" err="1">
                <a:solidFill>
                  <a:srgbClr val="000000"/>
                </a:solidFill>
              </a:rPr>
              <a:t>This</a:t>
            </a:r>
            <a:r>
              <a:rPr lang="pt-PT" sz="1200" kern="0" dirty="0">
                <a:solidFill>
                  <a:srgbClr val="000000"/>
                </a:solidFill>
              </a:rPr>
              <a:t> </a:t>
            </a:r>
            <a:r>
              <a:rPr lang="en-US" sz="1200" kern="0" dirty="0">
                <a:solidFill>
                  <a:srgbClr val="000000"/>
                </a:solidFill>
              </a:rPr>
              <a:t>layer was designed to create final analytics-ready tables from the curated Silver datasets. At this stage, the objective was not heavy cleaning (already done in Silver), but instead just integrate datasets logically.</a:t>
            </a:r>
          </a:p>
          <a:p>
            <a:endParaRPr lang="en-US" sz="1200" kern="0" dirty="0">
              <a:solidFill>
                <a:srgbClr val="000000"/>
              </a:solidFill>
            </a:endParaRPr>
          </a:p>
          <a:p>
            <a:r>
              <a:rPr lang="pt-PT" sz="1200" kern="0" dirty="0" err="1">
                <a:solidFill>
                  <a:srgbClr val="000000"/>
                </a:solidFill>
              </a:rPr>
              <a:t>The</a:t>
            </a:r>
            <a:r>
              <a:rPr lang="pt-PT" sz="1200" kern="0" dirty="0">
                <a:solidFill>
                  <a:srgbClr val="000000"/>
                </a:solidFill>
              </a:rPr>
              <a:t> script </a:t>
            </a:r>
            <a:r>
              <a:rPr lang="pt-PT" sz="1200" kern="0" dirty="0" err="1">
                <a:solidFill>
                  <a:srgbClr val="000000"/>
                </a:solidFill>
              </a:rPr>
              <a:t>starts</a:t>
            </a:r>
            <a:r>
              <a:rPr lang="pt-PT" sz="1200" kern="0" dirty="0">
                <a:solidFill>
                  <a:srgbClr val="000000"/>
                </a:solidFill>
              </a:rPr>
              <a:t> by </a:t>
            </a:r>
            <a:r>
              <a:rPr lang="en-US" sz="1200" kern="0" dirty="0">
                <a:solidFill>
                  <a:srgbClr val="000000"/>
                </a:solidFill>
              </a:rPr>
              <a:t>getting the datasets from the Silver layer, and by creating the Gold folder, if it isn't already created. </a:t>
            </a:r>
            <a:r>
              <a:rPr lang="de-DE" sz="1200" kern="0" dirty="0">
                <a:solidFill>
                  <a:srgbClr val="000000"/>
                </a:solidFill>
              </a:rPr>
              <a:t>Then, it defines the join/unique keys, removes records where join keys are missing (as there shouldn‘t be missing identifiers), and moves to the creation of 3 different tables:</a:t>
            </a:r>
            <a:endParaRPr lang="en-US" sz="1200" kern="0" dirty="0">
              <a:solidFill>
                <a:srgbClr val="000000"/>
              </a:solidFill>
            </a:endParaRPr>
          </a:p>
        </p:txBody>
      </p:sp>
      <p:sp>
        <p:nvSpPr>
          <p:cNvPr id="16" name="Textfeld 8">
            <a:extLst>
              <a:ext uri="{FF2B5EF4-FFF2-40B4-BE49-F238E27FC236}">
                <a16:creationId xmlns:a16="http://schemas.microsoft.com/office/drawing/2014/main" id="{A275B6F0-7CCB-8AC3-27D3-6FBFD1AD2A75}"/>
              </a:ext>
            </a:extLst>
          </p:cNvPr>
          <p:cNvSpPr txBox="1">
            <a:spLocks/>
          </p:cNvSpPr>
          <p:nvPr/>
        </p:nvSpPr>
        <p:spPr>
          <a:xfrm>
            <a:off x="9847545" y="242858"/>
            <a:ext cx="1518447" cy="457418"/>
          </a:xfrm>
          <a:prstGeom prst="rect">
            <a:avLst/>
          </a:prstGeom>
          <a:noFill/>
          <a:ln w="12700">
            <a:solidFill>
              <a:schemeClr val="tx1"/>
            </a:solidFill>
          </a:ln>
        </p:spPr>
        <p:txBody>
          <a:bodyPr wrap="square" lIns="0" tIns="0" rIns="0" bIns="0" rtlCol="0">
            <a:noAutofit/>
          </a:bodyPr>
          <a:lstStyle/>
          <a:p>
            <a:r>
              <a:rPr kumimoji="0" lang="de-DE" sz="1200" b="1" i="0" u="sng" strike="noStrike" kern="0" cap="none" spc="0" normalizeH="0" baseline="0" noProof="0" dirty="0">
                <a:ln>
                  <a:noFill/>
                </a:ln>
                <a:solidFill>
                  <a:srgbClr val="000000"/>
                </a:solidFill>
                <a:effectLst/>
                <a:uLnTx/>
                <a:uFillTx/>
              </a:rPr>
              <a:t>Scripts</a:t>
            </a:r>
          </a:p>
          <a:p>
            <a:r>
              <a:rPr lang="de-DE" sz="1200" kern="0" dirty="0">
                <a:solidFill>
                  <a:srgbClr val="000000"/>
                </a:solidFill>
              </a:rPr>
              <a:t>- SilverToGold</a:t>
            </a:r>
          </a:p>
        </p:txBody>
      </p:sp>
      <p:grpSp>
        <p:nvGrpSpPr>
          <p:cNvPr id="4" name="Group 3">
            <a:extLst>
              <a:ext uri="{FF2B5EF4-FFF2-40B4-BE49-F238E27FC236}">
                <a16:creationId xmlns:a16="http://schemas.microsoft.com/office/drawing/2014/main" id="{4DC072CD-3775-216A-62BD-32AB4E81B8F7}"/>
              </a:ext>
            </a:extLst>
          </p:cNvPr>
          <p:cNvGrpSpPr/>
          <p:nvPr/>
        </p:nvGrpSpPr>
        <p:grpSpPr>
          <a:xfrm>
            <a:off x="1271016" y="2336292"/>
            <a:ext cx="1627632" cy="777240"/>
            <a:chOff x="658368" y="2322576"/>
            <a:chExt cx="1627632" cy="777240"/>
          </a:xfrm>
        </p:grpSpPr>
        <p:sp>
          <p:nvSpPr>
            <p:cNvPr id="2" name="Rectangle: Rounded Corners 1">
              <a:extLst>
                <a:ext uri="{FF2B5EF4-FFF2-40B4-BE49-F238E27FC236}">
                  <a16:creationId xmlns:a16="http://schemas.microsoft.com/office/drawing/2014/main" id="{2377DF3D-9F15-A948-5593-C5691763208F}"/>
                </a:ext>
              </a:extLst>
            </p:cNvPr>
            <p:cNvSpPr/>
            <p:nvPr/>
          </p:nvSpPr>
          <p:spPr>
            <a:xfrm>
              <a:off x="658368" y="2322576"/>
              <a:ext cx="1627632" cy="777240"/>
            </a:xfrm>
            <a:prstGeom prst="roundRect">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F5D9B8-67C2-351C-EEA4-CDE3BD6A73B8}"/>
                </a:ext>
              </a:extLst>
            </p:cNvPr>
            <p:cNvSpPr txBox="1"/>
            <p:nvPr/>
          </p:nvSpPr>
          <p:spPr>
            <a:xfrm>
              <a:off x="658368" y="2557307"/>
              <a:ext cx="1627632" cy="307777"/>
            </a:xfrm>
            <a:prstGeom prst="rect">
              <a:avLst/>
            </a:prstGeom>
            <a:noFill/>
          </p:spPr>
          <p:txBody>
            <a:bodyPr wrap="square" rtlCol="0">
              <a:spAutoFit/>
            </a:bodyPr>
            <a:lstStyle/>
            <a:p>
              <a:pPr algn="ctr"/>
              <a:r>
                <a:rPr lang="pt-PT" sz="1400" b="1" dirty="0" err="1"/>
                <a:t>safety_summary</a:t>
              </a:r>
              <a:endParaRPr lang="en-US" sz="1400" b="1" dirty="0"/>
            </a:p>
          </p:txBody>
        </p:sp>
      </p:grpSp>
      <p:sp>
        <p:nvSpPr>
          <p:cNvPr id="5" name="TextBox 4">
            <a:extLst>
              <a:ext uri="{FF2B5EF4-FFF2-40B4-BE49-F238E27FC236}">
                <a16:creationId xmlns:a16="http://schemas.microsoft.com/office/drawing/2014/main" id="{9F6A7239-D091-1708-6E2D-A76870829D3B}"/>
              </a:ext>
            </a:extLst>
          </p:cNvPr>
          <p:cNvSpPr txBox="1"/>
          <p:nvPr/>
        </p:nvSpPr>
        <p:spPr>
          <a:xfrm>
            <a:off x="740664" y="2540246"/>
            <a:ext cx="301752" cy="369332"/>
          </a:xfrm>
          <a:prstGeom prst="rect">
            <a:avLst/>
          </a:prstGeom>
          <a:noFill/>
        </p:spPr>
        <p:txBody>
          <a:bodyPr wrap="square" rtlCol="0">
            <a:spAutoFit/>
          </a:bodyPr>
          <a:lstStyle/>
          <a:p>
            <a:r>
              <a:rPr lang="pt-PT" b="1" dirty="0">
                <a:solidFill>
                  <a:srgbClr val="156082"/>
                </a:solidFill>
              </a:rPr>
              <a:t>1</a:t>
            </a:r>
            <a:endParaRPr lang="en-US" b="1" dirty="0">
              <a:solidFill>
                <a:srgbClr val="156082"/>
              </a:solidFill>
            </a:endParaRPr>
          </a:p>
        </p:txBody>
      </p:sp>
      <p:cxnSp>
        <p:nvCxnSpPr>
          <p:cNvPr id="7" name="Straight Arrow Connector 6">
            <a:extLst>
              <a:ext uri="{FF2B5EF4-FFF2-40B4-BE49-F238E27FC236}">
                <a16:creationId xmlns:a16="http://schemas.microsoft.com/office/drawing/2014/main" id="{EB889345-7606-217F-3587-DF2A69364A30}"/>
              </a:ext>
            </a:extLst>
          </p:cNvPr>
          <p:cNvCxnSpPr/>
          <p:nvPr/>
        </p:nvCxnSpPr>
        <p:spPr>
          <a:xfrm>
            <a:off x="3081528" y="2724911"/>
            <a:ext cx="3749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feld 8">
            <a:extLst>
              <a:ext uri="{FF2B5EF4-FFF2-40B4-BE49-F238E27FC236}">
                <a16:creationId xmlns:a16="http://schemas.microsoft.com/office/drawing/2014/main" id="{DA821693-F86B-2BAC-9DAA-84393A92F379}"/>
              </a:ext>
            </a:extLst>
          </p:cNvPr>
          <p:cNvSpPr txBox="1">
            <a:spLocks/>
          </p:cNvSpPr>
          <p:nvPr/>
        </p:nvSpPr>
        <p:spPr>
          <a:xfrm>
            <a:off x="3888980" y="2345437"/>
            <a:ext cx="7358140" cy="928116"/>
          </a:xfrm>
          <a:prstGeom prst="rect">
            <a:avLst/>
          </a:prstGeom>
          <a:noFill/>
        </p:spPr>
        <p:txBody>
          <a:bodyPr wrap="square" lIns="0" tIns="0" rIns="0" bIns="0" rtlCol="0">
            <a:noAutofit/>
          </a:bodyPr>
          <a:lstStyle/>
          <a:p>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comes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file </a:t>
            </a:r>
            <a:r>
              <a:rPr lang="pt-PT" sz="1200" kern="0" dirty="0" err="1">
                <a:solidFill>
                  <a:srgbClr val="000000"/>
                </a:solidFill>
              </a:rPr>
              <a:t>Safercar_data.parquet</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aggregates</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numeric</a:t>
            </a:r>
            <a:r>
              <a:rPr lang="pt-PT" sz="1200" kern="0" dirty="0">
                <a:solidFill>
                  <a:srgbClr val="000000"/>
                </a:solidFill>
              </a:rPr>
              <a:t> </a:t>
            </a:r>
            <a:r>
              <a:rPr lang="pt-PT" sz="1200" kern="0" dirty="0" err="1">
                <a:solidFill>
                  <a:srgbClr val="000000"/>
                </a:solidFill>
              </a:rPr>
              <a:t>variables</a:t>
            </a:r>
            <a:r>
              <a:rPr lang="pt-PT" sz="1200" kern="0" dirty="0">
                <a:solidFill>
                  <a:srgbClr val="000000"/>
                </a:solidFill>
              </a:rPr>
              <a:t> </a:t>
            </a:r>
            <a:r>
              <a:rPr lang="pt-PT" sz="1200" kern="0" dirty="0" err="1">
                <a:solidFill>
                  <a:srgbClr val="000000"/>
                </a:solidFill>
              </a:rPr>
              <a:t>safety</a:t>
            </a:r>
            <a:r>
              <a:rPr lang="pt-PT" sz="1200" kern="0" dirty="0">
                <a:solidFill>
                  <a:srgbClr val="000000"/>
                </a:solidFill>
              </a:rPr>
              <a:t> </a:t>
            </a:r>
            <a:r>
              <a:rPr lang="pt-PT" sz="1200" kern="0" dirty="0" err="1">
                <a:solidFill>
                  <a:srgbClr val="000000"/>
                </a:solidFill>
              </a:rPr>
              <a:t>related</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crash </a:t>
            </a:r>
            <a:r>
              <a:rPr lang="pt-PT" sz="1200" kern="0" dirty="0" err="1">
                <a:solidFill>
                  <a:srgbClr val="000000"/>
                </a:solidFill>
              </a:rPr>
              <a:t>tests</a:t>
            </a:r>
            <a:r>
              <a:rPr lang="pt-PT" sz="1200" kern="0" dirty="0">
                <a:solidFill>
                  <a:srgbClr val="000000"/>
                </a:solidFill>
              </a:rPr>
              <a:t> </a:t>
            </a:r>
            <a:r>
              <a:rPr lang="pt-PT" sz="1200" kern="0" dirty="0" err="1">
                <a:solidFill>
                  <a:srgbClr val="000000"/>
                </a:solidFill>
              </a:rPr>
              <a:t>related</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t>
            </a:r>
            <a:r>
              <a:rPr lang="pt-PT" sz="1200" kern="0" dirty="0" err="1">
                <a:solidFill>
                  <a:srgbClr val="000000"/>
                </a:solidFill>
              </a:rPr>
              <a:t>picked</a:t>
            </a:r>
            <a:r>
              <a:rPr lang="pt-PT" sz="1200" kern="0" dirty="0">
                <a:solidFill>
                  <a:srgbClr val="000000"/>
                </a:solidFill>
              </a:rPr>
              <a:t> </a:t>
            </a:r>
            <a:r>
              <a:rPr lang="pt-PT" sz="1200" kern="0" dirty="0" err="1">
                <a:solidFill>
                  <a:srgbClr val="000000"/>
                </a:solidFill>
              </a:rPr>
              <a:t>through</a:t>
            </a:r>
            <a:r>
              <a:rPr lang="pt-PT" sz="1200" kern="0" dirty="0">
                <a:solidFill>
                  <a:srgbClr val="000000"/>
                </a:solidFill>
              </a:rPr>
              <a:t> </a:t>
            </a:r>
            <a:r>
              <a:rPr lang="pt-PT" sz="1200" kern="0" dirty="0" err="1">
                <a:solidFill>
                  <a:srgbClr val="000000"/>
                </a:solidFill>
              </a:rPr>
              <a:t>exploring</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data </a:t>
            </a:r>
            <a:r>
              <a:rPr lang="pt-PT" sz="1200" kern="0" dirty="0" err="1">
                <a:solidFill>
                  <a:srgbClr val="000000"/>
                </a:solidFill>
              </a:rPr>
              <a:t>with</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script DataExploration.py),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creates</a:t>
            </a:r>
            <a:r>
              <a:rPr lang="pt-PT" sz="1200" kern="0" dirty="0">
                <a:solidFill>
                  <a:srgbClr val="000000"/>
                </a:solidFill>
              </a:rPr>
              <a:t> a </a:t>
            </a:r>
            <a:r>
              <a:rPr lang="pt-PT" sz="1200" kern="0" dirty="0" err="1">
                <a:solidFill>
                  <a:srgbClr val="000000"/>
                </a:solidFill>
              </a:rPr>
              <a:t>mean</a:t>
            </a:r>
            <a:r>
              <a:rPr lang="pt-PT" sz="1200" kern="0" dirty="0">
                <a:solidFill>
                  <a:srgbClr val="000000"/>
                </a:solidFill>
              </a:rPr>
              <a:t> for </a:t>
            </a:r>
            <a:r>
              <a:rPr lang="pt-PT" sz="1200" kern="0" dirty="0" err="1">
                <a:solidFill>
                  <a:srgbClr val="000000"/>
                </a:solidFill>
              </a:rPr>
              <a:t>each</a:t>
            </a:r>
            <a:r>
              <a:rPr lang="pt-PT" sz="1200" kern="0" dirty="0">
                <a:solidFill>
                  <a:srgbClr val="000000"/>
                </a:solidFill>
              </a:rPr>
              <a:t> </a:t>
            </a:r>
            <a:r>
              <a:rPr lang="pt-PT" sz="1200" kern="0" dirty="0" err="1">
                <a:solidFill>
                  <a:srgbClr val="000000"/>
                </a:solidFill>
              </a:rPr>
              <a:t>Manufacturer</a:t>
            </a:r>
            <a:r>
              <a:rPr lang="pt-PT" sz="1200" kern="0" dirty="0">
                <a:solidFill>
                  <a:srgbClr val="000000"/>
                </a:solidFill>
              </a:rPr>
              <a:t>, </a:t>
            </a:r>
            <a:r>
              <a:rPr lang="pt-PT" sz="1200" kern="0" dirty="0" err="1">
                <a:solidFill>
                  <a:srgbClr val="000000"/>
                </a:solidFill>
              </a:rPr>
              <a:t>Model</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Model</a:t>
            </a:r>
            <a:r>
              <a:rPr lang="pt-PT" sz="1200" kern="0" dirty="0">
                <a:solidFill>
                  <a:srgbClr val="000000"/>
                </a:solidFill>
              </a:rPr>
              <a:t> </a:t>
            </a:r>
            <a:r>
              <a:rPr lang="pt-PT" sz="1200" kern="0" dirty="0" err="1">
                <a:solidFill>
                  <a:srgbClr val="000000"/>
                </a:solidFill>
              </a:rPr>
              <a:t>Year</a:t>
            </a:r>
            <a:r>
              <a:rPr lang="pt-PT" sz="1200" kern="0" dirty="0">
                <a:solidFill>
                  <a:srgbClr val="000000"/>
                </a:solidFill>
              </a:rPr>
              <a:t> </a:t>
            </a:r>
            <a:r>
              <a:rPr lang="pt-PT" sz="1200" kern="0" dirty="0" err="1">
                <a:solidFill>
                  <a:srgbClr val="000000"/>
                </a:solidFill>
              </a:rPr>
              <a:t>combination</a:t>
            </a:r>
            <a:r>
              <a:rPr lang="pt-PT" sz="1200" kern="0" dirty="0">
                <a:solidFill>
                  <a:srgbClr val="000000"/>
                </a:solidFill>
              </a:rPr>
              <a:t>. </a:t>
            </a:r>
            <a:r>
              <a:rPr lang="pt-PT" sz="1200" kern="0" dirty="0" err="1">
                <a:solidFill>
                  <a:srgbClr val="000000"/>
                </a:solidFill>
              </a:rPr>
              <a:t>Finally</a:t>
            </a:r>
            <a:r>
              <a:rPr lang="pt-PT" sz="1200" kern="0" dirty="0">
                <a:solidFill>
                  <a:srgbClr val="000000"/>
                </a:solidFill>
              </a:rPr>
              <a:t>, removes </a:t>
            </a:r>
            <a:r>
              <a:rPr lang="pt-PT" sz="1200" kern="0" dirty="0" err="1">
                <a:solidFill>
                  <a:srgbClr val="000000"/>
                </a:solidFill>
              </a:rPr>
              <a:t>the</a:t>
            </a:r>
            <a:r>
              <a:rPr lang="pt-PT" sz="1200" kern="0" dirty="0">
                <a:solidFill>
                  <a:srgbClr val="000000"/>
                </a:solidFill>
              </a:rPr>
              <a:t> decimal </a:t>
            </a:r>
            <a:r>
              <a:rPr lang="pt-PT" sz="1200" kern="0" dirty="0" err="1">
                <a:solidFill>
                  <a:srgbClr val="000000"/>
                </a:solidFill>
              </a:rPr>
              <a:t>numbers</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stores</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in </a:t>
            </a:r>
            <a:r>
              <a:rPr lang="pt-PT" sz="1200" kern="0" dirty="0" err="1">
                <a:solidFill>
                  <a:srgbClr val="000000"/>
                </a:solidFill>
              </a:rPr>
              <a:t>the</a:t>
            </a:r>
            <a:r>
              <a:rPr lang="pt-PT" sz="1200" kern="0" dirty="0">
                <a:solidFill>
                  <a:srgbClr val="000000"/>
                </a:solidFill>
              </a:rPr>
              <a:t> Gold </a:t>
            </a:r>
            <a:r>
              <a:rPr lang="pt-PT" sz="1200" kern="0" dirty="0" err="1">
                <a:solidFill>
                  <a:srgbClr val="000000"/>
                </a:solidFill>
              </a:rPr>
              <a:t>folder</a:t>
            </a:r>
            <a:r>
              <a:rPr lang="pt-PT" sz="1200" kern="0" dirty="0">
                <a:solidFill>
                  <a:srgbClr val="000000"/>
                </a:solidFill>
              </a:rPr>
              <a:t>.</a:t>
            </a:r>
            <a:endParaRPr lang="en-US" sz="1200" kern="0" dirty="0">
              <a:solidFill>
                <a:srgbClr val="000000"/>
              </a:solidFill>
            </a:endParaRPr>
          </a:p>
        </p:txBody>
      </p:sp>
      <p:grpSp>
        <p:nvGrpSpPr>
          <p:cNvPr id="9" name="Group 8">
            <a:extLst>
              <a:ext uri="{FF2B5EF4-FFF2-40B4-BE49-F238E27FC236}">
                <a16:creationId xmlns:a16="http://schemas.microsoft.com/office/drawing/2014/main" id="{DB72C261-3709-7FD2-4883-11EA81F4D971}"/>
              </a:ext>
            </a:extLst>
          </p:cNvPr>
          <p:cNvGrpSpPr/>
          <p:nvPr/>
        </p:nvGrpSpPr>
        <p:grpSpPr>
          <a:xfrm>
            <a:off x="8979136" y="3314702"/>
            <a:ext cx="1627632" cy="777240"/>
            <a:chOff x="658368" y="2322576"/>
            <a:chExt cx="1627632" cy="777240"/>
          </a:xfrm>
        </p:grpSpPr>
        <p:sp>
          <p:nvSpPr>
            <p:cNvPr id="10" name="Rectangle: Rounded Corners 9">
              <a:extLst>
                <a:ext uri="{FF2B5EF4-FFF2-40B4-BE49-F238E27FC236}">
                  <a16:creationId xmlns:a16="http://schemas.microsoft.com/office/drawing/2014/main" id="{D73B3520-979B-C1EB-E744-669903E6E4B3}"/>
                </a:ext>
              </a:extLst>
            </p:cNvPr>
            <p:cNvSpPr/>
            <p:nvPr/>
          </p:nvSpPr>
          <p:spPr>
            <a:xfrm>
              <a:off x="658368" y="2322576"/>
              <a:ext cx="1627632" cy="777240"/>
            </a:xfrm>
            <a:prstGeom prst="roundRect">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4D97660-5D85-3941-A644-D4DE266C097C}"/>
                </a:ext>
              </a:extLst>
            </p:cNvPr>
            <p:cNvSpPr txBox="1"/>
            <p:nvPr/>
          </p:nvSpPr>
          <p:spPr>
            <a:xfrm>
              <a:off x="658368" y="2471219"/>
              <a:ext cx="1627632" cy="523220"/>
            </a:xfrm>
            <a:prstGeom prst="rect">
              <a:avLst/>
            </a:prstGeom>
            <a:noFill/>
          </p:spPr>
          <p:txBody>
            <a:bodyPr wrap="square" rtlCol="0">
              <a:spAutoFit/>
            </a:bodyPr>
            <a:lstStyle/>
            <a:p>
              <a:pPr algn="ctr"/>
              <a:r>
                <a:rPr lang="pt-PT" sz="1400" b="1" dirty="0" err="1"/>
                <a:t>light_vehicle</a:t>
              </a:r>
              <a:r>
                <a:rPr lang="pt-PT" sz="1400" b="1" dirty="0"/>
                <a:t>_</a:t>
              </a:r>
              <a:br>
                <a:rPr lang="pt-PT" sz="1400" b="1" dirty="0"/>
              </a:br>
              <a:r>
                <a:rPr lang="pt-PT" sz="1400" b="1" dirty="0" err="1"/>
                <a:t>detail</a:t>
              </a:r>
              <a:endParaRPr lang="en-US" sz="1400" b="1" dirty="0"/>
            </a:p>
          </p:txBody>
        </p:sp>
      </p:grpSp>
      <p:sp>
        <p:nvSpPr>
          <p:cNvPr id="12" name="TextBox 11">
            <a:extLst>
              <a:ext uri="{FF2B5EF4-FFF2-40B4-BE49-F238E27FC236}">
                <a16:creationId xmlns:a16="http://schemas.microsoft.com/office/drawing/2014/main" id="{0C856F95-74CB-5A59-F06F-03C6CB742E68}"/>
              </a:ext>
            </a:extLst>
          </p:cNvPr>
          <p:cNvSpPr txBox="1"/>
          <p:nvPr/>
        </p:nvSpPr>
        <p:spPr>
          <a:xfrm>
            <a:off x="10860024" y="3540289"/>
            <a:ext cx="301752" cy="369332"/>
          </a:xfrm>
          <a:prstGeom prst="rect">
            <a:avLst/>
          </a:prstGeom>
          <a:noFill/>
        </p:spPr>
        <p:txBody>
          <a:bodyPr wrap="square" rtlCol="0">
            <a:spAutoFit/>
          </a:bodyPr>
          <a:lstStyle/>
          <a:p>
            <a:r>
              <a:rPr lang="pt-PT" b="1" dirty="0">
                <a:solidFill>
                  <a:srgbClr val="156082"/>
                </a:solidFill>
              </a:rPr>
              <a:t>2</a:t>
            </a:r>
            <a:endParaRPr lang="en-US" b="1" dirty="0">
              <a:solidFill>
                <a:srgbClr val="156082"/>
              </a:solidFill>
            </a:endParaRPr>
          </a:p>
        </p:txBody>
      </p:sp>
      <p:cxnSp>
        <p:nvCxnSpPr>
          <p:cNvPr id="13" name="Straight Arrow Connector 12">
            <a:extLst>
              <a:ext uri="{FF2B5EF4-FFF2-40B4-BE49-F238E27FC236}">
                <a16:creationId xmlns:a16="http://schemas.microsoft.com/office/drawing/2014/main" id="{C4C6A5E2-BB57-C326-FB48-E5BE96DA510D}"/>
              </a:ext>
            </a:extLst>
          </p:cNvPr>
          <p:cNvCxnSpPr>
            <a:cxnSpLocks/>
          </p:cNvCxnSpPr>
          <p:nvPr/>
        </p:nvCxnSpPr>
        <p:spPr>
          <a:xfrm flipH="1" flipV="1">
            <a:off x="8430768" y="3703321"/>
            <a:ext cx="403452"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feld 8">
            <a:extLst>
              <a:ext uri="{FF2B5EF4-FFF2-40B4-BE49-F238E27FC236}">
                <a16:creationId xmlns:a16="http://schemas.microsoft.com/office/drawing/2014/main" id="{3F91CCE1-31A9-D4C4-814D-92E69893FC34}"/>
              </a:ext>
            </a:extLst>
          </p:cNvPr>
          <p:cNvSpPr txBox="1">
            <a:spLocks/>
          </p:cNvSpPr>
          <p:nvPr/>
        </p:nvSpPr>
        <p:spPr>
          <a:xfrm>
            <a:off x="819372" y="3392201"/>
            <a:ext cx="7358140" cy="665507"/>
          </a:xfrm>
          <a:prstGeom prst="rect">
            <a:avLst/>
          </a:prstGeom>
          <a:noFill/>
        </p:spPr>
        <p:txBody>
          <a:bodyPr wrap="square" lIns="0" tIns="0" rIns="0" bIns="0" rtlCol="0">
            <a:noAutofit/>
          </a:bodyPr>
          <a:lstStyle/>
          <a:p>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comes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file light-duty-vehicles-2026-02-08.parquet,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has</a:t>
            </a:r>
            <a:r>
              <a:rPr lang="pt-PT" sz="1200" kern="0" dirty="0">
                <a:solidFill>
                  <a:srgbClr val="000000"/>
                </a:solidFill>
              </a:rPr>
              <a:t> a </a:t>
            </a:r>
            <a:r>
              <a:rPr lang="pt-PT" sz="1200" kern="0" dirty="0" err="1">
                <a:solidFill>
                  <a:srgbClr val="000000"/>
                </a:solidFill>
              </a:rPr>
              <a:t>full</a:t>
            </a:r>
            <a:r>
              <a:rPr lang="pt-PT" sz="1200" kern="0" dirty="0">
                <a:solidFill>
                  <a:srgbClr val="000000"/>
                </a:solidFill>
              </a:rPr>
              <a:t> </a:t>
            </a:r>
            <a:r>
              <a:rPr lang="pt-PT" sz="1200" kern="0" dirty="0" err="1">
                <a:solidFill>
                  <a:srgbClr val="000000"/>
                </a:solidFill>
              </a:rPr>
              <a:t>level</a:t>
            </a:r>
            <a:r>
              <a:rPr lang="pt-PT" sz="1200" kern="0" dirty="0">
                <a:solidFill>
                  <a:srgbClr val="000000"/>
                </a:solidFill>
              </a:rPr>
              <a:t> </a:t>
            </a:r>
            <a:r>
              <a:rPr lang="pt-PT" sz="1200" kern="0" dirty="0" err="1">
                <a:solidFill>
                  <a:srgbClr val="000000"/>
                </a:solidFill>
              </a:rPr>
              <a:t>vehicle</a:t>
            </a:r>
            <a:r>
              <a:rPr lang="pt-PT" sz="1200" kern="0" dirty="0">
                <a:solidFill>
                  <a:srgbClr val="000000"/>
                </a:solidFill>
              </a:rPr>
              <a:t> </a:t>
            </a:r>
            <a:r>
              <a:rPr lang="pt-PT" sz="1200" kern="0" dirty="0" err="1">
                <a:solidFill>
                  <a:srgbClr val="000000"/>
                </a:solidFill>
              </a:rPr>
              <a:t>detail</a:t>
            </a:r>
            <a:r>
              <a:rPr lang="pt-PT" sz="1200" kern="0" dirty="0">
                <a:solidFill>
                  <a:srgbClr val="000000"/>
                </a:solidFill>
              </a:rPr>
              <a:t>. </a:t>
            </a:r>
            <a:r>
              <a:rPr lang="en-US" sz="1200" kern="0" dirty="0">
                <a:solidFill>
                  <a:srgbClr val="000000"/>
                </a:solidFill>
              </a:rPr>
              <a:t>No additional transformations were applied because this dataset already represents detailed vehicle specifications with quality data.</a:t>
            </a:r>
          </a:p>
        </p:txBody>
      </p:sp>
      <p:grpSp>
        <p:nvGrpSpPr>
          <p:cNvPr id="30" name="Group 29">
            <a:extLst>
              <a:ext uri="{FF2B5EF4-FFF2-40B4-BE49-F238E27FC236}">
                <a16:creationId xmlns:a16="http://schemas.microsoft.com/office/drawing/2014/main" id="{D09764B6-6593-C3DF-5711-177C8EE520FF}"/>
              </a:ext>
            </a:extLst>
          </p:cNvPr>
          <p:cNvGrpSpPr/>
          <p:nvPr/>
        </p:nvGrpSpPr>
        <p:grpSpPr>
          <a:xfrm>
            <a:off x="1271016" y="4306155"/>
            <a:ext cx="1627632" cy="777240"/>
            <a:chOff x="658368" y="2322576"/>
            <a:chExt cx="1627632" cy="777240"/>
          </a:xfrm>
        </p:grpSpPr>
        <p:sp>
          <p:nvSpPr>
            <p:cNvPr id="31" name="Rectangle: Rounded Corners 30">
              <a:extLst>
                <a:ext uri="{FF2B5EF4-FFF2-40B4-BE49-F238E27FC236}">
                  <a16:creationId xmlns:a16="http://schemas.microsoft.com/office/drawing/2014/main" id="{6DAAB34D-EE99-1C36-615B-1F38A2ED1F51}"/>
                </a:ext>
              </a:extLst>
            </p:cNvPr>
            <p:cNvSpPr/>
            <p:nvPr/>
          </p:nvSpPr>
          <p:spPr>
            <a:xfrm>
              <a:off x="658368" y="2322576"/>
              <a:ext cx="1627632" cy="777240"/>
            </a:xfrm>
            <a:prstGeom prst="roundRect">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B9D145D-F112-A0E3-0F17-724F080DBB72}"/>
                </a:ext>
              </a:extLst>
            </p:cNvPr>
            <p:cNvSpPr txBox="1"/>
            <p:nvPr/>
          </p:nvSpPr>
          <p:spPr>
            <a:xfrm>
              <a:off x="658368" y="2557307"/>
              <a:ext cx="1627632" cy="307777"/>
            </a:xfrm>
            <a:prstGeom prst="rect">
              <a:avLst/>
            </a:prstGeom>
            <a:noFill/>
          </p:spPr>
          <p:txBody>
            <a:bodyPr wrap="square" rtlCol="0">
              <a:spAutoFit/>
            </a:bodyPr>
            <a:lstStyle/>
            <a:p>
              <a:pPr algn="ctr"/>
              <a:r>
                <a:rPr lang="pt-PT" sz="1400" b="1" dirty="0" err="1"/>
                <a:t>fuel_summary</a:t>
              </a:r>
              <a:endParaRPr lang="en-US" sz="1400" b="1" dirty="0"/>
            </a:p>
          </p:txBody>
        </p:sp>
      </p:grpSp>
      <p:sp>
        <p:nvSpPr>
          <p:cNvPr id="33" name="TextBox 32">
            <a:extLst>
              <a:ext uri="{FF2B5EF4-FFF2-40B4-BE49-F238E27FC236}">
                <a16:creationId xmlns:a16="http://schemas.microsoft.com/office/drawing/2014/main" id="{C13CA678-5E34-4D06-120F-10CA7CC9EE22}"/>
              </a:ext>
            </a:extLst>
          </p:cNvPr>
          <p:cNvSpPr txBox="1"/>
          <p:nvPr/>
        </p:nvSpPr>
        <p:spPr>
          <a:xfrm>
            <a:off x="740664" y="4510109"/>
            <a:ext cx="301752" cy="369332"/>
          </a:xfrm>
          <a:prstGeom prst="rect">
            <a:avLst/>
          </a:prstGeom>
          <a:noFill/>
        </p:spPr>
        <p:txBody>
          <a:bodyPr wrap="square" rtlCol="0">
            <a:spAutoFit/>
          </a:bodyPr>
          <a:lstStyle/>
          <a:p>
            <a:r>
              <a:rPr lang="pt-PT" b="1" dirty="0">
                <a:solidFill>
                  <a:srgbClr val="156082"/>
                </a:solidFill>
              </a:rPr>
              <a:t>3</a:t>
            </a:r>
            <a:endParaRPr lang="en-US" b="1" dirty="0">
              <a:solidFill>
                <a:srgbClr val="156082"/>
              </a:solidFill>
            </a:endParaRPr>
          </a:p>
        </p:txBody>
      </p:sp>
      <p:cxnSp>
        <p:nvCxnSpPr>
          <p:cNvPr id="34" name="Straight Arrow Connector 33">
            <a:extLst>
              <a:ext uri="{FF2B5EF4-FFF2-40B4-BE49-F238E27FC236}">
                <a16:creationId xmlns:a16="http://schemas.microsoft.com/office/drawing/2014/main" id="{3D682F6A-3AB8-D9FF-77F6-9EEB82CED618}"/>
              </a:ext>
            </a:extLst>
          </p:cNvPr>
          <p:cNvCxnSpPr/>
          <p:nvPr/>
        </p:nvCxnSpPr>
        <p:spPr>
          <a:xfrm>
            <a:off x="3081528" y="4694774"/>
            <a:ext cx="3749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feld 8">
            <a:extLst>
              <a:ext uri="{FF2B5EF4-FFF2-40B4-BE49-F238E27FC236}">
                <a16:creationId xmlns:a16="http://schemas.microsoft.com/office/drawing/2014/main" id="{E22DC79B-BCFC-B5EF-543A-D51A414C56AF}"/>
              </a:ext>
            </a:extLst>
          </p:cNvPr>
          <p:cNvSpPr txBox="1">
            <a:spLocks/>
          </p:cNvSpPr>
          <p:nvPr/>
        </p:nvSpPr>
        <p:spPr>
          <a:xfrm>
            <a:off x="3888980" y="4315300"/>
            <a:ext cx="7358140" cy="928116"/>
          </a:xfrm>
          <a:prstGeom prst="rect">
            <a:avLst/>
          </a:prstGeom>
          <a:noFill/>
        </p:spPr>
        <p:txBody>
          <a:bodyPr wrap="square" lIns="0" tIns="0" rIns="0" bIns="0" rtlCol="0">
            <a:noAutofit/>
          </a:bodyPr>
          <a:lstStyle/>
          <a:p>
            <a:r>
              <a:rPr lang="pt-PT" sz="1200" kern="0" dirty="0" err="1">
                <a:solidFill>
                  <a:srgbClr val="000000"/>
                </a:solidFill>
              </a:rPr>
              <a:t>This</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comes </a:t>
            </a:r>
            <a:r>
              <a:rPr lang="pt-PT" sz="1200" kern="0" dirty="0" err="1">
                <a:solidFill>
                  <a:srgbClr val="000000"/>
                </a:solidFill>
              </a:rPr>
              <a:t>from</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file </a:t>
            </a:r>
            <a:r>
              <a:rPr lang="pt-PT" sz="1200" kern="0" dirty="0" err="1">
                <a:solidFill>
                  <a:srgbClr val="000000"/>
                </a:solidFill>
              </a:rPr>
              <a:t>vehicles.parquet</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aggregates</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numeric</a:t>
            </a:r>
            <a:r>
              <a:rPr lang="pt-PT" sz="1200" kern="0" dirty="0">
                <a:solidFill>
                  <a:srgbClr val="000000"/>
                </a:solidFill>
              </a:rPr>
              <a:t> </a:t>
            </a:r>
            <a:r>
              <a:rPr lang="pt-PT" sz="1200" kern="0" dirty="0" err="1">
                <a:solidFill>
                  <a:srgbClr val="000000"/>
                </a:solidFill>
              </a:rPr>
              <a:t>variables</a:t>
            </a:r>
            <a:r>
              <a:rPr lang="pt-PT" sz="1200" kern="0" dirty="0">
                <a:solidFill>
                  <a:srgbClr val="000000"/>
                </a:solidFill>
              </a:rPr>
              <a:t> </a:t>
            </a:r>
            <a:r>
              <a:rPr lang="pt-PT" sz="1200" kern="0" dirty="0" err="1">
                <a:solidFill>
                  <a:srgbClr val="000000"/>
                </a:solidFill>
              </a:rPr>
              <a:t>regarding</a:t>
            </a:r>
            <a:r>
              <a:rPr lang="pt-PT" sz="1200" kern="0" dirty="0">
                <a:solidFill>
                  <a:srgbClr val="000000"/>
                </a:solidFill>
              </a:rPr>
              <a:t> </a:t>
            </a:r>
            <a:r>
              <a:rPr lang="pt-PT" sz="1200" kern="0" dirty="0" err="1">
                <a:solidFill>
                  <a:srgbClr val="000000"/>
                </a:solidFill>
              </a:rPr>
              <a:t>fuels</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emissions</a:t>
            </a:r>
            <a:r>
              <a:rPr lang="pt-PT" sz="1200" kern="0" dirty="0">
                <a:solidFill>
                  <a:srgbClr val="000000"/>
                </a:solidFill>
              </a:rPr>
              <a:t> (</a:t>
            </a:r>
            <a:r>
              <a:rPr lang="pt-PT" sz="1200" kern="0" dirty="0" err="1">
                <a:solidFill>
                  <a:srgbClr val="000000"/>
                </a:solidFill>
              </a:rPr>
              <a:t>columns</a:t>
            </a:r>
            <a:r>
              <a:rPr lang="pt-PT" sz="1200" kern="0" dirty="0">
                <a:solidFill>
                  <a:srgbClr val="000000"/>
                </a:solidFill>
              </a:rPr>
              <a:t> </a:t>
            </a:r>
            <a:r>
              <a:rPr lang="pt-PT" sz="1200" kern="0" dirty="0" err="1">
                <a:solidFill>
                  <a:srgbClr val="000000"/>
                </a:solidFill>
              </a:rPr>
              <a:t>picked</a:t>
            </a:r>
            <a:r>
              <a:rPr lang="pt-PT" sz="1200" kern="0" dirty="0">
                <a:solidFill>
                  <a:srgbClr val="000000"/>
                </a:solidFill>
              </a:rPr>
              <a:t> </a:t>
            </a:r>
            <a:r>
              <a:rPr lang="pt-PT" sz="1200" kern="0" dirty="0" err="1">
                <a:solidFill>
                  <a:srgbClr val="000000"/>
                </a:solidFill>
              </a:rPr>
              <a:t>through</a:t>
            </a:r>
            <a:r>
              <a:rPr lang="pt-PT" sz="1200" kern="0" dirty="0">
                <a:solidFill>
                  <a:srgbClr val="000000"/>
                </a:solidFill>
              </a:rPr>
              <a:t> </a:t>
            </a:r>
            <a:r>
              <a:rPr lang="pt-PT" sz="1200" kern="0" dirty="0" err="1">
                <a:solidFill>
                  <a:srgbClr val="000000"/>
                </a:solidFill>
              </a:rPr>
              <a:t>exploring</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data </a:t>
            </a:r>
            <a:r>
              <a:rPr lang="pt-PT" sz="1200" kern="0" dirty="0" err="1">
                <a:solidFill>
                  <a:srgbClr val="000000"/>
                </a:solidFill>
              </a:rPr>
              <a:t>with</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script DataExploration.py),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creates</a:t>
            </a:r>
            <a:r>
              <a:rPr lang="pt-PT" sz="1200" kern="0" dirty="0">
                <a:solidFill>
                  <a:srgbClr val="000000"/>
                </a:solidFill>
              </a:rPr>
              <a:t> a </a:t>
            </a:r>
            <a:r>
              <a:rPr lang="pt-PT" sz="1200" kern="0" dirty="0" err="1">
                <a:solidFill>
                  <a:srgbClr val="000000"/>
                </a:solidFill>
              </a:rPr>
              <a:t>mean</a:t>
            </a:r>
            <a:r>
              <a:rPr lang="pt-PT" sz="1200" kern="0" dirty="0">
                <a:solidFill>
                  <a:srgbClr val="000000"/>
                </a:solidFill>
              </a:rPr>
              <a:t> for </a:t>
            </a:r>
            <a:r>
              <a:rPr lang="pt-PT" sz="1200" kern="0" dirty="0" err="1">
                <a:solidFill>
                  <a:srgbClr val="000000"/>
                </a:solidFill>
              </a:rPr>
              <a:t>each</a:t>
            </a:r>
            <a:r>
              <a:rPr lang="pt-PT" sz="1200" kern="0" dirty="0">
                <a:solidFill>
                  <a:srgbClr val="000000"/>
                </a:solidFill>
              </a:rPr>
              <a:t> </a:t>
            </a:r>
            <a:r>
              <a:rPr lang="pt-PT" sz="1200" kern="0" dirty="0" err="1">
                <a:solidFill>
                  <a:srgbClr val="000000"/>
                </a:solidFill>
              </a:rPr>
              <a:t>Manufacturer</a:t>
            </a:r>
            <a:r>
              <a:rPr lang="pt-PT" sz="1200" kern="0" dirty="0">
                <a:solidFill>
                  <a:srgbClr val="000000"/>
                </a:solidFill>
              </a:rPr>
              <a:t>, </a:t>
            </a:r>
            <a:r>
              <a:rPr lang="pt-PT" sz="1200" kern="0" dirty="0" err="1">
                <a:solidFill>
                  <a:srgbClr val="000000"/>
                </a:solidFill>
              </a:rPr>
              <a:t>Model</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Model</a:t>
            </a:r>
            <a:r>
              <a:rPr lang="pt-PT" sz="1200" kern="0" dirty="0">
                <a:solidFill>
                  <a:srgbClr val="000000"/>
                </a:solidFill>
              </a:rPr>
              <a:t> </a:t>
            </a:r>
            <a:r>
              <a:rPr lang="pt-PT" sz="1200" kern="0" dirty="0" err="1">
                <a:solidFill>
                  <a:srgbClr val="000000"/>
                </a:solidFill>
              </a:rPr>
              <a:t>Year</a:t>
            </a:r>
            <a:r>
              <a:rPr lang="pt-PT" sz="1200" kern="0" dirty="0">
                <a:solidFill>
                  <a:srgbClr val="000000"/>
                </a:solidFill>
              </a:rPr>
              <a:t> </a:t>
            </a:r>
            <a:r>
              <a:rPr lang="pt-PT" sz="1200" kern="0" dirty="0" err="1">
                <a:solidFill>
                  <a:srgbClr val="000000"/>
                </a:solidFill>
              </a:rPr>
              <a:t>combination</a:t>
            </a:r>
            <a:r>
              <a:rPr lang="pt-PT" sz="1200" kern="0" dirty="0">
                <a:solidFill>
                  <a:srgbClr val="000000"/>
                </a:solidFill>
              </a:rPr>
              <a:t>. </a:t>
            </a:r>
            <a:r>
              <a:rPr lang="pt-PT" sz="1200" kern="0" dirty="0" err="1">
                <a:solidFill>
                  <a:srgbClr val="000000"/>
                </a:solidFill>
              </a:rPr>
              <a:t>Finally</a:t>
            </a:r>
            <a:r>
              <a:rPr lang="pt-PT" sz="1200" kern="0" dirty="0">
                <a:solidFill>
                  <a:srgbClr val="000000"/>
                </a:solidFill>
              </a:rPr>
              <a:t>, removes </a:t>
            </a:r>
            <a:r>
              <a:rPr lang="pt-PT" sz="1200" kern="0" dirty="0" err="1">
                <a:solidFill>
                  <a:srgbClr val="000000"/>
                </a:solidFill>
              </a:rPr>
              <a:t>the</a:t>
            </a:r>
            <a:r>
              <a:rPr lang="pt-PT" sz="1200" kern="0" dirty="0">
                <a:solidFill>
                  <a:srgbClr val="000000"/>
                </a:solidFill>
              </a:rPr>
              <a:t> decimal </a:t>
            </a:r>
            <a:r>
              <a:rPr lang="pt-PT" sz="1200" kern="0" dirty="0" err="1">
                <a:solidFill>
                  <a:srgbClr val="000000"/>
                </a:solidFill>
              </a:rPr>
              <a:t>numbers</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stores</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table</a:t>
            </a:r>
            <a:r>
              <a:rPr lang="pt-PT" sz="1200" kern="0" dirty="0">
                <a:solidFill>
                  <a:srgbClr val="000000"/>
                </a:solidFill>
              </a:rPr>
              <a:t> in </a:t>
            </a:r>
            <a:r>
              <a:rPr lang="pt-PT" sz="1200" kern="0" dirty="0" err="1">
                <a:solidFill>
                  <a:srgbClr val="000000"/>
                </a:solidFill>
              </a:rPr>
              <a:t>the</a:t>
            </a:r>
            <a:r>
              <a:rPr lang="pt-PT" sz="1200" kern="0" dirty="0">
                <a:solidFill>
                  <a:srgbClr val="000000"/>
                </a:solidFill>
              </a:rPr>
              <a:t> Gold </a:t>
            </a:r>
            <a:r>
              <a:rPr lang="pt-PT" sz="1200" kern="0" dirty="0" err="1">
                <a:solidFill>
                  <a:srgbClr val="000000"/>
                </a:solidFill>
              </a:rPr>
              <a:t>folder</a:t>
            </a:r>
            <a:r>
              <a:rPr lang="pt-PT" sz="1200" kern="0" dirty="0">
                <a:solidFill>
                  <a:srgbClr val="000000"/>
                </a:solidFill>
              </a:rPr>
              <a:t>.</a:t>
            </a:r>
            <a:endParaRPr lang="en-US" sz="1200" kern="0" dirty="0">
              <a:solidFill>
                <a:srgbClr val="000000"/>
              </a:solidFill>
            </a:endParaRPr>
          </a:p>
        </p:txBody>
      </p:sp>
      <p:sp>
        <p:nvSpPr>
          <p:cNvPr id="36" name="Textfeld 8">
            <a:extLst>
              <a:ext uri="{FF2B5EF4-FFF2-40B4-BE49-F238E27FC236}">
                <a16:creationId xmlns:a16="http://schemas.microsoft.com/office/drawing/2014/main" id="{FA95719A-8473-968D-22E3-197AC2B0686D}"/>
              </a:ext>
            </a:extLst>
          </p:cNvPr>
          <p:cNvSpPr txBox="1">
            <a:spLocks/>
          </p:cNvSpPr>
          <p:nvPr/>
        </p:nvSpPr>
        <p:spPr>
          <a:xfrm>
            <a:off x="480591" y="5452721"/>
            <a:ext cx="10774948" cy="777241"/>
          </a:xfrm>
          <a:prstGeom prst="rect">
            <a:avLst/>
          </a:prstGeom>
          <a:noFill/>
        </p:spPr>
        <p:txBody>
          <a:bodyPr wrap="square" lIns="0" tIns="0" rIns="0" bIns="0" rtlCol="0">
            <a:noAutofit/>
          </a:bodyPr>
          <a:lstStyle/>
          <a:p>
            <a:r>
              <a:rPr lang="pt-PT" sz="1200" u="sng" kern="0" dirty="0">
                <a:solidFill>
                  <a:srgbClr val="000000"/>
                </a:solidFill>
              </a:rPr>
              <a:t>Note: </a:t>
            </a:r>
            <a:r>
              <a:rPr lang="pt-PT" sz="1200" kern="0" dirty="0" err="1">
                <a:solidFill>
                  <a:srgbClr val="000000"/>
                </a:solidFill>
              </a:rPr>
              <a:t>At</a:t>
            </a:r>
            <a:r>
              <a:rPr lang="pt-PT" sz="1200" kern="0" dirty="0">
                <a:solidFill>
                  <a:srgbClr val="000000"/>
                </a:solidFill>
              </a:rPr>
              <a:t> </a:t>
            </a:r>
            <a:r>
              <a:rPr lang="pt-PT" sz="1200" kern="0" dirty="0" err="1">
                <a:solidFill>
                  <a:srgbClr val="000000"/>
                </a:solidFill>
              </a:rPr>
              <a:t>first</a:t>
            </a:r>
            <a:r>
              <a:rPr lang="pt-PT" sz="1200" kern="0" dirty="0">
                <a:solidFill>
                  <a:srgbClr val="000000"/>
                </a:solidFill>
              </a:rPr>
              <a:t>, </a:t>
            </a:r>
            <a:r>
              <a:rPr lang="pt-PT" sz="1200" kern="0" dirty="0" err="1">
                <a:solidFill>
                  <a:srgbClr val="000000"/>
                </a:solidFill>
              </a:rPr>
              <a:t>one</a:t>
            </a:r>
            <a:r>
              <a:rPr lang="pt-PT" sz="1200" kern="0" dirty="0">
                <a:solidFill>
                  <a:srgbClr val="000000"/>
                </a:solidFill>
              </a:rPr>
              <a:t>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tables</a:t>
            </a:r>
            <a:r>
              <a:rPr lang="pt-PT" sz="1200" kern="0" dirty="0">
                <a:solidFill>
                  <a:srgbClr val="000000"/>
                </a:solidFill>
              </a:rPr>
              <a:t> i </a:t>
            </a:r>
            <a:r>
              <a:rPr lang="pt-PT" sz="1200" kern="0" dirty="0" err="1">
                <a:solidFill>
                  <a:srgbClr val="000000"/>
                </a:solidFill>
              </a:rPr>
              <a:t>wanted</a:t>
            </a:r>
            <a:r>
              <a:rPr lang="pt-PT" sz="1200" kern="0" dirty="0">
                <a:solidFill>
                  <a:srgbClr val="000000"/>
                </a:solidFill>
              </a:rPr>
              <a:t> to </a:t>
            </a:r>
            <a:r>
              <a:rPr lang="pt-PT" sz="1200" kern="0" dirty="0" err="1">
                <a:solidFill>
                  <a:srgbClr val="000000"/>
                </a:solidFill>
              </a:rPr>
              <a:t>create</a:t>
            </a:r>
            <a:r>
              <a:rPr lang="pt-PT" sz="1200" kern="0" dirty="0">
                <a:solidFill>
                  <a:srgbClr val="000000"/>
                </a:solidFill>
              </a:rPr>
              <a:t> </a:t>
            </a:r>
            <a:r>
              <a:rPr lang="pt-PT" sz="1200" kern="0" dirty="0" err="1">
                <a:solidFill>
                  <a:srgbClr val="000000"/>
                </a:solidFill>
              </a:rPr>
              <a:t>was</a:t>
            </a:r>
            <a:r>
              <a:rPr lang="pt-PT" sz="1200" kern="0" dirty="0">
                <a:solidFill>
                  <a:srgbClr val="000000"/>
                </a:solidFill>
              </a:rPr>
              <a:t> a general </a:t>
            </a:r>
            <a:r>
              <a:rPr lang="pt-PT" sz="1200" kern="0" dirty="0" err="1">
                <a:solidFill>
                  <a:srgbClr val="000000"/>
                </a:solidFill>
              </a:rPr>
              <a:t>vehicle</a:t>
            </a:r>
            <a:r>
              <a:rPr lang="pt-PT" sz="1200" kern="0" dirty="0">
                <a:solidFill>
                  <a:srgbClr val="000000"/>
                </a:solidFill>
              </a:rPr>
              <a:t> </a:t>
            </a:r>
            <a:r>
              <a:rPr lang="pt-PT" sz="1200" kern="0" dirty="0" err="1">
                <a:solidFill>
                  <a:srgbClr val="000000"/>
                </a:solidFill>
              </a:rPr>
              <a:t>summary</a:t>
            </a:r>
            <a:r>
              <a:rPr lang="pt-PT" sz="1200" kern="0" dirty="0">
                <a:solidFill>
                  <a:srgbClr val="000000"/>
                </a:solidFill>
              </a:rPr>
              <a:t>, </a:t>
            </a:r>
            <a:r>
              <a:rPr lang="pt-PT" sz="1200" kern="0" dirty="0" err="1">
                <a:solidFill>
                  <a:srgbClr val="000000"/>
                </a:solidFill>
              </a:rPr>
              <a:t>where</a:t>
            </a:r>
            <a:r>
              <a:rPr lang="pt-PT" sz="1200" kern="0" dirty="0">
                <a:solidFill>
                  <a:srgbClr val="000000"/>
                </a:solidFill>
              </a:rPr>
              <a:t> i </a:t>
            </a:r>
            <a:r>
              <a:rPr lang="pt-PT" sz="1200" kern="0" dirty="0" err="1">
                <a:solidFill>
                  <a:srgbClr val="000000"/>
                </a:solidFill>
              </a:rPr>
              <a:t>would</a:t>
            </a:r>
            <a:r>
              <a:rPr lang="pt-PT" sz="1200" kern="0" dirty="0">
                <a:solidFill>
                  <a:srgbClr val="000000"/>
                </a:solidFill>
              </a:rPr>
              <a:t> do a </a:t>
            </a:r>
            <a:r>
              <a:rPr lang="pt-PT" sz="1200" kern="0" dirty="0" err="1">
                <a:solidFill>
                  <a:srgbClr val="000000"/>
                </a:solidFill>
              </a:rPr>
              <a:t>left</a:t>
            </a:r>
            <a:r>
              <a:rPr lang="pt-PT" sz="1200" kern="0" dirty="0">
                <a:solidFill>
                  <a:srgbClr val="000000"/>
                </a:solidFill>
              </a:rPr>
              <a:t> </a:t>
            </a:r>
            <a:r>
              <a:rPr lang="pt-PT" sz="1200" kern="0" dirty="0" err="1">
                <a:solidFill>
                  <a:srgbClr val="000000"/>
                </a:solidFill>
              </a:rPr>
              <a:t>join</a:t>
            </a:r>
            <a:r>
              <a:rPr lang="pt-PT" sz="1200" kern="0" dirty="0">
                <a:solidFill>
                  <a:srgbClr val="000000"/>
                </a:solidFill>
              </a:rPr>
              <a:t> </a:t>
            </a:r>
            <a:r>
              <a:rPr lang="pt-PT" sz="1200" kern="0" dirty="0" err="1">
                <a:solidFill>
                  <a:srgbClr val="000000"/>
                </a:solidFill>
              </a:rPr>
              <a:t>on</a:t>
            </a:r>
            <a:r>
              <a:rPr lang="pt-PT" sz="1200" kern="0" dirty="0">
                <a:solidFill>
                  <a:srgbClr val="000000"/>
                </a:solidFill>
              </a:rPr>
              <a:t> light-duty-vehicles-2026-02-08 </a:t>
            </a:r>
            <a:r>
              <a:rPr lang="pt-PT" sz="1200" kern="0" dirty="0" err="1">
                <a:solidFill>
                  <a:srgbClr val="000000"/>
                </a:solidFill>
              </a:rPr>
              <a:t>join</a:t>
            </a:r>
            <a:r>
              <a:rPr lang="pt-PT" sz="1200" kern="0" dirty="0">
                <a:solidFill>
                  <a:srgbClr val="000000"/>
                </a:solidFill>
              </a:rPr>
              <a:t> </a:t>
            </a:r>
            <a:r>
              <a:rPr lang="pt-PT" sz="1200" kern="0" dirty="0" err="1">
                <a:solidFill>
                  <a:srgbClr val="000000"/>
                </a:solidFill>
              </a:rPr>
              <a:t>keys</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a:t>
            </a:r>
            <a:r>
              <a:rPr lang="pt-PT" sz="1200" kern="0" dirty="0" err="1">
                <a:solidFill>
                  <a:srgbClr val="000000"/>
                </a:solidFill>
              </a:rPr>
              <a:t>get</a:t>
            </a:r>
            <a:r>
              <a:rPr lang="pt-PT" sz="1200" kern="0" dirty="0">
                <a:solidFill>
                  <a:srgbClr val="000000"/>
                </a:solidFill>
              </a:rPr>
              <a:t> </a:t>
            </a:r>
            <a:r>
              <a:rPr lang="pt-PT" sz="1200" kern="0" dirty="0" err="1">
                <a:solidFill>
                  <a:srgbClr val="000000"/>
                </a:solidFill>
              </a:rPr>
              <a:t>all</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information</a:t>
            </a:r>
            <a:r>
              <a:rPr lang="pt-PT" sz="1200" kern="0" dirty="0">
                <a:solidFill>
                  <a:srgbClr val="000000"/>
                </a:solidFill>
              </a:rPr>
              <a:t> i </a:t>
            </a:r>
            <a:r>
              <a:rPr lang="pt-PT" sz="1200" kern="0" dirty="0" err="1">
                <a:solidFill>
                  <a:srgbClr val="000000"/>
                </a:solidFill>
              </a:rPr>
              <a:t>could</a:t>
            </a:r>
            <a:r>
              <a:rPr lang="pt-PT" sz="1200" kern="0" dirty="0">
                <a:solidFill>
                  <a:srgbClr val="000000"/>
                </a:solidFill>
              </a:rPr>
              <a:t> for </a:t>
            </a:r>
            <a:r>
              <a:rPr lang="pt-PT" sz="1200" kern="0" dirty="0" err="1">
                <a:solidFill>
                  <a:srgbClr val="000000"/>
                </a:solidFill>
              </a:rPr>
              <a:t>every</a:t>
            </a:r>
            <a:r>
              <a:rPr lang="pt-PT" sz="1200" kern="0" dirty="0">
                <a:solidFill>
                  <a:srgbClr val="000000"/>
                </a:solidFill>
              </a:rPr>
              <a:t> </a:t>
            </a:r>
            <a:r>
              <a:rPr lang="pt-PT" sz="1200" kern="0" dirty="0" err="1">
                <a:solidFill>
                  <a:srgbClr val="000000"/>
                </a:solidFill>
              </a:rPr>
              <a:t>vehicle</a:t>
            </a:r>
            <a:r>
              <a:rPr lang="pt-PT" sz="1200" kern="0" dirty="0">
                <a:solidFill>
                  <a:srgbClr val="000000"/>
                </a:solidFill>
              </a:rPr>
              <a:t> </a:t>
            </a:r>
            <a:r>
              <a:rPr lang="pt-PT" sz="1200" kern="0" dirty="0" err="1">
                <a:solidFill>
                  <a:srgbClr val="000000"/>
                </a:solidFill>
              </a:rPr>
              <a:t>type</a:t>
            </a:r>
            <a:r>
              <a:rPr lang="pt-PT" sz="1200" kern="0" dirty="0">
                <a:solidFill>
                  <a:srgbClr val="000000"/>
                </a:solidFill>
              </a:rPr>
              <a:t> (fuel, </a:t>
            </a:r>
            <a:r>
              <a:rPr lang="pt-PT" sz="1200" kern="0" dirty="0" err="1">
                <a:solidFill>
                  <a:srgbClr val="000000"/>
                </a:solidFill>
              </a:rPr>
              <a:t>safety</a:t>
            </a:r>
            <a:r>
              <a:rPr lang="pt-PT" sz="1200" kern="0" dirty="0">
                <a:solidFill>
                  <a:srgbClr val="000000"/>
                </a:solidFill>
              </a:rPr>
              <a:t>, </a:t>
            </a:r>
            <a:r>
              <a:rPr lang="pt-PT" sz="1200" kern="0" dirty="0" err="1">
                <a:solidFill>
                  <a:srgbClr val="000000"/>
                </a:solidFill>
              </a:rPr>
              <a:t>emissions</a:t>
            </a:r>
            <a:r>
              <a:rPr lang="pt-PT" sz="1200" kern="0" dirty="0">
                <a:solidFill>
                  <a:srgbClr val="000000"/>
                </a:solidFill>
              </a:rPr>
              <a:t>…). </a:t>
            </a:r>
            <a:r>
              <a:rPr lang="pt-PT" sz="1200" kern="0" dirty="0" err="1">
                <a:solidFill>
                  <a:srgbClr val="000000"/>
                </a:solidFill>
              </a:rPr>
              <a:t>But</a:t>
            </a:r>
            <a:r>
              <a:rPr lang="pt-PT" sz="1200" kern="0" dirty="0">
                <a:solidFill>
                  <a:srgbClr val="000000"/>
                </a:solidFill>
              </a:rPr>
              <a:t> </a:t>
            </a:r>
            <a:r>
              <a:rPr lang="pt-PT" sz="1200" kern="0" dirty="0" err="1">
                <a:solidFill>
                  <a:srgbClr val="000000"/>
                </a:solidFill>
              </a:rPr>
              <a:t>when</a:t>
            </a:r>
            <a:r>
              <a:rPr lang="pt-PT" sz="1200" kern="0" dirty="0">
                <a:solidFill>
                  <a:srgbClr val="000000"/>
                </a:solidFill>
              </a:rPr>
              <a:t> i </a:t>
            </a:r>
            <a:r>
              <a:rPr lang="pt-PT" sz="1200" kern="0" dirty="0" err="1">
                <a:solidFill>
                  <a:srgbClr val="000000"/>
                </a:solidFill>
              </a:rPr>
              <a:t>tested</a:t>
            </a:r>
            <a:r>
              <a:rPr lang="pt-PT" sz="1200" kern="0" dirty="0">
                <a:solidFill>
                  <a:srgbClr val="000000"/>
                </a:solidFill>
              </a:rPr>
              <a:t> </a:t>
            </a:r>
            <a:r>
              <a:rPr lang="pt-PT" sz="1200" kern="0" dirty="0" err="1">
                <a:solidFill>
                  <a:srgbClr val="000000"/>
                </a:solidFill>
              </a:rPr>
              <a:t>it</a:t>
            </a:r>
            <a:r>
              <a:rPr lang="pt-PT" sz="1200" kern="0" dirty="0">
                <a:solidFill>
                  <a:srgbClr val="000000"/>
                </a:solidFill>
              </a:rPr>
              <a:t>, i </a:t>
            </a:r>
            <a:r>
              <a:rPr lang="pt-PT" sz="1200" kern="0" dirty="0" err="1">
                <a:solidFill>
                  <a:srgbClr val="000000"/>
                </a:solidFill>
              </a:rPr>
              <a:t>got</a:t>
            </a:r>
            <a:r>
              <a:rPr lang="pt-PT" sz="1200" kern="0" dirty="0">
                <a:solidFill>
                  <a:srgbClr val="000000"/>
                </a:solidFill>
              </a:rPr>
              <a:t> </a:t>
            </a:r>
            <a:r>
              <a:rPr lang="pt-PT" sz="1200" kern="0" dirty="0" err="1">
                <a:solidFill>
                  <a:srgbClr val="000000"/>
                </a:solidFill>
              </a:rPr>
              <a:t>very</a:t>
            </a:r>
            <a:r>
              <a:rPr lang="pt-PT" sz="1200" kern="0" dirty="0">
                <a:solidFill>
                  <a:srgbClr val="000000"/>
                </a:solidFill>
              </a:rPr>
              <a:t> </a:t>
            </a:r>
            <a:r>
              <a:rPr lang="pt-PT" sz="1200" kern="0" dirty="0" err="1">
                <a:solidFill>
                  <a:srgbClr val="000000"/>
                </a:solidFill>
              </a:rPr>
              <a:t>few</a:t>
            </a:r>
            <a:r>
              <a:rPr lang="pt-PT" sz="1200" kern="0" dirty="0">
                <a:solidFill>
                  <a:srgbClr val="000000"/>
                </a:solidFill>
              </a:rPr>
              <a:t> </a:t>
            </a:r>
            <a:r>
              <a:rPr lang="pt-PT" sz="1200" kern="0" dirty="0" err="1">
                <a:solidFill>
                  <a:srgbClr val="000000"/>
                </a:solidFill>
              </a:rPr>
              <a:t>rows</a:t>
            </a:r>
            <a:r>
              <a:rPr lang="pt-PT" sz="1200" kern="0" dirty="0">
                <a:solidFill>
                  <a:srgbClr val="000000"/>
                </a:solidFill>
              </a:rPr>
              <a:t> </a:t>
            </a:r>
            <a:r>
              <a:rPr lang="pt-PT" sz="1200" kern="0" dirty="0" err="1">
                <a:solidFill>
                  <a:srgbClr val="000000"/>
                </a:solidFill>
              </a:rPr>
              <a:t>with</a:t>
            </a:r>
            <a:r>
              <a:rPr lang="pt-PT" sz="1200" kern="0" dirty="0">
                <a:solidFill>
                  <a:srgbClr val="000000"/>
                </a:solidFill>
              </a:rPr>
              <a:t> </a:t>
            </a:r>
            <a:r>
              <a:rPr lang="pt-PT" sz="1200" kern="0" dirty="0" err="1">
                <a:solidFill>
                  <a:srgbClr val="000000"/>
                </a:solidFill>
              </a:rPr>
              <a:t>information</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majority</a:t>
            </a:r>
            <a:r>
              <a:rPr lang="pt-PT" sz="1200" kern="0" dirty="0">
                <a:solidFill>
                  <a:srgbClr val="000000"/>
                </a:solidFill>
              </a:rPr>
              <a:t> </a:t>
            </a:r>
            <a:r>
              <a:rPr lang="pt-PT" sz="1200" kern="0" dirty="0" err="1">
                <a:solidFill>
                  <a:srgbClr val="000000"/>
                </a:solidFill>
              </a:rPr>
              <a:t>of</a:t>
            </a:r>
            <a:r>
              <a:rPr lang="pt-PT" sz="1200" kern="0" dirty="0">
                <a:solidFill>
                  <a:srgbClr val="000000"/>
                </a:solidFill>
              </a:rPr>
              <a:t> </a:t>
            </a:r>
            <a:r>
              <a:rPr lang="pt-PT" sz="1200" kern="0" dirty="0" err="1">
                <a:solidFill>
                  <a:srgbClr val="000000"/>
                </a:solidFill>
              </a:rPr>
              <a:t>the</a:t>
            </a:r>
            <a:r>
              <a:rPr lang="pt-PT" sz="1200" kern="0" dirty="0">
                <a:solidFill>
                  <a:srgbClr val="000000"/>
                </a:solidFill>
              </a:rPr>
              <a:t> </a:t>
            </a:r>
            <a:r>
              <a:rPr lang="pt-PT" sz="1200" kern="0" dirty="0" err="1">
                <a:solidFill>
                  <a:srgbClr val="000000"/>
                </a:solidFill>
              </a:rPr>
              <a:t>vehicles</a:t>
            </a:r>
            <a:r>
              <a:rPr lang="pt-PT" sz="1200" kern="0" dirty="0">
                <a:solidFill>
                  <a:srgbClr val="000000"/>
                </a:solidFill>
              </a:rPr>
              <a:t> </a:t>
            </a:r>
            <a:r>
              <a:rPr lang="pt-PT" sz="1200" kern="0" dirty="0" err="1">
                <a:solidFill>
                  <a:srgbClr val="000000"/>
                </a:solidFill>
              </a:rPr>
              <a:t>wasn’t</a:t>
            </a:r>
            <a:r>
              <a:rPr lang="pt-PT" sz="1200" kern="0" dirty="0">
                <a:solidFill>
                  <a:srgbClr val="000000"/>
                </a:solidFill>
              </a:rPr>
              <a:t> </a:t>
            </a:r>
            <a:r>
              <a:rPr lang="pt-PT" sz="1200" kern="0" dirty="0" err="1">
                <a:solidFill>
                  <a:srgbClr val="000000"/>
                </a:solidFill>
              </a:rPr>
              <a:t>common</a:t>
            </a:r>
            <a:r>
              <a:rPr lang="pt-PT" sz="1200" kern="0" dirty="0">
                <a:solidFill>
                  <a:srgbClr val="000000"/>
                </a:solidFill>
              </a:rPr>
              <a:t> in </a:t>
            </a:r>
            <a:r>
              <a:rPr lang="pt-PT" sz="1200" kern="0" dirty="0" err="1">
                <a:solidFill>
                  <a:srgbClr val="000000"/>
                </a:solidFill>
              </a:rPr>
              <a:t>the</a:t>
            </a:r>
            <a:r>
              <a:rPr lang="pt-PT" sz="1200" kern="0" dirty="0">
                <a:solidFill>
                  <a:srgbClr val="000000"/>
                </a:solidFill>
              </a:rPr>
              <a:t> files. As </a:t>
            </a:r>
            <a:r>
              <a:rPr lang="pt-PT" sz="1200" kern="0" dirty="0" err="1">
                <a:solidFill>
                  <a:srgbClr val="000000"/>
                </a:solidFill>
              </a:rPr>
              <a:t>consequence</a:t>
            </a:r>
            <a:r>
              <a:rPr lang="pt-PT" sz="1200" kern="0" dirty="0">
                <a:solidFill>
                  <a:srgbClr val="000000"/>
                </a:solidFill>
              </a:rPr>
              <a:t> </a:t>
            </a:r>
            <a:r>
              <a:rPr lang="pt-PT" sz="1200" kern="0" dirty="0" err="1">
                <a:solidFill>
                  <a:srgbClr val="000000"/>
                </a:solidFill>
              </a:rPr>
              <a:t>and</a:t>
            </a:r>
            <a:r>
              <a:rPr lang="pt-PT" sz="1200" kern="0" dirty="0">
                <a:solidFill>
                  <a:srgbClr val="000000"/>
                </a:solidFill>
              </a:rPr>
              <a:t> to </a:t>
            </a:r>
            <a:r>
              <a:rPr lang="pt-PT" sz="1200" kern="0" dirty="0" err="1">
                <a:solidFill>
                  <a:srgbClr val="000000"/>
                </a:solidFill>
              </a:rPr>
              <a:t>ensure</a:t>
            </a:r>
            <a:r>
              <a:rPr lang="pt-PT" sz="1200" kern="0" dirty="0">
                <a:solidFill>
                  <a:srgbClr val="000000"/>
                </a:solidFill>
              </a:rPr>
              <a:t> data </a:t>
            </a:r>
            <a:r>
              <a:rPr lang="pt-PT" sz="1200" kern="0" dirty="0" err="1">
                <a:solidFill>
                  <a:srgbClr val="000000"/>
                </a:solidFill>
              </a:rPr>
              <a:t>quality</a:t>
            </a:r>
            <a:r>
              <a:rPr lang="pt-PT" sz="1200" kern="0" dirty="0">
                <a:solidFill>
                  <a:srgbClr val="000000"/>
                </a:solidFill>
              </a:rPr>
              <a:t>, i </a:t>
            </a:r>
            <a:r>
              <a:rPr lang="pt-PT" sz="1200" kern="0" dirty="0" err="1">
                <a:solidFill>
                  <a:srgbClr val="000000"/>
                </a:solidFill>
              </a:rPr>
              <a:t>didn’t</a:t>
            </a:r>
            <a:r>
              <a:rPr lang="pt-PT" sz="1200" kern="0" dirty="0">
                <a:solidFill>
                  <a:srgbClr val="000000"/>
                </a:solidFill>
              </a:rPr>
              <a:t> </a:t>
            </a:r>
            <a:r>
              <a:rPr lang="pt-PT" sz="1200" kern="0" dirty="0" err="1">
                <a:solidFill>
                  <a:srgbClr val="000000"/>
                </a:solidFill>
              </a:rPr>
              <a:t>join</a:t>
            </a:r>
            <a:r>
              <a:rPr lang="pt-PT" sz="1200" kern="0" dirty="0">
                <a:solidFill>
                  <a:srgbClr val="000000"/>
                </a:solidFill>
              </a:rPr>
              <a:t> </a:t>
            </a:r>
            <a:r>
              <a:rPr lang="pt-PT" sz="1200" kern="0" dirty="0" err="1">
                <a:solidFill>
                  <a:srgbClr val="000000"/>
                </a:solidFill>
              </a:rPr>
              <a:t>any</a:t>
            </a:r>
            <a:r>
              <a:rPr lang="pt-PT" sz="1200" kern="0" dirty="0">
                <a:solidFill>
                  <a:srgbClr val="000000"/>
                </a:solidFill>
              </a:rPr>
              <a:t> </a:t>
            </a:r>
            <a:r>
              <a:rPr lang="pt-PT" sz="1200" kern="0" dirty="0" err="1">
                <a:solidFill>
                  <a:srgbClr val="000000"/>
                </a:solidFill>
              </a:rPr>
              <a:t>dataset</a:t>
            </a:r>
            <a:r>
              <a:rPr lang="pt-PT" sz="1200" kern="0" dirty="0">
                <a:solidFill>
                  <a:srgbClr val="000000"/>
                </a:solidFill>
              </a:rPr>
              <a:t>.</a:t>
            </a:r>
            <a:endParaRPr lang="en-US" sz="1200" kern="0" dirty="0">
              <a:solidFill>
                <a:srgbClr val="000000"/>
              </a:solidFill>
            </a:endParaRPr>
          </a:p>
        </p:txBody>
      </p:sp>
    </p:spTree>
    <p:extLst>
      <p:ext uri="{BB962C8B-B14F-4D97-AF65-F5344CB8AC3E}">
        <p14:creationId xmlns:p14="http://schemas.microsoft.com/office/powerpoint/2010/main" val="168391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0AF7-6A93-C80C-C3C2-1A8204318943}"/>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18B94CAB-01F0-1CB9-7210-C7C5F1D4FECF}"/>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DATA LOADING</a:t>
            </a:r>
          </a:p>
        </p:txBody>
      </p:sp>
      <p:sp>
        <p:nvSpPr>
          <p:cNvPr id="22" name="Textfeld 8">
            <a:extLst>
              <a:ext uri="{FF2B5EF4-FFF2-40B4-BE49-F238E27FC236}">
                <a16:creationId xmlns:a16="http://schemas.microsoft.com/office/drawing/2014/main" id="{4CB799DF-D6F1-2C94-CBA8-401E44BF91B4}"/>
              </a:ext>
            </a:extLst>
          </p:cNvPr>
          <p:cNvSpPr txBox="1">
            <a:spLocks/>
          </p:cNvSpPr>
          <p:nvPr/>
        </p:nvSpPr>
        <p:spPr>
          <a:xfrm>
            <a:off x="591044" y="1015779"/>
            <a:ext cx="10774948" cy="1270221"/>
          </a:xfrm>
          <a:prstGeom prst="rect">
            <a:avLst/>
          </a:prstGeom>
          <a:noFill/>
        </p:spPr>
        <p:txBody>
          <a:bodyPr wrap="square" lIns="0" tIns="0" rIns="0" bIns="0" rtlCol="0">
            <a:noAutofit/>
          </a:bodyPr>
          <a:lstStyle/>
          <a:p>
            <a:r>
              <a:rPr lang="en-US" sz="1200" kern="0" dirty="0">
                <a:solidFill>
                  <a:srgbClr val="000000"/>
                </a:solidFill>
              </a:rPr>
              <a:t>After generating the final Gold tables, the next step was to simulate how these datasets would be loaded into a hypothetical storage system.</a:t>
            </a:r>
          </a:p>
          <a:p>
            <a:endParaRPr lang="en-US" sz="1200" kern="0" dirty="0">
              <a:solidFill>
                <a:srgbClr val="000000"/>
              </a:solidFill>
            </a:endParaRPr>
          </a:p>
          <a:p>
            <a:r>
              <a:rPr lang="en-US" sz="1200" kern="0" dirty="0">
                <a:solidFill>
                  <a:srgbClr val="000000"/>
                </a:solidFill>
              </a:rPr>
              <a:t>Since the assessment does not have an actual cloud environment, the loading process was simulated using Databricks Delta Lake as it aligns naturally with the Medallion architecture, and I wanted to follow the process of Loading and Automation with Databricks.</a:t>
            </a:r>
          </a:p>
          <a:p>
            <a:endParaRPr lang="en-US" sz="1200" kern="0" dirty="0">
              <a:solidFill>
                <a:srgbClr val="000000"/>
              </a:solidFill>
            </a:endParaRPr>
          </a:p>
          <a:p>
            <a:r>
              <a:rPr lang="en-US" sz="1200" kern="0" dirty="0">
                <a:solidFill>
                  <a:srgbClr val="000000"/>
                </a:solidFill>
              </a:rPr>
              <a:t>Script Steps:</a:t>
            </a:r>
          </a:p>
        </p:txBody>
      </p:sp>
      <p:sp>
        <p:nvSpPr>
          <p:cNvPr id="6" name="Textfeld 8">
            <a:extLst>
              <a:ext uri="{FF2B5EF4-FFF2-40B4-BE49-F238E27FC236}">
                <a16:creationId xmlns:a16="http://schemas.microsoft.com/office/drawing/2014/main" id="{C698A986-F213-1263-0716-D4F640E210E9}"/>
              </a:ext>
            </a:extLst>
          </p:cNvPr>
          <p:cNvSpPr txBox="1">
            <a:spLocks/>
          </p:cNvSpPr>
          <p:nvPr/>
        </p:nvSpPr>
        <p:spPr>
          <a:xfrm>
            <a:off x="923544" y="2457483"/>
            <a:ext cx="10442448" cy="3203115"/>
          </a:xfrm>
          <a:prstGeom prst="rect">
            <a:avLst/>
          </a:prstGeom>
          <a:noFill/>
        </p:spPr>
        <p:txBody>
          <a:bodyPr wrap="square" lIns="0" tIns="0" rIns="0" bIns="0" rtlCol="0">
            <a:noAutofit/>
          </a:bodyPr>
          <a:lstStyle/>
          <a:p>
            <a:r>
              <a:rPr lang="en-US" sz="1200" kern="0" dirty="0">
                <a:solidFill>
                  <a:srgbClr val="000000"/>
                </a:solidFill>
              </a:rPr>
              <a:t>A database location was defined using a generic Databricks mount path:</a:t>
            </a:r>
          </a:p>
          <a:p>
            <a:endParaRPr lang="en-US" sz="1200" kern="0" dirty="0">
              <a:solidFill>
                <a:srgbClr val="000000"/>
              </a:solidFill>
            </a:endParaRPr>
          </a:p>
          <a:p>
            <a:r>
              <a:rPr lang="en-US" sz="1200" kern="0" dirty="0">
                <a:solidFill>
                  <a:srgbClr val="000000"/>
                </a:solidFill>
              </a:rPr>
              <a:t>area = 'ASSESSMENT'</a:t>
            </a:r>
          </a:p>
          <a:p>
            <a:r>
              <a:rPr lang="en-US" sz="1200" kern="0" dirty="0">
                <a:solidFill>
                  <a:srgbClr val="000000"/>
                </a:solidFill>
              </a:rPr>
              <a:t>project = '</a:t>
            </a:r>
            <a:r>
              <a:rPr lang="en-US" sz="1200" kern="0" dirty="0" err="1">
                <a:solidFill>
                  <a:srgbClr val="000000"/>
                </a:solidFill>
              </a:rPr>
              <a:t>vehicle_analytics</a:t>
            </a:r>
            <a:r>
              <a:rPr lang="en-US" sz="1200" kern="0" dirty="0">
                <a:solidFill>
                  <a:srgbClr val="000000"/>
                </a:solidFill>
              </a:rPr>
              <a:t>'</a:t>
            </a:r>
          </a:p>
          <a:p>
            <a:r>
              <a:rPr lang="en-US" sz="1200" kern="0" dirty="0" err="1">
                <a:solidFill>
                  <a:srgbClr val="000000"/>
                </a:solidFill>
              </a:rPr>
              <a:t>db_location</a:t>
            </a:r>
            <a:r>
              <a:rPr lang="en-US" sz="1200" kern="0" dirty="0">
                <a:solidFill>
                  <a:srgbClr val="000000"/>
                </a:solidFill>
              </a:rPr>
              <a:t> = </a:t>
            </a:r>
            <a:r>
              <a:rPr lang="en-US" sz="1200" kern="0" dirty="0" err="1">
                <a:solidFill>
                  <a:srgbClr val="000000"/>
                </a:solidFill>
              </a:rPr>
              <a:t>f'dbfs</a:t>
            </a:r>
            <a:r>
              <a:rPr lang="en-US" sz="1200" kern="0" dirty="0">
                <a:solidFill>
                  <a:srgbClr val="000000"/>
                </a:solidFill>
              </a:rPr>
              <a:t>:/</a:t>
            </a:r>
            <a:r>
              <a:rPr lang="en-US" sz="1200" kern="0" dirty="0" err="1">
                <a:solidFill>
                  <a:srgbClr val="000000"/>
                </a:solidFill>
              </a:rPr>
              <a:t>mnt</a:t>
            </a:r>
            <a:r>
              <a:rPr lang="en-US" sz="1200" kern="0" dirty="0">
                <a:solidFill>
                  <a:srgbClr val="000000"/>
                </a:solidFill>
              </a:rPr>
              <a:t>/{area}/{project}/databases/'</a:t>
            </a:r>
          </a:p>
          <a:p>
            <a:r>
              <a:rPr lang="en-US" sz="1200" kern="0" dirty="0" err="1">
                <a:solidFill>
                  <a:srgbClr val="000000"/>
                </a:solidFill>
              </a:rPr>
              <a:t>db_processed</a:t>
            </a:r>
            <a:r>
              <a:rPr lang="en-US" sz="1200" kern="0" dirty="0">
                <a:solidFill>
                  <a:srgbClr val="000000"/>
                </a:solidFill>
              </a:rPr>
              <a:t> = 'gold’</a:t>
            </a:r>
          </a:p>
          <a:p>
            <a:endParaRPr lang="en-US" sz="1200" kern="0" dirty="0">
              <a:solidFill>
                <a:srgbClr val="000000"/>
              </a:solidFill>
            </a:endParaRPr>
          </a:p>
          <a:p>
            <a:r>
              <a:rPr lang="en-US" sz="1200" dirty="0"/>
              <a:t>A Delta Lake database named “gold” was created (if it didn’t already exist);</a:t>
            </a:r>
            <a:endParaRPr lang="en-US" sz="1200" kern="0" dirty="0">
              <a:solidFill>
                <a:srgbClr val="000000"/>
              </a:solidFill>
            </a:endParaRPr>
          </a:p>
          <a:p>
            <a:endParaRPr lang="en-US" sz="1200" kern="0" dirty="0">
              <a:solidFill>
                <a:srgbClr val="000000"/>
              </a:solidFill>
            </a:endParaRPr>
          </a:p>
          <a:p>
            <a:r>
              <a:rPr lang="en-US" sz="1200" kern="0" dirty="0">
                <a:solidFill>
                  <a:srgbClr val="000000"/>
                </a:solidFill>
              </a:rPr>
              <a:t>Each Gold Parquet output was loaded into Spark </a:t>
            </a:r>
            <a:r>
              <a:rPr lang="en-US" sz="1200" kern="0" dirty="0" err="1">
                <a:solidFill>
                  <a:srgbClr val="000000"/>
                </a:solidFill>
              </a:rPr>
              <a:t>DataFrames</a:t>
            </a:r>
            <a:r>
              <a:rPr lang="en-US" sz="1200" kern="0" dirty="0">
                <a:solidFill>
                  <a:srgbClr val="000000"/>
                </a:solidFill>
              </a:rPr>
              <a:t>;</a:t>
            </a:r>
          </a:p>
          <a:p>
            <a:endParaRPr lang="en-US" sz="1200" kern="0" dirty="0">
              <a:solidFill>
                <a:srgbClr val="000000"/>
              </a:solidFill>
            </a:endParaRPr>
          </a:p>
          <a:p>
            <a:r>
              <a:rPr lang="en-US" sz="1200" kern="0" dirty="0">
                <a:solidFill>
                  <a:srgbClr val="000000"/>
                </a:solidFill>
              </a:rPr>
              <a:t>Each Spark </a:t>
            </a:r>
            <a:r>
              <a:rPr lang="en-US" sz="1200" kern="0" dirty="0" err="1">
                <a:solidFill>
                  <a:srgbClr val="000000"/>
                </a:solidFill>
              </a:rPr>
              <a:t>DataFrame</a:t>
            </a:r>
            <a:r>
              <a:rPr lang="en-US" sz="1200" kern="0" dirty="0">
                <a:solidFill>
                  <a:srgbClr val="000000"/>
                </a:solidFill>
              </a:rPr>
              <a:t> was written as a Delta table inside the gold database:</a:t>
            </a:r>
          </a:p>
          <a:p>
            <a:endParaRPr lang="en-US" sz="1200" kern="0" dirty="0">
              <a:solidFill>
                <a:srgbClr val="000000"/>
              </a:solidFill>
            </a:endParaRPr>
          </a:p>
          <a:p>
            <a:r>
              <a:rPr lang="en-US" sz="1200" kern="0" dirty="0">
                <a:solidFill>
                  <a:srgbClr val="000000"/>
                </a:solidFill>
              </a:rPr>
              <a:t>.</a:t>
            </a:r>
            <a:r>
              <a:rPr lang="en-US" sz="1200" kern="0" dirty="0" err="1">
                <a:solidFill>
                  <a:srgbClr val="000000"/>
                </a:solidFill>
              </a:rPr>
              <a:t>write.format</a:t>
            </a:r>
            <a:r>
              <a:rPr lang="en-US" sz="1200" kern="0" dirty="0">
                <a:solidFill>
                  <a:srgbClr val="000000"/>
                </a:solidFill>
              </a:rPr>
              <a:t>("delta").mode("overwrite").option("</a:t>
            </a:r>
            <a:r>
              <a:rPr lang="en-US" sz="1200" kern="0" dirty="0" err="1">
                <a:solidFill>
                  <a:srgbClr val="000000"/>
                </a:solidFill>
              </a:rPr>
              <a:t>overwriteSchema</a:t>
            </a:r>
            <a:r>
              <a:rPr lang="en-US" sz="1200" kern="0" dirty="0">
                <a:solidFill>
                  <a:srgbClr val="000000"/>
                </a:solidFill>
              </a:rPr>
              <a:t>", "true").</a:t>
            </a:r>
            <a:r>
              <a:rPr lang="en-US" sz="1200" kern="0" dirty="0" err="1">
                <a:solidFill>
                  <a:srgbClr val="000000"/>
                </a:solidFill>
              </a:rPr>
              <a:t>saveAsTable</a:t>
            </a:r>
            <a:r>
              <a:rPr lang="en-US" sz="1200" kern="0" dirty="0">
                <a:solidFill>
                  <a:srgbClr val="000000"/>
                </a:solidFill>
              </a:rPr>
              <a:t>("</a:t>
            </a:r>
            <a:r>
              <a:rPr lang="en-US" sz="1200" kern="0" dirty="0" err="1">
                <a:solidFill>
                  <a:srgbClr val="000000"/>
                </a:solidFill>
              </a:rPr>
              <a:t>gold.table_name</a:t>
            </a:r>
            <a:r>
              <a:rPr lang="en-US" sz="1200" kern="0" dirty="0">
                <a:solidFill>
                  <a:srgbClr val="000000"/>
                </a:solidFill>
              </a:rPr>
              <a:t>")</a:t>
            </a:r>
          </a:p>
          <a:p>
            <a:endParaRPr lang="en-US" sz="1200" kern="0" dirty="0">
              <a:solidFill>
                <a:srgbClr val="000000"/>
              </a:solidFill>
            </a:endParaRPr>
          </a:p>
          <a:p>
            <a:r>
              <a:rPr lang="en-US" sz="1200" kern="0" dirty="0">
                <a:solidFill>
                  <a:srgbClr val="000000"/>
                </a:solidFill>
              </a:rPr>
              <a:t>This would store each file as a Delta Lake, with overwrite to replace the table every time the script runs, and with the option to </a:t>
            </a:r>
            <a:r>
              <a:rPr lang="en-US" sz="1200" kern="0" dirty="0" err="1">
                <a:solidFill>
                  <a:srgbClr val="000000"/>
                </a:solidFill>
              </a:rPr>
              <a:t>overwriteSchema</a:t>
            </a:r>
            <a:r>
              <a:rPr lang="en-US" sz="1200" kern="0" dirty="0">
                <a:solidFill>
                  <a:srgbClr val="000000"/>
                </a:solidFill>
              </a:rPr>
              <a:t> if there is any schema change in the table.</a:t>
            </a:r>
          </a:p>
        </p:txBody>
      </p:sp>
      <p:sp>
        <p:nvSpPr>
          <p:cNvPr id="14" name="Isosceles Triangle 13">
            <a:extLst>
              <a:ext uri="{FF2B5EF4-FFF2-40B4-BE49-F238E27FC236}">
                <a16:creationId xmlns:a16="http://schemas.microsoft.com/office/drawing/2014/main" id="{72ABB16F-5C91-B92C-9CC0-D1A2FC2D570A}"/>
              </a:ext>
            </a:extLst>
          </p:cNvPr>
          <p:cNvSpPr/>
          <p:nvPr/>
        </p:nvSpPr>
        <p:spPr>
          <a:xfrm rot="5400000">
            <a:off x="574213" y="2468673"/>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7ABACA1D-5744-DA72-2DD2-54B012AD0800}"/>
              </a:ext>
            </a:extLst>
          </p:cNvPr>
          <p:cNvSpPr/>
          <p:nvPr/>
        </p:nvSpPr>
        <p:spPr>
          <a:xfrm rot="5400000">
            <a:off x="574213" y="3727497"/>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92AD0651-A70E-183F-F60A-6CA913D82CAE}"/>
              </a:ext>
            </a:extLst>
          </p:cNvPr>
          <p:cNvSpPr/>
          <p:nvPr/>
        </p:nvSpPr>
        <p:spPr>
          <a:xfrm rot="5400000">
            <a:off x="574213" y="4099750"/>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16638C8E-564F-44E8-449D-B933F66B30D9}"/>
              </a:ext>
            </a:extLst>
          </p:cNvPr>
          <p:cNvSpPr/>
          <p:nvPr/>
        </p:nvSpPr>
        <p:spPr>
          <a:xfrm rot="5400000">
            <a:off x="574213" y="4479732"/>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feld 8">
            <a:extLst>
              <a:ext uri="{FF2B5EF4-FFF2-40B4-BE49-F238E27FC236}">
                <a16:creationId xmlns:a16="http://schemas.microsoft.com/office/drawing/2014/main" id="{DD7F3D70-97B2-E88F-DAB7-840E3E7541BB}"/>
              </a:ext>
            </a:extLst>
          </p:cNvPr>
          <p:cNvSpPr txBox="1">
            <a:spLocks/>
          </p:cNvSpPr>
          <p:nvPr/>
        </p:nvSpPr>
        <p:spPr>
          <a:xfrm>
            <a:off x="591044" y="6005564"/>
            <a:ext cx="10442448" cy="361917"/>
          </a:xfrm>
          <a:prstGeom prst="rect">
            <a:avLst/>
          </a:prstGeom>
          <a:noFill/>
        </p:spPr>
        <p:txBody>
          <a:bodyPr wrap="square" lIns="0" tIns="0" rIns="0" bIns="0" rtlCol="0">
            <a:noAutofit/>
          </a:bodyPr>
          <a:lstStyle/>
          <a:p>
            <a:r>
              <a:rPr lang="en-US" sz="1200" kern="0" dirty="0">
                <a:solidFill>
                  <a:srgbClr val="000000"/>
                </a:solidFill>
              </a:rPr>
              <a:t>With this loading step, we load the 3 tables in Databricks to be used for further analytics: </a:t>
            </a:r>
            <a:r>
              <a:rPr lang="en-US" sz="1200" i="1" kern="0" dirty="0" err="1">
                <a:solidFill>
                  <a:srgbClr val="000000"/>
                </a:solidFill>
              </a:rPr>
              <a:t>gold.safety_summary</a:t>
            </a:r>
            <a:r>
              <a:rPr lang="en-US" sz="1200" kern="0" dirty="0">
                <a:solidFill>
                  <a:srgbClr val="000000"/>
                </a:solidFill>
              </a:rPr>
              <a:t>, </a:t>
            </a:r>
            <a:r>
              <a:rPr lang="en-US" sz="1200" i="1" kern="0" dirty="0" err="1">
                <a:solidFill>
                  <a:srgbClr val="000000"/>
                </a:solidFill>
              </a:rPr>
              <a:t>gold.light_vehicle_detail</a:t>
            </a:r>
            <a:r>
              <a:rPr lang="en-US" sz="1200" i="1" kern="0" dirty="0">
                <a:solidFill>
                  <a:srgbClr val="000000"/>
                </a:solidFill>
              </a:rPr>
              <a:t> </a:t>
            </a:r>
            <a:r>
              <a:rPr lang="en-US" sz="1200" kern="0" dirty="0">
                <a:solidFill>
                  <a:srgbClr val="000000"/>
                </a:solidFill>
              </a:rPr>
              <a:t>and </a:t>
            </a:r>
            <a:r>
              <a:rPr lang="en-US" sz="1200" i="1" kern="0" dirty="0" err="1">
                <a:solidFill>
                  <a:srgbClr val="000000"/>
                </a:solidFill>
              </a:rPr>
              <a:t>gold.fuel_summary</a:t>
            </a:r>
            <a:r>
              <a:rPr lang="en-US" sz="1200" kern="0" dirty="0">
                <a:solidFill>
                  <a:srgbClr val="000000"/>
                </a:solidFill>
              </a:rPr>
              <a:t>.</a:t>
            </a:r>
          </a:p>
        </p:txBody>
      </p:sp>
    </p:spTree>
    <p:extLst>
      <p:ext uri="{BB962C8B-B14F-4D97-AF65-F5344CB8AC3E}">
        <p14:creationId xmlns:p14="http://schemas.microsoft.com/office/powerpoint/2010/main" val="213044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6CBE-2D30-F905-653E-07535379E501}"/>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2662F070-1034-AF14-2951-B6BBB3FE1543}"/>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AUTOMATION PROCESS</a:t>
            </a:r>
          </a:p>
        </p:txBody>
      </p:sp>
      <p:sp>
        <p:nvSpPr>
          <p:cNvPr id="22" name="Textfeld 8">
            <a:extLst>
              <a:ext uri="{FF2B5EF4-FFF2-40B4-BE49-F238E27FC236}">
                <a16:creationId xmlns:a16="http://schemas.microsoft.com/office/drawing/2014/main" id="{BDE42EA4-2422-1797-E308-E56ED44FE70B}"/>
              </a:ext>
            </a:extLst>
          </p:cNvPr>
          <p:cNvSpPr txBox="1">
            <a:spLocks/>
          </p:cNvSpPr>
          <p:nvPr/>
        </p:nvSpPr>
        <p:spPr>
          <a:xfrm>
            <a:off x="591044" y="1015779"/>
            <a:ext cx="10774948" cy="1270221"/>
          </a:xfrm>
          <a:prstGeom prst="rect">
            <a:avLst/>
          </a:prstGeom>
          <a:noFill/>
        </p:spPr>
        <p:txBody>
          <a:bodyPr wrap="square" lIns="0" tIns="0" rIns="0" bIns="0" rtlCol="0">
            <a:noAutofit/>
          </a:bodyPr>
          <a:lstStyle/>
          <a:p>
            <a:r>
              <a:rPr lang="en-US" sz="1200" kern="0" dirty="0">
                <a:solidFill>
                  <a:srgbClr val="000000"/>
                </a:solidFill>
              </a:rPr>
              <a:t>For the automation process, since the loading phase was in Databricks Delta Lake, this could be done with Databricks Workflows to centralize the pipeline.</a:t>
            </a:r>
          </a:p>
          <a:p>
            <a:r>
              <a:rPr lang="en-US" sz="1200" kern="0" dirty="0">
                <a:solidFill>
                  <a:srgbClr val="000000"/>
                </a:solidFill>
              </a:rPr>
              <a:t>The tasks were orchestrated as a DAG (Directed Acyclic Graph) with dependencies where each node represents one pipeline task and dependencies enforce the correct execution order.</a:t>
            </a:r>
          </a:p>
          <a:p>
            <a:endParaRPr lang="en-US" sz="1200" kern="0" dirty="0">
              <a:solidFill>
                <a:srgbClr val="000000"/>
              </a:solidFill>
            </a:endParaRPr>
          </a:p>
          <a:p>
            <a:r>
              <a:rPr lang="en-US" sz="1200" kern="0" dirty="0">
                <a:solidFill>
                  <a:srgbClr val="000000"/>
                </a:solidFill>
              </a:rPr>
              <a:t>The objective of the automation orchestration was to:</a:t>
            </a:r>
          </a:p>
          <a:p>
            <a:pPr marL="171450" indent="-171450">
              <a:buFontTx/>
              <a:buChar char="-"/>
            </a:pPr>
            <a:r>
              <a:rPr lang="en-US" sz="1200" kern="0" dirty="0">
                <a:solidFill>
                  <a:srgbClr val="000000"/>
                </a:solidFill>
              </a:rPr>
              <a:t>Schedule executions at a defined interval</a:t>
            </a:r>
          </a:p>
          <a:p>
            <a:pPr marL="171450" indent="-171450">
              <a:buFontTx/>
              <a:buChar char="-"/>
            </a:pPr>
            <a:r>
              <a:rPr lang="en-US" sz="1200" kern="0" dirty="0">
                <a:solidFill>
                  <a:srgbClr val="000000"/>
                </a:solidFill>
              </a:rPr>
              <a:t>Manage task dependencies</a:t>
            </a:r>
          </a:p>
          <a:p>
            <a:pPr marL="171450" indent="-171450">
              <a:buFontTx/>
              <a:buChar char="-"/>
            </a:pPr>
            <a:r>
              <a:rPr lang="en-US" sz="1200" kern="0" dirty="0">
                <a:solidFill>
                  <a:srgbClr val="000000"/>
                </a:solidFill>
              </a:rPr>
              <a:t>Handle failures and retries</a:t>
            </a:r>
          </a:p>
          <a:p>
            <a:pPr marL="171450" indent="-171450">
              <a:buFontTx/>
              <a:buChar char="-"/>
            </a:pPr>
            <a:r>
              <a:rPr lang="en-US" sz="1200" kern="0" dirty="0">
                <a:solidFill>
                  <a:srgbClr val="000000"/>
                </a:solidFill>
              </a:rPr>
              <a:t>Ensure data is refreshed (I chose daily as this data could have changes on a daily basis)</a:t>
            </a:r>
          </a:p>
          <a:p>
            <a:endParaRPr lang="en-US" sz="1200" kern="0" dirty="0">
              <a:solidFill>
                <a:srgbClr val="000000"/>
              </a:solidFill>
            </a:endParaRPr>
          </a:p>
          <a:p>
            <a:endParaRPr lang="en-US" sz="1200" kern="0" dirty="0">
              <a:solidFill>
                <a:srgbClr val="000000"/>
              </a:solidFill>
            </a:endParaRPr>
          </a:p>
        </p:txBody>
      </p:sp>
      <p:sp>
        <p:nvSpPr>
          <p:cNvPr id="2" name="TextBox 1">
            <a:extLst>
              <a:ext uri="{FF2B5EF4-FFF2-40B4-BE49-F238E27FC236}">
                <a16:creationId xmlns:a16="http://schemas.microsoft.com/office/drawing/2014/main" id="{F46B76B2-BAEA-9393-C8CE-F466F32916CF}"/>
              </a:ext>
            </a:extLst>
          </p:cNvPr>
          <p:cNvSpPr txBox="1"/>
          <p:nvPr/>
        </p:nvSpPr>
        <p:spPr>
          <a:xfrm>
            <a:off x="591044" y="3575247"/>
            <a:ext cx="1457212" cy="492443"/>
          </a:xfrm>
          <a:prstGeom prst="rect">
            <a:avLst/>
          </a:prstGeom>
          <a:noFill/>
          <a:ln w="19050">
            <a:solidFill>
              <a:srgbClr val="156082"/>
            </a:solidFill>
          </a:ln>
        </p:spPr>
        <p:txBody>
          <a:bodyPr wrap="square" rtlCol="0">
            <a:spAutoFit/>
          </a:bodyPr>
          <a:lstStyle/>
          <a:p>
            <a:pPr algn="ctr"/>
            <a:r>
              <a:rPr lang="pt-PT" sz="1400" dirty="0"/>
              <a:t>Bronze </a:t>
            </a:r>
            <a:r>
              <a:rPr lang="pt-PT" sz="1400" dirty="0" err="1"/>
              <a:t>Ingestion</a:t>
            </a:r>
            <a:endParaRPr lang="pt-PT" sz="1400" dirty="0"/>
          </a:p>
          <a:p>
            <a:pPr algn="ctr"/>
            <a:r>
              <a:rPr lang="pt-PT" sz="1200" dirty="0"/>
              <a:t>2 </a:t>
            </a:r>
            <a:r>
              <a:rPr lang="pt-PT" sz="1200" dirty="0" err="1"/>
              <a:t>tasks</a:t>
            </a:r>
            <a:r>
              <a:rPr lang="pt-PT" sz="1200" dirty="0"/>
              <a:t> in </a:t>
            </a:r>
            <a:r>
              <a:rPr lang="pt-PT" sz="1200" dirty="0" err="1"/>
              <a:t>parallel</a:t>
            </a:r>
            <a:endParaRPr lang="en-US" sz="1200" dirty="0"/>
          </a:p>
        </p:txBody>
      </p:sp>
      <p:sp>
        <p:nvSpPr>
          <p:cNvPr id="3" name="TextBox 2">
            <a:extLst>
              <a:ext uri="{FF2B5EF4-FFF2-40B4-BE49-F238E27FC236}">
                <a16:creationId xmlns:a16="http://schemas.microsoft.com/office/drawing/2014/main" id="{0DF1DA23-0F2A-3578-5BA7-95FD8A7789AA}"/>
              </a:ext>
            </a:extLst>
          </p:cNvPr>
          <p:cNvSpPr txBox="1"/>
          <p:nvPr/>
        </p:nvSpPr>
        <p:spPr>
          <a:xfrm>
            <a:off x="3402655" y="3575247"/>
            <a:ext cx="1669048" cy="492443"/>
          </a:xfrm>
          <a:prstGeom prst="rect">
            <a:avLst/>
          </a:prstGeom>
          <a:noFill/>
          <a:ln w="19050">
            <a:solidFill>
              <a:srgbClr val="156082"/>
            </a:solidFill>
          </a:ln>
        </p:spPr>
        <p:txBody>
          <a:bodyPr wrap="square" rtlCol="0">
            <a:spAutoFit/>
          </a:bodyPr>
          <a:lstStyle/>
          <a:p>
            <a:pPr algn="ctr"/>
            <a:r>
              <a:rPr lang="pt-PT" sz="1400" dirty="0"/>
              <a:t>Silver </a:t>
            </a:r>
            <a:r>
              <a:rPr lang="pt-PT" sz="1400" dirty="0" err="1"/>
              <a:t>Processing</a:t>
            </a:r>
            <a:endParaRPr lang="pt-PT" sz="1400" dirty="0"/>
          </a:p>
          <a:p>
            <a:pPr algn="ctr"/>
            <a:r>
              <a:rPr lang="pt-PT" sz="1200" dirty="0"/>
              <a:t>3 </a:t>
            </a:r>
            <a:r>
              <a:rPr lang="pt-PT" sz="1200" dirty="0" err="1"/>
              <a:t>tasks</a:t>
            </a:r>
            <a:r>
              <a:rPr lang="pt-PT" sz="1200" dirty="0"/>
              <a:t> in </a:t>
            </a:r>
            <a:r>
              <a:rPr lang="pt-PT" sz="1200" dirty="0" err="1"/>
              <a:t>parallel</a:t>
            </a:r>
            <a:endParaRPr lang="en-US" sz="1200" dirty="0"/>
          </a:p>
        </p:txBody>
      </p:sp>
      <p:sp>
        <p:nvSpPr>
          <p:cNvPr id="4" name="TextBox 3">
            <a:extLst>
              <a:ext uri="{FF2B5EF4-FFF2-40B4-BE49-F238E27FC236}">
                <a16:creationId xmlns:a16="http://schemas.microsoft.com/office/drawing/2014/main" id="{FF46C541-91AB-54BF-6449-761925740F42}"/>
              </a:ext>
            </a:extLst>
          </p:cNvPr>
          <p:cNvSpPr txBox="1"/>
          <p:nvPr/>
        </p:nvSpPr>
        <p:spPr>
          <a:xfrm>
            <a:off x="6426102" y="3575189"/>
            <a:ext cx="1806208" cy="492443"/>
          </a:xfrm>
          <a:prstGeom prst="rect">
            <a:avLst/>
          </a:prstGeom>
          <a:noFill/>
          <a:ln w="19050">
            <a:solidFill>
              <a:srgbClr val="156082"/>
            </a:solidFill>
          </a:ln>
        </p:spPr>
        <p:txBody>
          <a:bodyPr wrap="square" rtlCol="0">
            <a:spAutoFit/>
          </a:bodyPr>
          <a:lstStyle/>
          <a:p>
            <a:pPr algn="ctr"/>
            <a:r>
              <a:rPr lang="pt-PT" sz="1400" dirty="0"/>
              <a:t>Gold </a:t>
            </a:r>
            <a:r>
              <a:rPr lang="pt-PT" sz="1400" dirty="0" err="1"/>
              <a:t>build</a:t>
            </a:r>
            <a:endParaRPr lang="pt-PT" sz="1400" dirty="0"/>
          </a:p>
          <a:p>
            <a:pPr algn="ctr"/>
            <a:r>
              <a:rPr lang="pt-PT" sz="1200" dirty="0" err="1"/>
              <a:t>Aggregations</a:t>
            </a:r>
            <a:endParaRPr lang="en-US" sz="1200" dirty="0"/>
          </a:p>
        </p:txBody>
      </p:sp>
      <p:sp>
        <p:nvSpPr>
          <p:cNvPr id="5" name="TextBox 4">
            <a:extLst>
              <a:ext uri="{FF2B5EF4-FFF2-40B4-BE49-F238E27FC236}">
                <a16:creationId xmlns:a16="http://schemas.microsoft.com/office/drawing/2014/main" id="{6E7C843E-BB13-488E-B9A9-D9BB8F655C93}"/>
              </a:ext>
            </a:extLst>
          </p:cNvPr>
          <p:cNvSpPr txBox="1"/>
          <p:nvPr/>
        </p:nvSpPr>
        <p:spPr>
          <a:xfrm>
            <a:off x="8966882" y="3575189"/>
            <a:ext cx="2232658" cy="492443"/>
          </a:xfrm>
          <a:prstGeom prst="rect">
            <a:avLst/>
          </a:prstGeom>
          <a:noFill/>
          <a:ln w="19050">
            <a:solidFill>
              <a:srgbClr val="156082"/>
            </a:solidFill>
          </a:ln>
        </p:spPr>
        <p:txBody>
          <a:bodyPr wrap="square" rtlCol="0">
            <a:spAutoFit/>
          </a:bodyPr>
          <a:lstStyle/>
          <a:p>
            <a:pPr algn="ctr"/>
            <a:r>
              <a:rPr lang="pt-PT" sz="1400" dirty="0" err="1"/>
              <a:t>Load</a:t>
            </a:r>
            <a:r>
              <a:rPr lang="pt-PT" sz="1400" dirty="0"/>
              <a:t> to Delta </a:t>
            </a:r>
            <a:r>
              <a:rPr lang="pt-PT" sz="1400" dirty="0" err="1"/>
              <a:t>Lake</a:t>
            </a:r>
            <a:endParaRPr lang="pt-PT" sz="1400" dirty="0"/>
          </a:p>
          <a:p>
            <a:pPr algn="ctr"/>
            <a:r>
              <a:rPr lang="pt-PT" sz="1200" dirty="0" err="1"/>
              <a:t>Created</a:t>
            </a:r>
            <a:r>
              <a:rPr lang="pt-PT" sz="1200" dirty="0"/>
              <a:t> DB + </a:t>
            </a:r>
            <a:r>
              <a:rPr lang="pt-PT" sz="1200" dirty="0" err="1"/>
              <a:t>saved</a:t>
            </a:r>
            <a:r>
              <a:rPr lang="pt-PT" sz="1200" dirty="0"/>
              <a:t> </a:t>
            </a:r>
            <a:r>
              <a:rPr lang="pt-PT" sz="1200" dirty="0" err="1"/>
              <a:t>tables</a:t>
            </a:r>
            <a:endParaRPr lang="en-US" sz="1200" dirty="0"/>
          </a:p>
        </p:txBody>
      </p:sp>
      <p:sp>
        <p:nvSpPr>
          <p:cNvPr id="13" name="Titel 1">
            <a:extLst>
              <a:ext uri="{FF2B5EF4-FFF2-40B4-BE49-F238E27FC236}">
                <a16:creationId xmlns:a16="http://schemas.microsoft.com/office/drawing/2014/main" id="{096D4E03-DD73-C6D9-ED04-21FEC345FFD7}"/>
              </a:ext>
            </a:extLst>
          </p:cNvPr>
          <p:cNvSpPr txBox="1">
            <a:spLocks/>
          </p:cNvSpPr>
          <p:nvPr/>
        </p:nvSpPr>
        <p:spPr>
          <a:xfrm>
            <a:off x="591044" y="2906388"/>
            <a:ext cx="1951713"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1400" b="1" dirty="0">
                <a:solidFill>
                  <a:schemeClr val="tx1"/>
                </a:solidFill>
              </a:rPr>
              <a:t>Scheduled job</a:t>
            </a:r>
          </a:p>
        </p:txBody>
      </p:sp>
      <p:cxnSp>
        <p:nvCxnSpPr>
          <p:cNvPr id="23" name="Connector: Curved 22">
            <a:extLst>
              <a:ext uri="{FF2B5EF4-FFF2-40B4-BE49-F238E27FC236}">
                <a16:creationId xmlns:a16="http://schemas.microsoft.com/office/drawing/2014/main" id="{17C8DEDA-FE90-57D3-77F9-9A72FEAEE5F9}"/>
              </a:ext>
            </a:extLst>
          </p:cNvPr>
          <p:cNvCxnSpPr>
            <a:stCxn id="2" idx="0"/>
            <a:endCxn id="3" idx="0"/>
          </p:cNvCxnSpPr>
          <p:nvPr/>
        </p:nvCxnSpPr>
        <p:spPr>
          <a:xfrm rot="5400000" flipH="1" flipV="1">
            <a:off x="2778414" y="2116483"/>
            <a:ext cx="12700" cy="2917529"/>
          </a:xfrm>
          <a:prstGeom prst="curved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Curved 24">
            <a:extLst>
              <a:ext uri="{FF2B5EF4-FFF2-40B4-BE49-F238E27FC236}">
                <a16:creationId xmlns:a16="http://schemas.microsoft.com/office/drawing/2014/main" id="{960C6EB6-7939-DD99-EE6B-B8CF4C263315}"/>
              </a:ext>
            </a:extLst>
          </p:cNvPr>
          <p:cNvCxnSpPr>
            <a:stCxn id="2" idx="2"/>
            <a:endCxn id="3" idx="2"/>
          </p:cNvCxnSpPr>
          <p:nvPr/>
        </p:nvCxnSpPr>
        <p:spPr>
          <a:xfrm rot="16200000" flipH="1">
            <a:off x="2778414" y="2608925"/>
            <a:ext cx="12700" cy="2917529"/>
          </a:xfrm>
          <a:prstGeom prst="curved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or: Curved 35">
            <a:extLst>
              <a:ext uri="{FF2B5EF4-FFF2-40B4-BE49-F238E27FC236}">
                <a16:creationId xmlns:a16="http://schemas.microsoft.com/office/drawing/2014/main" id="{277195BA-1862-F23D-11AD-3EF3E8C01BDB}"/>
              </a:ext>
            </a:extLst>
          </p:cNvPr>
          <p:cNvCxnSpPr>
            <a:stCxn id="3" idx="0"/>
            <a:endCxn id="4" idx="0"/>
          </p:cNvCxnSpPr>
          <p:nvPr/>
        </p:nvCxnSpPr>
        <p:spPr>
          <a:xfrm rot="5400000" flipH="1" flipV="1">
            <a:off x="5783163" y="2029205"/>
            <a:ext cx="58" cy="3092027"/>
          </a:xfrm>
          <a:prstGeom prst="curvedConnector3">
            <a:avLst>
              <a:gd name="adj1" fmla="val 39423793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or: Curved 37">
            <a:extLst>
              <a:ext uri="{FF2B5EF4-FFF2-40B4-BE49-F238E27FC236}">
                <a16:creationId xmlns:a16="http://schemas.microsoft.com/office/drawing/2014/main" id="{A589DA9F-DC96-F32B-3DA3-1DB0742C5EDD}"/>
              </a:ext>
            </a:extLst>
          </p:cNvPr>
          <p:cNvCxnSpPr>
            <a:stCxn id="3" idx="2"/>
            <a:endCxn id="4" idx="2"/>
          </p:cNvCxnSpPr>
          <p:nvPr/>
        </p:nvCxnSpPr>
        <p:spPr>
          <a:xfrm rot="5400000" flipH="1" flipV="1">
            <a:off x="5783163" y="2521647"/>
            <a:ext cx="58" cy="3092027"/>
          </a:xfrm>
          <a:prstGeom prst="curvedConnector3">
            <a:avLst>
              <a:gd name="adj1" fmla="val -39413793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or: Curved 39">
            <a:extLst>
              <a:ext uri="{FF2B5EF4-FFF2-40B4-BE49-F238E27FC236}">
                <a16:creationId xmlns:a16="http://schemas.microsoft.com/office/drawing/2014/main" id="{6361F8E4-0763-ABA3-635E-0CFBC6CDACBC}"/>
              </a:ext>
            </a:extLst>
          </p:cNvPr>
          <p:cNvCxnSpPr>
            <a:stCxn id="3" idx="3"/>
            <a:endCxn id="4" idx="1"/>
          </p:cNvCxnSpPr>
          <p:nvPr/>
        </p:nvCxnSpPr>
        <p:spPr>
          <a:xfrm flipV="1">
            <a:off x="5071703" y="3821411"/>
            <a:ext cx="1354399" cy="5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Curved 41">
            <a:extLst>
              <a:ext uri="{FF2B5EF4-FFF2-40B4-BE49-F238E27FC236}">
                <a16:creationId xmlns:a16="http://schemas.microsoft.com/office/drawing/2014/main" id="{13DDB12C-8255-96AF-1702-86592FB3D7DD}"/>
              </a:ext>
            </a:extLst>
          </p:cNvPr>
          <p:cNvCxnSpPr>
            <a:stCxn id="4" idx="3"/>
            <a:endCxn id="5" idx="1"/>
          </p:cNvCxnSpPr>
          <p:nvPr/>
        </p:nvCxnSpPr>
        <p:spPr>
          <a:xfrm>
            <a:off x="8232310" y="3821411"/>
            <a:ext cx="734572" cy="127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4B4D8761-F2C9-59DA-77C6-5E694DD40055}"/>
              </a:ext>
            </a:extLst>
          </p:cNvPr>
          <p:cNvSpPr txBox="1"/>
          <p:nvPr/>
        </p:nvSpPr>
        <p:spPr>
          <a:xfrm>
            <a:off x="2212472" y="3083511"/>
            <a:ext cx="2083006" cy="276999"/>
          </a:xfrm>
          <a:prstGeom prst="rect">
            <a:avLst/>
          </a:prstGeom>
          <a:noFill/>
        </p:spPr>
        <p:txBody>
          <a:bodyPr wrap="square" rtlCol="0">
            <a:spAutoFit/>
          </a:bodyPr>
          <a:lstStyle/>
          <a:p>
            <a:r>
              <a:rPr lang="pt-PT" sz="1200" dirty="0" err="1">
                <a:solidFill>
                  <a:schemeClr val="tx1">
                    <a:lumMod val="50000"/>
                    <a:lumOff val="50000"/>
                  </a:schemeClr>
                </a:solidFill>
              </a:rPr>
              <a:t>BronzeNHTSA</a:t>
            </a:r>
            <a:endParaRPr lang="en-US" sz="1200" dirty="0">
              <a:solidFill>
                <a:schemeClr val="tx1">
                  <a:lumMod val="50000"/>
                  <a:lumOff val="50000"/>
                </a:schemeClr>
              </a:solidFill>
            </a:endParaRPr>
          </a:p>
        </p:txBody>
      </p:sp>
      <p:sp>
        <p:nvSpPr>
          <p:cNvPr id="45" name="TextBox 44">
            <a:extLst>
              <a:ext uri="{FF2B5EF4-FFF2-40B4-BE49-F238E27FC236}">
                <a16:creationId xmlns:a16="http://schemas.microsoft.com/office/drawing/2014/main" id="{11111F42-DD06-E5F0-D9E0-8E3184D6329B}"/>
              </a:ext>
            </a:extLst>
          </p:cNvPr>
          <p:cNvSpPr txBox="1"/>
          <p:nvPr/>
        </p:nvSpPr>
        <p:spPr>
          <a:xfrm>
            <a:off x="1947296" y="4270432"/>
            <a:ext cx="2083006" cy="276999"/>
          </a:xfrm>
          <a:prstGeom prst="rect">
            <a:avLst/>
          </a:prstGeom>
          <a:noFill/>
        </p:spPr>
        <p:txBody>
          <a:bodyPr wrap="square" rtlCol="0">
            <a:spAutoFit/>
          </a:bodyPr>
          <a:lstStyle/>
          <a:p>
            <a:r>
              <a:rPr lang="pt-PT" sz="1200" dirty="0" err="1">
                <a:solidFill>
                  <a:schemeClr val="tx1">
                    <a:lumMod val="50000"/>
                    <a:lumOff val="50000"/>
                  </a:schemeClr>
                </a:solidFill>
              </a:rPr>
              <a:t>BronzeFuelEconomy</a:t>
            </a:r>
            <a:endParaRPr lang="en-US" sz="1200" dirty="0">
              <a:solidFill>
                <a:schemeClr val="tx1">
                  <a:lumMod val="50000"/>
                  <a:lumOff val="50000"/>
                </a:schemeClr>
              </a:solidFill>
            </a:endParaRPr>
          </a:p>
        </p:txBody>
      </p:sp>
      <p:sp>
        <p:nvSpPr>
          <p:cNvPr id="46" name="TextBox 45">
            <a:extLst>
              <a:ext uri="{FF2B5EF4-FFF2-40B4-BE49-F238E27FC236}">
                <a16:creationId xmlns:a16="http://schemas.microsoft.com/office/drawing/2014/main" id="{69E76DA5-0447-7DB4-0472-D9909A017873}"/>
              </a:ext>
            </a:extLst>
          </p:cNvPr>
          <p:cNvSpPr txBox="1"/>
          <p:nvPr/>
        </p:nvSpPr>
        <p:spPr>
          <a:xfrm>
            <a:off x="5246200" y="3066709"/>
            <a:ext cx="2083006" cy="276999"/>
          </a:xfrm>
          <a:prstGeom prst="rect">
            <a:avLst/>
          </a:prstGeom>
          <a:noFill/>
        </p:spPr>
        <p:txBody>
          <a:bodyPr wrap="square" rtlCol="0">
            <a:spAutoFit/>
          </a:bodyPr>
          <a:lstStyle/>
          <a:p>
            <a:r>
              <a:rPr lang="pt-PT" sz="1200" dirty="0" err="1">
                <a:solidFill>
                  <a:schemeClr val="tx1">
                    <a:lumMod val="50000"/>
                    <a:lumOff val="50000"/>
                  </a:schemeClr>
                </a:solidFill>
              </a:rPr>
              <a:t>SilverNHTSA</a:t>
            </a:r>
            <a:endParaRPr lang="en-US" sz="1200" dirty="0">
              <a:solidFill>
                <a:schemeClr val="tx1">
                  <a:lumMod val="50000"/>
                  <a:lumOff val="50000"/>
                </a:schemeClr>
              </a:solidFill>
            </a:endParaRPr>
          </a:p>
        </p:txBody>
      </p:sp>
      <p:sp>
        <p:nvSpPr>
          <p:cNvPr id="47" name="TextBox 46">
            <a:extLst>
              <a:ext uri="{FF2B5EF4-FFF2-40B4-BE49-F238E27FC236}">
                <a16:creationId xmlns:a16="http://schemas.microsoft.com/office/drawing/2014/main" id="{98FD7DB4-FA46-27FD-E53D-169EDEF4A154}"/>
              </a:ext>
            </a:extLst>
          </p:cNvPr>
          <p:cNvSpPr txBox="1"/>
          <p:nvPr/>
        </p:nvSpPr>
        <p:spPr>
          <a:xfrm>
            <a:off x="5246200" y="3548306"/>
            <a:ext cx="2083006" cy="276999"/>
          </a:xfrm>
          <a:prstGeom prst="rect">
            <a:avLst/>
          </a:prstGeom>
          <a:noFill/>
        </p:spPr>
        <p:txBody>
          <a:bodyPr wrap="square" rtlCol="0">
            <a:spAutoFit/>
          </a:bodyPr>
          <a:lstStyle/>
          <a:p>
            <a:r>
              <a:rPr lang="pt-PT" sz="1200" dirty="0" err="1">
                <a:solidFill>
                  <a:schemeClr val="tx1">
                    <a:lumMod val="50000"/>
                    <a:lumOff val="50000"/>
                  </a:schemeClr>
                </a:solidFill>
              </a:rPr>
              <a:t>SilverAFDC</a:t>
            </a:r>
            <a:endParaRPr lang="en-US" sz="1200" dirty="0">
              <a:solidFill>
                <a:schemeClr val="tx1">
                  <a:lumMod val="50000"/>
                  <a:lumOff val="50000"/>
                </a:schemeClr>
              </a:solidFill>
            </a:endParaRPr>
          </a:p>
        </p:txBody>
      </p:sp>
      <p:sp>
        <p:nvSpPr>
          <p:cNvPr id="48" name="TextBox 47">
            <a:extLst>
              <a:ext uri="{FF2B5EF4-FFF2-40B4-BE49-F238E27FC236}">
                <a16:creationId xmlns:a16="http://schemas.microsoft.com/office/drawing/2014/main" id="{0552DA9F-658A-BFB7-1038-50EE7F4D56CA}"/>
              </a:ext>
            </a:extLst>
          </p:cNvPr>
          <p:cNvSpPr txBox="1"/>
          <p:nvPr/>
        </p:nvSpPr>
        <p:spPr>
          <a:xfrm>
            <a:off x="5041222" y="4301976"/>
            <a:ext cx="2083006" cy="276999"/>
          </a:xfrm>
          <a:prstGeom prst="rect">
            <a:avLst/>
          </a:prstGeom>
          <a:noFill/>
        </p:spPr>
        <p:txBody>
          <a:bodyPr wrap="square" rtlCol="0">
            <a:spAutoFit/>
          </a:bodyPr>
          <a:lstStyle/>
          <a:p>
            <a:r>
              <a:rPr lang="pt-PT" sz="1200" dirty="0" err="1">
                <a:solidFill>
                  <a:schemeClr val="tx1">
                    <a:lumMod val="50000"/>
                    <a:lumOff val="50000"/>
                  </a:schemeClr>
                </a:solidFill>
              </a:rPr>
              <a:t>SilverFuelEconomy</a:t>
            </a:r>
            <a:endParaRPr lang="en-US" sz="1200" dirty="0">
              <a:solidFill>
                <a:schemeClr val="tx1">
                  <a:lumMod val="50000"/>
                  <a:lumOff val="50000"/>
                </a:schemeClr>
              </a:solidFill>
            </a:endParaRPr>
          </a:p>
        </p:txBody>
      </p:sp>
      <p:sp>
        <p:nvSpPr>
          <p:cNvPr id="49" name="TextBox 48">
            <a:extLst>
              <a:ext uri="{FF2B5EF4-FFF2-40B4-BE49-F238E27FC236}">
                <a16:creationId xmlns:a16="http://schemas.microsoft.com/office/drawing/2014/main" id="{3726E55A-77A1-BDD4-0D6D-B0BADE83E701}"/>
              </a:ext>
            </a:extLst>
          </p:cNvPr>
          <p:cNvSpPr txBox="1"/>
          <p:nvPr/>
        </p:nvSpPr>
        <p:spPr>
          <a:xfrm>
            <a:off x="8095446" y="4131932"/>
            <a:ext cx="1094314" cy="276999"/>
          </a:xfrm>
          <a:prstGeom prst="rect">
            <a:avLst/>
          </a:prstGeom>
          <a:noFill/>
        </p:spPr>
        <p:txBody>
          <a:bodyPr wrap="square" rtlCol="0">
            <a:spAutoFit/>
          </a:bodyPr>
          <a:lstStyle/>
          <a:p>
            <a:r>
              <a:rPr lang="pt-PT" sz="1200" dirty="0" err="1">
                <a:solidFill>
                  <a:schemeClr val="tx1">
                    <a:lumMod val="50000"/>
                    <a:lumOff val="50000"/>
                  </a:schemeClr>
                </a:solidFill>
              </a:rPr>
              <a:t>SilverToGold</a:t>
            </a:r>
            <a:endParaRPr lang="en-US" sz="1200" dirty="0">
              <a:solidFill>
                <a:schemeClr val="tx1">
                  <a:lumMod val="50000"/>
                  <a:lumOff val="50000"/>
                </a:schemeClr>
              </a:solidFill>
            </a:endParaRPr>
          </a:p>
        </p:txBody>
      </p:sp>
      <p:sp>
        <p:nvSpPr>
          <p:cNvPr id="50" name="Textfeld 8">
            <a:extLst>
              <a:ext uri="{FF2B5EF4-FFF2-40B4-BE49-F238E27FC236}">
                <a16:creationId xmlns:a16="http://schemas.microsoft.com/office/drawing/2014/main" id="{CF970C10-78DD-937E-20D2-9C3E976255E0}"/>
              </a:ext>
            </a:extLst>
          </p:cNvPr>
          <p:cNvSpPr txBox="1">
            <a:spLocks/>
          </p:cNvSpPr>
          <p:nvPr/>
        </p:nvSpPr>
        <p:spPr>
          <a:xfrm>
            <a:off x="591044" y="4997292"/>
            <a:ext cx="10774948" cy="922058"/>
          </a:xfrm>
          <a:prstGeom prst="rect">
            <a:avLst/>
          </a:prstGeom>
          <a:noFill/>
        </p:spPr>
        <p:txBody>
          <a:bodyPr wrap="square" lIns="0" tIns="0" rIns="0" bIns="0" rtlCol="0">
            <a:noAutofit/>
          </a:bodyPr>
          <a:lstStyle/>
          <a:p>
            <a:r>
              <a:rPr lang="en-US" sz="1200" u="sng" kern="0" dirty="0">
                <a:solidFill>
                  <a:srgbClr val="000000"/>
                </a:solidFill>
              </a:rPr>
              <a:t>Parameter: </a:t>
            </a:r>
            <a:r>
              <a:rPr lang="en-US" sz="1200" kern="0" dirty="0" err="1">
                <a:solidFill>
                  <a:srgbClr val="000000"/>
                </a:solidFill>
              </a:rPr>
              <a:t>Ingestion_Date</a:t>
            </a:r>
            <a:r>
              <a:rPr lang="en-US" sz="1200" kern="0" dirty="0">
                <a:solidFill>
                  <a:srgbClr val="000000"/>
                </a:solidFill>
              </a:rPr>
              <a:t> defined to make runs traceable</a:t>
            </a:r>
          </a:p>
          <a:p>
            <a:r>
              <a:rPr lang="en-US" sz="1200" u="sng" kern="0" dirty="0">
                <a:solidFill>
                  <a:srgbClr val="000000"/>
                </a:solidFill>
              </a:rPr>
              <a:t>Retries: </a:t>
            </a:r>
            <a:r>
              <a:rPr lang="en-US" sz="1200" kern="0" dirty="0">
                <a:solidFill>
                  <a:srgbClr val="000000"/>
                </a:solidFill>
              </a:rPr>
              <a:t>Bronze ingestion can have 3 retries (network issues). Silver/Gold can have 1 retry (more deterministic)</a:t>
            </a:r>
          </a:p>
          <a:p>
            <a:r>
              <a:rPr lang="en-US" sz="1200" u="sng" kern="0" dirty="0">
                <a:solidFill>
                  <a:srgbClr val="000000"/>
                </a:solidFill>
              </a:rPr>
              <a:t>Alerts: </a:t>
            </a:r>
            <a:r>
              <a:rPr lang="en-US" sz="1200" kern="0" dirty="0">
                <a:solidFill>
                  <a:srgbClr val="000000"/>
                </a:solidFill>
              </a:rPr>
              <a:t>Notify owner on failure via email with task name + error</a:t>
            </a:r>
          </a:p>
          <a:p>
            <a:r>
              <a:rPr lang="en-US" sz="1200" u="sng" kern="0" dirty="0">
                <a:solidFill>
                  <a:srgbClr val="000000"/>
                </a:solidFill>
              </a:rPr>
              <a:t>Compute: </a:t>
            </a:r>
            <a:r>
              <a:rPr lang="en-US" sz="1200" kern="0" dirty="0">
                <a:solidFill>
                  <a:srgbClr val="000000"/>
                </a:solidFill>
              </a:rPr>
              <a:t>Since it is a small pipeline, one job cluster can be used</a:t>
            </a:r>
          </a:p>
          <a:p>
            <a:endParaRPr lang="en-US" sz="1200" kern="0" dirty="0">
              <a:solidFill>
                <a:srgbClr val="000000"/>
              </a:solidFill>
            </a:endParaRPr>
          </a:p>
        </p:txBody>
      </p:sp>
    </p:spTree>
    <p:extLst>
      <p:ext uri="{BB962C8B-B14F-4D97-AF65-F5344CB8AC3E}">
        <p14:creationId xmlns:p14="http://schemas.microsoft.com/office/powerpoint/2010/main" val="4002623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9F38-E3FF-2BBB-4B1F-0FD9135B93EF}"/>
            </a:ext>
          </a:extLst>
        </p:cNvPr>
        <p:cNvGrpSpPr/>
        <p:nvPr/>
      </p:nvGrpSpPr>
      <p:grpSpPr>
        <a:xfrm>
          <a:off x="0" y="0"/>
          <a:ext cx="0" cy="0"/>
          <a:chOff x="0" y="0"/>
          <a:chExt cx="0" cy="0"/>
        </a:xfrm>
      </p:grpSpPr>
      <p:sp>
        <p:nvSpPr>
          <p:cNvPr id="21" name="Titel 1">
            <a:extLst>
              <a:ext uri="{FF2B5EF4-FFF2-40B4-BE49-F238E27FC236}">
                <a16:creationId xmlns:a16="http://schemas.microsoft.com/office/drawing/2014/main" id="{11D120DC-5A40-F914-AFFE-1313E3890058}"/>
              </a:ext>
            </a:extLst>
          </p:cNvPr>
          <p:cNvSpPr txBox="1">
            <a:spLocks/>
          </p:cNvSpPr>
          <p:nvPr/>
        </p:nvSpPr>
        <p:spPr>
          <a:xfrm>
            <a:off x="480591" y="444793"/>
            <a:ext cx="11230817" cy="478296"/>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pPr fontAlgn="auto">
              <a:spcAft>
                <a:spcPts val="0"/>
              </a:spcAft>
            </a:pPr>
            <a:r>
              <a:rPr lang="de-DE" sz="2000" b="1" dirty="0"/>
              <a:t>CHALLENGES FACED</a:t>
            </a:r>
          </a:p>
        </p:txBody>
      </p:sp>
      <p:sp>
        <p:nvSpPr>
          <p:cNvPr id="2" name="Textfeld 8">
            <a:extLst>
              <a:ext uri="{FF2B5EF4-FFF2-40B4-BE49-F238E27FC236}">
                <a16:creationId xmlns:a16="http://schemas.microsoft.com/office/drawing/2014/main" id="{C8B31157-08DA-D837-F835-8ED5C37D4CF1}"/>
              </a:ext>
            </a:extLst>
          </p:cNvPr>
          <p:cNvSpPr txBox="1">
            <a:spLocks/>
          </p:cNvSpPr>
          <p:nvPr/>
        </p:nvSpPr>
        <p:spPr>
          <a:xfrm>
            <a:off x="813091" y="1415067"/>
            <a:ext cx="10442448" cy="3589213"/>
          </a:xfrm>
          <a:prstGeom prst="rect">
            <a:avLst/>
          </a:prstGeom>
          <a:noFill/>
        </p:spPr>
        <p:txBody>
          <a:bodyPr wrap="square" lIns="0" tIns="0" rIns="0" bIns="0" rtlCol="0">
            <a:noAutofit/>
          </a:bodyPr>
          <a:lstStyle/>
          <a:p>
            <a:endParaRPr lang="en-US" sz="1200" kern="0" dirty="0">
              <a:solidFill>
                <a:srgbClr val="000000"/>
              </a:solidFill>
            </a:endParaRPr>
          </a:p>
          <a:p>
            <a:r>
              <a:rPr lang="en-US" sz="1200" b="1" kern="0" dirty="0">
                <a:solidFill>
                  <a:srgbClr val="000000"/>
                </a:solidFill>
              </a:rPr>
              <a:t>Designing a reliable business key</a:t>
            </a:r>
            <a:r>
              <a:rPr lang="en-US" sz="1200" kern="0" dirty="0">
                <a:solidFill>
                  <a:srgbClr val="000000"/>
                </a:solidFill>
              </a:rPr>
              <a:t>: Even though all datasets contained MANUFACTURER, MODEL, and MODEL_YEAR, there was no shared unique identifier, so defining this business key required some exploring, and I still feel it wasn’t enough.</a:t>
            </a:r>
          </a:p>
          <a:p>
            <a:endParaRPr lang="en-US" sz="1200" kern="0" dirty="0">
              <a:solidFill>
                <a:srgbClr val="000000"/>
              </a:solidFill>
            </a:endParaRPr>
          </a:p>
          <a:p>
            <a:r>
              <a:rPr lang="en-US" sz="1200" b="1" kern="0" dirty="0">
                <a:solidFill>
                  <a:srgbClr val="000000"/>
                </a:solidFill>
              </a:rPr>
              <a:t>Joining the datasets</a:t>
            </a:r>
            <a:r>
              <a:rPr lang="en-US" sz="1200" kern="0" dirty="0">
                <a:solidFill>
                  <a:srgbClr val="000000"/>
                </a:solidFill>
              </a:rPr>
              <a:t>: Because the sources were not fully aligned, joining on the chosen keys resulted in many unmatched rows and significant data loss. </a:t>
            </a:r>
          </a:p>
          <a:p>
            <a:endParaRPr lang="en-US" sz="1200" kern="0" dirty="0">
              <a:solidFill>
                <a:srgbClr val="000000"/>
              </a:solidFill>
            </a:endParaRPr>
          </a:p>
          <a:p>
            <a:r>
              <a:rPr lang="en-US" sz="1200" b="1" kern="0" dirty="0">
                <a:solidFill>
                  <a:srgbClr val="000000"/>
                </a:solidFill>
              </a:rPr>
              <a:t>Missing values after joins</a:t>
            </a:r>
            <a:r>
              <a:rPr lang="en-US" sz="1200" kern="0" dirty="0">
                <a:solidFill>
                  <a:srgbClr val="000000"/>
                </a:solidFill>
              </a:rPr>
              <a:t>: Many vehicles existed in only one dataset, meaning that even when joins were possible, several records contained nulls. For a specific vehicle, there might be information regarding safety features, but not regarding fuel features, and the other way around could happen, as well as not having any information.</a:t>
            </a:r>
          </a:p>
          <a:p>
            <a:endParaRPr lang="en-US" sz="1200" kern="0" dirty="0">
              <a:solidFill>
                <a:srgbClr val="000000"/>
              </a:solidFill>
            </a:endParaRPr>
          </a:p>
          <a:p>
            <a:r>
              <a:rPr lang="en-US" sz="1200" b="1" kern="0" dirty="0">
                <a:solidFill>
                  <a:srgbClr val="000000"/>
                </a:solidFill>
              </a:rPr>
              <a:t>Understanding technical columns</a:t>
            </a:r>
            <a:r>
              <a:rPr lang="en-US" sz="1200" kern="0" dirty="0">
                <a:solidFill>
                  <a:srgbClr val="000000"/>
                </a:solidFill>
              </a:rPr>
              <a:t>: The datasets contained a large number of domain-specific variables with unclear names, as a consequence, I had to really explore the data to understand it.</a:t>
            </a:r>
          </a:p>
          <a:p>
            <a:endParaRPr lang="en-US" sz="1200" kern="0" dirty="0">
              <a:solidFill>
                <a:srgbClr val="000000"/>
              </a:solidFill>
            </a:endParaRPr>
          </a:p>
          <a:p>
            <a:r>
              <a:rPr lang="en-US" sz="1200" b="1" kern="0" dirty="0">
                <a:solidFill>
                  <a:srgbClr val="000000"/>
                </a:solidFill>
              </a:rPr>
              <a:t>Time constraints</a:t>
            </a:r>
            <a:r>
              <a:rPr lang="en-US" sz="1200" kern="0" dirty="0">
                <a:solidFill>
                  <a:srgbClr val="000000"/>
                </a:solidFill>
              </a:rPr>
              <a:t>: With only one week available, a considerable amount of time was spent exploring the data and deciding on the final Gold outputs, reducing time for deeper integration and optimization.</a:t>
            </a:r>
          </a:p>
        </p:txBody>
      </p:sp>
      <p:sp>
        <p:nvSpPr>
          <p:cNvPr id="3" name="Isosceles Triangle 2">
            <a:extLst>
              <a:ext uri="{FF2B5EF4-FFF2-40B4-BE49-F238E27FC236}">
                <a16:creationId xmlns:a16="http://schemas.microsoft.com/office/drawing/2014/main" id="{E1DB2592-D890-F488-4C69-DEF21BEAE30A}"/>
              </a:ext>
            </a:extLst>
          </p:cNvPr>
          <p:cNvSpPr/>
          <p:nvPr/>
        </p:nvSpPr>
        <p:spPr>
          <a:xfrm rot="5400000">
            <a:off x="463760" y="1599993"/>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80A90E6A-53B3-DA72-F95E-3D4502F9814B}"/>
              </a:ext>
            </a:extLst>
          </p:cNvPr>
          <p:cNvSpPr/>
          <p:nvPr/>
        </p:nvSpPr>
        <p:spPr>
          <a:xfrm rot="5400000">
            <a:off x="463760" y="2529633"/>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00CA93A3-8241-B670-178C-572629BD4985}"/>
              </a:ext>
            </a:extLst>
          </p:cNvPr>
          <p:cNvSpPr/>
          <p:nvPr/>
        </p:nvSpPr>
        <p:spPr>
          <a:xfrm rot="5400000">
            <a:off x="463760" y="3240214"/>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5B5DE32D-9912-7BD9-5A64-CB919AC7C74A}"/>
              </a:ext>
            </a:extLst>
          </p:cNvPr>
          <p:cNvSpPr/>
          <p:nvPr/>
        </p:nvSpPr>
        <p:spPr>
          <a:xfrm rot="5400000">
            <a:off x="463760" y="3803076"/>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6603B80C-A4F3-B456-4634-C156B57192E8}"/>
              </a:ext>
            </a:extLst>
          </p:cNvPr>
          <p:cNvSpPr/>
          <p:nvPr/>
        </p:nvSpPr>
        <p:spPr>
          <a:xfrm rot="5400000">
            <a:off x="463760" y="2148627"/>
            <a:ext cx="181624" cy="147962"/>
          </a:xfrm>
          <a:prstGeom prst="triangle">
            <a:avLst/>
          </a:prstGeom>
          <a:no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9825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1195</TotalTime>
  <Words>2678</Words>
  <Application>Microsoft Office PowerPoint</Application>
  <PresentationFormat>Widescreen</PresentationFormat>
  <Paragraphs>194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CUNHA</dc:creator>
  <cp:lastModifiedBy>ANDRÉ CUNHA</cp:lastModifiedBy>
  <cp:revision>118</cp:revision>
  <dcterms:created xsi:type="dcterms:W3CDTF">2026-02-12T14:59:56Z</dcterms:created>
  <dcterms:modified xsi:type="dcterms:W3CDTF">2026-02-13T11:00:42Z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811530c-902c-4b75-8616-d6c82cd1332a_Enabled">
    <vt:lpwstr>true</vt:lpwstr>
  </property>
  <property fmtid="{D5CDD505-2E9C-101B-9397-08002B2CF9AE}" pid="3" name="MSIP_Label_9811530c-902c-4b75-8616-d6c82cd1332a_SetDate">
    <vt:lpwstr>2026-02-12T15:01:59Z</vt:lpwstr>
  </property>
  <property fmtid="{D5CDD505-2E9C-101B-9397-08002B2CF9AE}" pid="4" name="MSIP_Label_9811530c-902c-4b75-8616-d6c82cd1332a_Method">
    <vt:lpwstr>Standard</vt:lpwstr>
  </property>
  <property fmtid="{D5CDD505-2E9C-101B-9397-08002B2CF9AE}" pid="5" name="MSIP_Label_9811530c-902c-4b75-8616-d6c82cd1332a_Name">
    <vt:lpwstr>9811530c-902c-4b75-8616-d6c82cd1332a</vt:lpwstr>
  </property>
  <property fmtid="{D5CDD505-2E9C-101B-9397-08002B2CF9AE}" pid="6" name="MSIP_Label_9811530c-902c-4b75-8616-d6c82cd1332a_SiteId">
    <vt:lpwstr>bf86fbdb-f8c2-440e-923c-05a60dc2bc9b</vt:lpwstr>
  </property>
  <property fmtid="{D5CDD505-2E9C-101B-9397-08002B2CF9AE}" pid="7" name="MSIP_Label_9811530c-902c-4b75-8616-d6c82cd1332a_ActionId">
    <vt:lpwstr>58ca357f-2424-43c4-9646-25ba471852e8</vt:lpwstr>
  </property>
  <property fmtid="{D5CDD505-2E9C-101B-9397-08002B2CF9AE}" pid="8" name="MSIP_Label_9811530c-902c-4b75-8616-d6c82cd1332a_ContentBits">
    <vt:lpwstr>0</vt:lpwstr>
  </property>
  <property fmtid="{D5CDD505-2E9C-101B-9397-08002B2CF9AE}" pid="9" name="MSIP_Label_9811530c-902c-4b75-8616-d6c82cd1332a_Tag">
    <vt:lpwstr>10, 3, 0, 1</vt:lpwstr>
  </property>
</Properties>
</file>